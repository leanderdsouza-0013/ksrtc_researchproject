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71" r:id="rId5"/>
    <p:sldId id="272" r:id="rId6"/>
    <p:sldId id="273" r:id="rId7"/>
    <p:sldId id="285" r:id="rId8"/>
    <p:sldId id="286" r:id="rId9"/>
    <p:sldId id="287" r:id="rId10"/>
    <p:sldId id="288" r:id="rId11"/>
    <p:sldId id="289" r:id="rId12"/>
    <p:sldId id="290" r:id="rId13"/>
    <p:sldId id="291" r:id="rId14"/>
    <p:sldId id="261" r:id="rId15"/>
    <p:sldId id="260" r:id="rId16"/>
    <p:sldId id="279" r:id="rId17"/>
    <p:sldId id="264" r:id="rId18"/>
    <p:sldId id="280" r:id="rId19"/>
    <p:sldId id="281" r:id="rId20"/>
    <p:sldId id="282" r:id="rId21"/>
    <p:sldId id="268" r:id="rId22"/>
    <p:sldId id="278" r:id="rId23"/>
    <p:sldId id="283" r:id="rId24"/>
    <p:sldId id="284"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6716" autoAdjust="0"/>
  </p:normalViewPr>
  <p:slideViewPr>
    <p:cSldViewPr snapToGrid="0">
      <p:cViewPr varScale="1">
        <p:scale>
          <a:sx n="63" d="100"/>
          <a:sy n="63" d="100"/>
        </p:scale>
        <p:origin x="10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A9D86B8-5BBD-482F-BB2C-BA82F343B285}" type="datetimeFigureOut">
              <a:rPr lang="en-GB" smtClean="0"/>
              <a:t>29/01/2026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5858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A9D86B8-5BBD-482F-BB2C-BA82F343B285}" type="datetimeFigureOut">
              <a:rPr lang="en-GB" smtClean="0"/>
              <a:t>29/01/2026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126363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A9D86B8-5BBD-482F-BB2C-BA82F343B285}" type="datetimeFigureOut">
              <a:rPr lang="en-GB" smtClean="0"/>
              <a:t>29/01/2026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333582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A9D86B8-5BBD-482F-BB2C-BA82F343B285}" type="datetimeFigureOut">
              <a:rPr lang="en-GB" smtClean="0"/>
              <a:t>29/01/2026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869683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A9D86B8-5BBD-482F-BB2C-BA82F343B285}" type="datetimeFigureOut">
              <a:rPr lang="en-GB" smtClean="0"/>
              <a:t>29/01/2026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904780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A9D86B8-5BBD-482F-BB2C-BA82F343B285}" type="datetimeFigureOut">
              <a:rPr lang="en-GB" smtClean="0"/>
              <a:t>29/01/2026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30584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9D86B8-5BBD-482F-BB2C-BA82F343B285}" type="datetimeFigureOut">
              <a:rPr lang="en-GB" smtClean="0"/>
              <a:t>29/01/2026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2738598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A9D86B8-5BBD-482F-BB2C-BA82F343B285}" type="datetimeFigureOut">
              <a:rPr lang="en-GB" smtClean="0"/>
              <a:t>29/01/2026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1100312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A9D86B8-5BBD-482F-BB2C-BA82F343B285}" type="datetimeFigureOut">
              <a:rPr lang="en-GB" smtClean="0"/>
              <a:t>29/01/2026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268375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A9D86B8-5BBD-482F-BB2C-BA82F343B285}" type="datetimeFigureOut">
              <a:rPr lang="en-GB" smtClean="0"/>
              <a:t>29/01/2026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927392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A9D86B8-5BBD-482F-BB2C-BA82F343B285}" type="datetimeFigureOut">
              <a:rPr lang="en-GB" smtClean="0"/>
              <a:t>29/01/2026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2123573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D86B8-5BBD-482F-BB2C-BA82F343B285}" type="datetimeFigureOut">
              <a:rPr lang="en-GB" smtClean="0"/>
              <a:t>29/01/2026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AC44C2-9B3C-4E4E-993F-BFA2953E6DD5}" type="slidenum">
              <a:rPr lang="en-GB" smtClean="0"/>
              <a:t>‹#›</a:t>
            </a:fld>
            <a:endParaRPr lang="en-GB"/>
          </a:p>
        </p:txBody>
      </p:sp>
    </p:spTree>
    <p:extLst>
      <p:ext uri="{BB962C8B-B14F-4D97-AF65-F5344CB8AC3E}">
        <p14:creationId xmlns:p14="http://schemas.microsoft.com/office/powerpoint/2010/main" val="210426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1007/s12469-024-00360-z" TargetMode="External"/><Relationship Id="rId4" Type="http://schemas.openxmlformats.org/officeDocument/2006/relationships/hyperlink" Target="https://doi.org/10.62643/ijerst.v21.n3(1).pp1405-1414"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3390/s20082178" TargetMode="External"/><Relationship Id="rId4" Type="http://schemas.openxmlformats.org/officeDocument/2006/relationships/hyperlink" Target="https://www.ijert.org/crowd-density-estimation-and-location-prediction-in-public-transport-syste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1007/s12469-023-00349-0" TargetMode="External"/><Relationship Id="rId4" Type="http://schemas.openxmlformats.org/officeDocument/2006/relationships/hyperlink" Target="https://doi.org/10.1007/s12061-022-09482-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14201/adcaij.31866" TargetMode="External"/><Relationship Id="rId4" Type="http://schemas.openxmlformats.org/officeDocument/2006/relationships/hyperlink" Target="https://arxiv.org/pdf/2210.04989"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1016/j.trip.2023.100833" TargetMode="External"/><Relationship Id="rId4" Type="http://schemas.openxmlformats.org/officeDocument/2006/relationships/hyperlink" Target="https://reference-global.com/2/v2/download/article/10.2478/ttj-2020-0020.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15575/join.v9i1.1245" TargetMode="External"/><Relationship Id="rId4" Type="http://schemas.openxmlformats.org/officeDocument/2006/relationships/hyperlink" Target="https://doi.org/10.1007/s11116-025-10689-4"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21837/pm.v23i39.1913" TargetMode="External"/><Relationship Id="rId4" Type="http://schemas.openxmlformats.org/officeDocument/2006/relationships/hyperlink" Target="https://ijsrem.com/download/machine-learning-based-public-transit-ridership-forecasting-syste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1007/s12469-024-00368-5" TargetMode="External"/><Relationship Id="rId4" Type="http://schemas.openxmlformats.org/officeDocument/2006/relationships/hyperlink" Target="https://doi.org/10.1186/s12544-025-00722-z"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doi.org/10.1016/j.engappai.2024.109166" TargetMode="External"/><Relationship Id="rId4" Type="http://schemas.openxmlformats.org/officeDocument/2006/relationships/hyperlink" Target="https://doi.org/10.3390/app1511626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hyperlink" Target="https://arxiv.org/pdf/2304.08233.pdf" TargetMode="External"/><Relationship Id="rId4" Type="http://schemas.openxmlformats.org/officeDocument/2006/relationships/hyperlink" Target="https://academic.oup.com/iti/article/doi/10.1093/iti/liae019/7917135"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hyperlink" Target="https://doi.org/10.1007/s12061-022-09482-y" TargetMode="External"/><Relationship Id="rId3" Type="http://schemas.openxmlformats.org/officeDocument/2006/relationships/image" Target="../media/image3.png"/><Relationship Id="rId7" Type="http://schemas.openxmlformats.org/officeDocument/2006/relationships/hyperlink" Target="https://doi.org/10.3390/s20082178"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https://www.ijert.org/crowd-density-estimation-and-location-prediction-in-public-transport-system" TargetMode="External"/><Relationship Id="rId5" Type="http://schemas.openxmlformats.org/officeDocument/2006/relationships/hyperlink" Target="https://doi.org/10.1007/s12469-024-00360-z" TargetMode="External"/><Relationship Id="rId4" Type="http://schemas.openxmlformats.org/officeDocument/2006/relationships/hyperlink" Target="https://doi.org/10.62643/ijerst.v21.n3(1).pp1405-1414"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reference-global.com/2/v2/download/article/10.2478/ttj-2020-0020.pdf" TargetMode="External"/><Relationship Id="rId3" Type="http://schemas.openxmlformats.org/officeDocument/2006/relationships/image" Target="../media/image1.jpg"/><Relationship Id="rId7" Type="http://schemas.openxmlformats.org/officeDocument/2006/relationships/hyperlink" Target="https://doi.org/10.14201/adcaij.31866" TargetMode="External"/><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hyperlink" Target="https://arxiv.org/pdf/2210.04989" TargetMode="External"/><Relationship Id="rId5" Type="http://schemas.openxmlformats.org/officeDocument/2006/relationships/hyperlink" Target="https://doi.org/10.1007/s12469-023-00349-0" TargetMode="External"/><Relationship Id="rId4" Type="http://schemas.openxmlformats.org/officeDocument/2006/relationships/image" Target="../media/image3.png"/><Relationship Id="rId9" Type="http://schemas.openxmlformats.org/officeDocument/2006/relationships/hyperlink" Target="https://doi.org/10.1016/j.trip.2023.100833"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doi.org/10.1186/s12544-025-00722-z" TargetMode="External"/><Relationship Id="rId3" Type="http://schemas.openxmlformats.org/officeDocument/2006/relationships/image" Target="../media/image3.png"/><Relationship Id="rId7" Type="http://schemas.openxmlformats.org/officeDocument/2006/relationships/hyperlink" Target="https://doi.org/10.21837/pm.v23i39.1913"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https://ijsrem.com/download/machine-learning-based-public-transit-ridership-forecasting-system/" TargetMode="External"/><Relationship Id="rId5" Type="http://schemas.openxmlformats.org/officeDocument/2006/relationships/hyperlink" Target="https://doi.org/10.15575/join.v9i1.1245" TargetMode="External"/><Relationship Id="rId4" Type="http://schemas.openxmlformats.org/officeDocument/2006/relationships/hyperlink" Target="https://doi.org/10.1007/s11116-025-10689-4"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arxiv.org/pdf/2304.08233.pdf" TargetMode="External"/><Relationship Id="rId3" Type="http://schemas.openxmlformats.org/officeDocument/2006/relationships/image" Target="../media/image3.png"/><Relationship Id="rId7" Type="http://schemas.openxmlformats.org/officeDocument/2006/relationships/hyperlink" Target="https://academic.oup.com/iti/article/doi/10.1093/iti/liae019/7917135"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https://doi.org/10.1016/j.engappai.2024.109166" TargetMode="External"/><Relationship Id="rId5" Type="http://schemas.openxmlformats.org/officeDocument/2006/relationships/hyperlink" Target="https://doi.org/10.3390/app15116260" TargetMode="External"/><Relationship Id="rId4" Type="http://schemas.openxmlformats.org/officeDocument/2006/relationships/hyperlink" Target="https://doi.org/10.1007/s12469-024-00368-5"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8759" y="148241"/>
            <a:ext cx="812800" cy="808153"/>
          </a:xfrm>
          <a:prstGeom prst="rect">
            <a:avLst/>
          </a:prstGeom>
        </p:spPr>
      </p:pic>
      <p:pic>
        <p:nvPicPr>
          <p:cNvPr id="3" name="object 3"/>
          <p:cNvPicPr/>
          <p:nvPr/>
        </p:nvPicPr>
        <p:blipFill>
          <a:blip r:embed="rId3" cstate="print"/>
          <a:stretch>
            <a:fillRect/>
          </a:stretch>
        </p:blipFill>
        <p:spPr>
          <a:xfrm>
            <a:off x="11142995" y="154023"/>
            <a:ext cx="702226" cy="693104"/>
          </a:xfrm>
          <a:prstGeom prst="rect">
            <a:avLst/>
          </a:prstGeom>
        </p:spPr>
      </p:pic>
      <p:sp>
        <p:nvSpPr>
          <p:cNvPr id="4" name="object 4"/>
          <p:cNvSpPr txBox="1">
            <a:spLocks noGrp="1"/>
          </p:cNvSpPr>
          <p:nvPr>
            <p:ph type="title"/>
          </p:nvPr>
        </p:nvSpPr>
        <p:spPr>
          <a:xfrm>
            <a:off x="1329621" y="423673"/>
            <a:ext cx="10515600" cy="506549"/>
          </a:xfrm>
          <a:prstGeom prst="rect">
            <a:avLst/>
          </a:prstGeom>
        </p:spPr>
        <p:txBody>
          <a:bodyPr vert="horz" wrap="square" lIns="0" tIns="13970" rIns="0" bIns="0" rtlCol="0">
            <a:spAutoFit/>
          </a:bodyPr>
          <a:lstStyle/>
          <a:p>
            <a:pPr marL="12700" algn="ctr">
              <a:lnSpc>
                <a:spcPct val="100000"/>
              </a:lnSpc>
              <a:spcBef>
                <a:spcPts val="110"/>
              </a:spcBef>
            </a:pPr>
            <a:r>
              <a:rPr sz="3200" b="1" dirty="0" smtClean="0">
                <a:latin typeface="Calibri"/>
                <a:cs typeface="Calibri"/>
              </a:rPr>
              <a:t>MCA</a:t>
            </a:r>
            <a:r>
              <a:rPr sz="3200" b="1" spc="-30" dirty="0" smtClean="0">
                <a:latin typeface="Calibri"/>
                <a:cs typeface="Calibri"/>
              </a:rPr>
              <a:t> </a:t>
            </a:r>
            <a:r>
              <a:rPr lang="en-IN" sz="3200" b="1" dirty="0" smtClean="0">
                <a:latin typeface="Calibri"/>
                <a:cs typeface="Calibri"/>
              </a:rPr>
              <a:t>RESEARCH PAPER</a:t>
            </a:r>
            <a:r>
              <a:rPr sz="3200" b="1" spc="-45" dirty="0" smtClean="0">
                <a:latin typeface="Calibri"/>
                <a:cs typeface="Calibri"/>
              </a:rPr>
              <a:t> </a:t>
            </a:r>
            <a:r>
              <a:rPr sz="3200" b="1" spc="-40" dirty="0" smtClean="0">
                <a:latin typeface="Calibri"/>
                <a:cs typeface="Calibri"/>
              </a:rPr>
              <a:t>PRESENTATION</a:t>
            </a:r>
            <a:r>
              <a:rPr lang="en-IN" sz="3200" b="1" spc="-65" dirty="0">
                <a:latin typeface="Calibri"/>
                <a:cs typeface="Calibri"/>
              </a:rPr>
              <a:t> </a:t>
            </a:r>
            <a:r>
              <a:rPr lang="en-IN" sz="3200" b="1" spc="-65" dirty="0" smtClean="0">
                <a:latin typeface="Calibri"/>
                <a:cs typeface="Calibri"/>
              </a:rPr>
              <a:t>- </a:t>
            </a:r>
            <a:r>
              <a:rPr sz="3200" b="1" spc="-20" dirty="0" smtClean="0">
                <a:latin typeface="Calibri"/>
                <a:cs typeface="Calibri"/>
              </a:rPr>
              <a:t>2025</a:t>
            </a:r>
            <a:endParaRPr sz="3200" b="1" dirty="0">
              <a:latin typeface="Calibri"/>
              <a:cs typeface="Calibri"/>
            </a:endParaRPr>
          </a:p>
        </p:txBody>
      </p:sp>
      <p:sp>
        <p:nvSpPr>
          <p:cNvPr id="5" name="object 5"/>
          <p:cNvSpPr txBox="1"/>
          <p:nvPr/>
        </p:nvSpPr>
        <p:spPr>
          <a:xfrm>
            <a:off x="1329621" y="1714621"/>
            <a:ext cx="10227562" cy="997068"/>
          </a:xfrm>
          <a:prstGeom prst="rect">
            <a:avLst/>
          </a:prstGeom>
        </p:spPr>
        <p:txBody>
          <a:bodyPr vert="horz" wrap="square" lIns="0" tIns="12065" rIns="0" bIns="0" rtlCol="0">
            <a:spAutoFit/>
          </a:bodyPr>
          <a:lstStyle/>
          <a:p>
            <a:pPr marL="12700" algn="ctr">
              <a:lnSpc>
                <a:spcPct val="100000"/>
              </a:lnSpc>
              <a:spcBef>
                <a:spcPts val="95"/>
              </a:spcBef>
            </a:pPr>
            <a:r>
              <a:rPr lang="en-GB" sz="3200" b="1" dirty="0" smtClean="0"/>
              <a:t>CROWD ESTIMATION AND TIME-SLOT RECOMMENDATION FOR MANGALORE KSRTC BUS SERVICES</a:t>
            </a:r>
            <a:endParaRPr lang="en-GB" sz="3200" b="1" dirty="0">
              <a:latin typeface="Calibri"/>
              <a:cs typeface="Calibri"/>
            </a:endParaRPr>
          </a:p>
        </p:txBody>
      </p:sp>
      <p:sp>
        <p:nvSpPr>
          <p:cNvPr id="6" name="object 6"/>
          <p:cNvSpPr txBox="1"/>
          <p:nvPr/>
        </p:nvSpPr>
        <p:spPr>
          <a:xfrm>
            <a:off x="238759" y="3157659"/>
            <a:ext cx="5592198" cy="3054682"/>
          </a:xfrm>
          <a:prstGeom prst="rect">
            <a:avLst/>
          </a:prstGeom>
        </p:spPr>
        <p:txBody>
          <a:bodyPr vert="horz" wrap="square" lIns="0" tIns="12700" rIns="0" bIns="0" rtlCol="0">
            <a:spAutoFit/>
          </a:bodyPr>
          <a:lstStyle/>
          <a:p>
            <a:pPr marL="1177290" marR="1162685" algn="ctr">
              <a:lnSpc>
                <a:spcPct val="100000"/>
              </a:lnSpc>
              <a:spcBef>
                <a:spcPts val="100"/>
              </a:spcBef>
            </a:pPr>
            <a:r>
              <a:rPr lang="en-IN" sz="2800" b="1" dirty="0" smtClean="0">
                <a:latin typeface="Calibri"/>
                <a:cs typeface="Calibri"/>
              </a:rPr>
              <a:t>Leander Chris Dsouza</a:t>
            </a:r>
            <a:r>
              <a:rPr sz="2800" b="1" spc="-20" dirty="0" smtClean="0">
                <a:latin typeface="Calibri"/>
                <a:cs typeface="Calibri"/>
              </a:rPr>
              <a:t> </a:t>
            </a:r>
            <a:endParaRPr lang="en-IN" sz="2800" b="1" spc="-20" dirty="0" smtClean="0">
              <a:latin typeface="Calibri"/>
              <a:cs typeface="Calibri"/>
            </a:endParaRPr>
          </a:p>
          <a:p>
            <a:pPr marL="1177290" marR="1162685" algn="ctr">
              <a:lnSpc>
                <a:spcPct val="100000"/>
              </a:lnSpc>
              <a:spcBef>
                <a:spcPts val="100"/>
              </a:spcBef>
            </a:pPr>
            <a:r>
              <a:rPr lang="en-IN" sz="2800" dirty="0" smtClean="0">
                <a:latin typeface="Calibri"/>
                <a:cs typeface="Calibri"/>
              </a:rPr>
              <a:t>24MCA306</a:t>
            </a:r>
          </a:p>
          <a:p>
            <a:pPr marL="1177290" marR="1162685" algn="ctr">
              <a:lnSpc>
                <a:spcPct val="100000"/>
              </a:lnSpc>
              <a:spcBef>
                <a:spcPts val="100"/>
              </a:spcBef>
            </a:pPr>
            <a:r>
              <a:rPr sz="2800" spc="-10" dirty="0" smtClean="0">
                <a:latin typeface="Calibri"/>
                <a:cs typeface="Calibri"/>
              </a:rPr>
              <a:t>MCA</a:t>
            </a:r>
            <a:r>
              <a:rPr lang="en-IN" sz="2800" spc="-10" dirty="0" smtClean="0">
                <a:latin typeface="Calibri"/>
                <a:cs typeface="Calibri"/>
              </a:rPr>
              <a:t> (Data Science with minor in Big Data Analytics)</a:t>
            </a:r>
            <a:endParaRPr sz="2800" dirty="0">
              <a:latin typeface="Calibri"/>
              <a:cs typeface="Calibri"/>
            </a:endParaRPr>
          </a:p>
          <a:p>
            <a:pPr marL="12700" marR="5080" algn="ctr">
              <a:lnSpc>
                <a:spcPct val="100000"/>
              </a:lnSpc>
              <a:spcBef>
                <a:spcPts val="5"/>
              </a:spcBef>
            </a:pPr>
            <a:r>
              <a:rPr sz="2800" dirty="0">
                <a:latin typeface="Calibri"/>
                <a:cs typeface="Calibri"/>
              </a:rPr>
              <a:t>Department</a:t>
            </a:r>
            <a:r>
              <a:rPr sz="2800" spc="-100" dirty="0">
                <a:latin typeface="Calibri"/>
                <a:cs typeface="Calibri"/>
              </a:rPr>
              <a:t> </a:t>
            </a:r>
            <a:r>
              <a:rPr sz="2800" dirty="0">
                <a:latin typeface="Calibri"/>
                <a:cs typeface="Calibri"/>
              </a:rPr>
              <a:t>of</a:t>
            </a:r>
            <a:r>
              <a:rPr sz="2800" spc="-30" dirty="0">
                <a:latin typeface="Calibri"/>
                <a:cs typeface="Calibri"/>
              </a:rPr>
              <a:t> </a:t>
            </a:r>
            <a:r>
              <a:rPr sz="2800" dirty="0">
                <a:latin typeface="Calibri"/>
                <a:cs typeface="Calibri"/>
              </a:rPr>
              <a:t>Computer</a:t>
            </a:r>
            <a:r>
              <a:rPr sz="2800" spc="-90" dirty="0">
                <a:latin typeface="Calibri"/>
                <a:cs typeface="Calibri"/>
              </a:rPr>
              <a:t> </a:t>
            </a:r>
            <a:r>
              <a:rPr sz="2800" spc="-10" dirty="0">
                <a:latin typeface="Calibri"/>
                <a:cs typeface="Calibri"/>
              </a:rPr>
              <a:t>Science </a:t>
            </a:r>
            <a:r>
              <a:rPr sz="2800" dirty="0">
                <a:latin typeface="Calibri"/>
                <a:cs typeface="Calibri"/>
              </a:rPr>
              <a:t>YIASCM,</a:t>
            </a:r>
            <a:r>
              <a:rPr sz="2800" spc="-35" dirty="0">
                <a:latin typeface="Calibri"/>
                <a:cs typeface="Calibri"/>
              </a:rPr>
              <a:t> </a:t>
            </a:r>
            <a:r>
              <a:rPr sz="2800" spc="-10" dirty="0">
                <a:latin typeface="Calibri"/>
                <a:cs typeface="Calibri"/>
              </a:rPr>
              <a:t>Balmatta</a:t>
            </a:r>
            <a:endParaRPr sz="2800" dirty="0">
              <a:latin typeface="Calibri"/>
              <a:cs typeface="Calibri"/>
            </a:endParaRPr>
          </a:p>
        </p:txBody>
      </p:sp>
      <p:sp>
        <p:nvSpPr>
          <p:cNvPr id="7" name="object 7"/>
          <p:cNvSpPr txBox="1"/>
          <p:nvPr/>
        </p:nvSpPr>
        <p:spPr>
          <a:xfrm>
            <a:off x="7275443" y="3157659"/>
            <a:ext cx="4569778" cy="1736373"/>
          </a:xfrm>
          <a:prstGeom prst="rect">
            <a:avLst/>
          </a:prstGeom>
        </p:spPr>
        <p:txBody>
          <a:bodyPr vert="horz" wrap="square" lIns="0" tIns="12700" rIns="0" bIns="0" rtlCol="0">
            <a:spAutoFit/>
          </a:bodyPr>
          <a:lstStyle/>
          <a:p>
            <a:pPr marL="5715" algn="ctr">
              <a:lnSpc>
                <a:spcPct val="100000"/>
              </a:lnSpc>
              <a:spcBef>
                <a:spcPts val="100"/>
              </a:spcBef>
            </a:pPr>
            <a:r>
              <a:rPr lang="en-IN" sz="2800" b="1" dirty="0" smtClean="0">
                <a:latin typeface="Calibri"/>
                <a:cs typeface="Calibri"/>
              </a:rPr>
              <a:t>Ms. Sindhu Sandesh</a:t>
            </a:r>
            <a:endParaRPr sz="2800" dirty="0">
              <a:latin typeface="Calibri"/>
              <a:cs typeface="Calibri"/>
            </a:endParaRPr>
          </a:p>
          <a:p>
            <a:pPr marL="838200" marR="828675" algn="ctr">
              <a:lnSpc>
                <a:spcPct val="100000"/>
              </a:lnSpc>
            </a:pPr>
            <a:r>
              <a:rPr lang="en-IN" sz="2800" spc="-10" dirty="0" smtClean="0">
                <a:latin typeface="Calibri"/>
                <a:cs typeface="Calibri"/>
              </a:rPr>
              <a:t>Assistant Professor</a:t>
            </a:r>
            <a:endParaRPr sz="2800" dirty="0">
              <a:latin typeface="Calibri"/>
              <a:cs typeface="Calibri"/>
            </a:endParaRPr>
          </a:p>
          <a:p>
            <a:pPr marL="12700" marR="5080" algn="ctr">
              <a:lnSpc>
                <a:spcPct val="100000"/>
              </a:lnSpc>
              <a:spcBef>
                <a:spcPts val="5"/>
              </a:spcBef>
            </a:pPr>
            <a:r>
              <a:rPr sz="2800" dirty="0">
                <a:latin typeface="Calibri"/>
                <a:cs typeface="Calibri"/>
              </a:rPr>
              <a:t>Department</a:t>
            </a:r>
            <a:r>
              <a:rPr sz="2800" spc="-100" dirty="0">
                <a:latin typeface="Calibri"/>
                <a:cs typeface="Calibri"/>
              </a:rPr>
              <a:t> </a:t>
            </a:r>
            <a:r>
              <a:rPr sz="2800" dirty="0">
                <a:latin typeface="Calibri"/>
                <a:cs typeface="Calibri"/>
              </a:rPr>
              <a:t>of</a:t>
            </a:r>
            <a:r>
              <a:rPr sz="2800" spc="-30" dirty="0">
                <a:latin typeface="Calibri"/>
                <a:cs typeface="Calibri"/>
              </a:rPr>
              <a:t> </a:t>
            </a:r>
            <a:r>
              <a:rPr sz="2800" dirty="0">
                <a:latin typeface="Calibri"/>
                <a:cs typeface="Calibri"/>
              </a:rPr>
              <a:t>Computer</a:t>
            </a:r>
            <a:r>
              <a:rPr sz="2800" spc="-90" dirty="0">
                <a:latin typeface="Calibri"/>
                <a:cs typeface="Calibri"/>
              </a:rPr>
              <a:t> </a:t>
            </a:r>
            <a:r>
              <a:rPr sz="2800" spc="-10" dirty="0">
                <a:latin typeface="Calibri"/>
                <a:cs typeface="Calibri"/>
              </a:rPr>
              <a:t>Science </a:t>
            </a:r>
            <a:r>
              <a:rPr sz="2800" dirty="0">
                <a:latin typeface="Calibri"/>
                <a:cs typeface="Calibri"/>
              </a:rPr>
              <a:t>YIASCM,</a:t>
            </a:r>
            <a:r>
              <a:rPr sz="2800" spc="-20" dirty="0">
                <a:latin typeface="Calibri"/>
                <a:cs typeface="Calibri"/>
              </a:rPr>
              <a:t> </a:t>
            </a:r>
            <a:r>
              <a:rPr sz="2800" spc="-10" dirty="0">
                <a:latin typeface="Calibri"/>
                <a:cs typeface="Calibri"/>
              </a:rPr>
              <a:t>Balmatta</a:t>
            </a:r>
            <a:endParaRPr sz="2800" dirty="0">
              <a:latin typeface="Calibri"/>
              <a:cs typeface="Calibri"/>
            </a:endParaRPr>
          </a:p>
        </p:txBody>
      </p:sp>
    </p:spTree>
    <p:extLst>
      <p:ext uri="{BB962C8B-B14F-4D97-AF65-F5344CB8AC3E}">
        <p14:creationId xmlns:p14="http://schemas.microsoft.com/office/powerpoint/2010/main" val="37736257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35877"/>
            <a:ext cx="10515600" cy="584057"/>
          </a:xfrm>
          <a:prstGeom prst="rect">
            <a:avLst/>
          </a:prstGeom>
        </p:spPr>
        <p:txBody>
          <a:bodyPr vert="horz" wrap="square" lIns="0" tIns="90728" rIns="0" bIns="0" rtlCol="0">
            <a:spAutoFit/>
          </a:bodyPr>
          <a:lstStyle/>
          <a:p>
            <a:pPr marL="3463925">
              <a:lnSpc>
                <a:spcPct val="100000"/>
              </a:lnSpc>
              <a:spcBef>
                <a:spcPts val="90"/>
              </a:spcBef>
            </a:pPr>
            <a:r>
              <a:rPr lang="en-IN" sz="3200" b="1" spc="-10" dirty="0" smtClean="0">
                <a:latin typeface="+mn-lt"/>
              </a:rPr>
              <a:t>               </a:t>
            </a:r>
            <a:r>
              <a:rPr sz="3200" b="1" spc="-10" dirty="0" smtClean="0">
                <a:latin typeface="+mn-lt"/>
              </a:rPr>
              <a:t>Index</a:t>
            </a:r>
            <a:endParaRPr sz="3200" b="1" spc="-10" dirty="0">
              <a:latin typeface="+mn-lt"/>
            </a:endParaRPr>
          </a:p>
        </p:txBody>
      </p:sp>
      <p:sp>
        <p:nvSpPr>
          <p:cNvPr id="3" name="object 3"/>
          <p:cNvSpPr txBox="1">
            <a:spLocks noGrp="1"/>
          </p:cNvSpPr>
          <p:nvPr>
            <p:ph type="body" idx="1"/>
          </p:nvPr>
        </p:nvSpPr>
        <p:spPr>
          <a:xfrm>
            <a:off x="1051559" y="1747392"/>
            <a:ext cx="10515600" cy="3386182"/>
          </a:xfrm>
          <a:prstGeom prst="rect">
            <a:avLst/>
          </a:prstGeom>
        </p:spPr>
        <p:txBody>
          <a:bodyPr vert="horz" wrap="square" lIns="0" tIns="61594" rIns="0" bIns="0" rtlCol="0">
            <a:spAutoFit/>
          </a:bodyPr>
          <a:lstStyle/>
          <a:p>
            <a:pPr marL="356870" indent="-344170">
              <a:lnSpc>
                <a:spcPct val="100000"/>
              </a:lnSpc>
              <a:spcBef>
                <a:spcPts val="484"/>
              </a:spcBef>
              <a:buFont typeface="Arial MT"/>
              <a:buChar char="•"/>
              <a:tabLst>
                <a:tab pos="356870" algn="l"/>
              </a:tabLst>
            </a:pPr>
            <a:r>
              <a:rPr spc="-10" dirty="0" smtClean="0"/>
              <a:t>Introduction</a:t>
            </a:r>
            <a:r>
              <a:rPr lang="en-IN" spc="-10" dirty="0" smtClean="0"/>
              <a:t> and Background</a:t>
            </a:r>
            <a:endParaRPr spc="-10" dirty="0"/>
          </a:p>
          <a:p>
            <a:pPr marL="356870" indent="-344170">
              <a:lnSpc>
                <a:spcPct val="100000"/>
              </a:lnSpc>
              <a:spcBef>
                <a:spcPts val="390"/>
              </a:spcBef>
              <a:buFont typeface="Arial MT"/>
              <a:buChar char="•"/>
              <a:tabLst>
                <a:tab pos="356870" algn="l"/>
              </a:tabLst>
            </a:pPr>
            <a:r>
              <a:rPr lang="en-IN" spc="-25" dirty="0" smtClean="0"/>
              <a:t>Literature </a:t>
            </a:r>
            <a:r>
              <a:rPr lang="en-IN" spc="-25" dirty="0" smtClean="0"/>
              <a:t>Survey</a:t>
            </a:r>
          </a:p>
          <a:p>
            <a:pPr marL="356870" indent="-344170">
              <a:lnSpc>
                <a:spcPct val="100000"/>
              </a:lnSpc>
              <a:spcBef>
                <a:spcPts val="390"/>
              </a:spcBef>
              <a:buFont typeface="Arial MT"/>
              <a:buChar char="•"/>
              <a:tabLst>
                <a:tab pos="356870" algn="l"/>
              </a:tabLst>
            </a:pPr>
            <a:r>
              <a:rPr lang="en-IN" spc="-25" dirty="0" smtClean="0"/>
              <a:t>Problem Statement</a:t>
            </a:r>
            <a:endParaRPr spc="-25" dirty="0"/>
          </a:p>
          <a:p>
            <a:pPr marL="356870" indent="-344170">
              <a:lnSpc>
                <a:spcPct val="100000"/>
              </a:lnSpc>
              <a:spcBef>
                <a:spcPts val="409"/>
              </a:spcBef>
              <a:buFont typeface="Arial MT"/>
              <a:buChar char="•"/>
              <a:tabLst>
                <a:tab pos="356870" algn="l"/>
              </a:tabLst>
            </a:pPr>
            <a:r>
              <a:rPr lang="en-IN" dirty="0" smtClean="0"/>
              <a:t>Social Relevance and Uniqueness of the </a:t>
            </a:r>
            <a:r>
              <a:rPr lang="en-IN" dirty="0" smtClean="0"/>
              <a:t>work</a:t>
            </a:r>
            <a:endParaRPr spc="-10" dirty="0"/>
          </a:p>
          <a:p>
            <a:pPr marL="356870" indent="-344170">
              <a:lnSpc>
                <a:spcPct val="100000"/>
              </a:lnSpc>
              <a:spcBef>
                <a:spcPts val="409"/>
              </a:spcBef>
              <a:buFont typeface="Arial MT"/>
              <a:buChar char="•"/>
              <a:tabLst>
                <a:tab pos="356870" algn="l"/>
              </a:tabLst>
            </a:pPr>
            <a:r>
              <a:rPr lang="en-IN" dirty="0" smtClean="0"/>
              <a:t>Aim, Objective and Hypothesis</a:t>
            </a:r>
            <a:endParaRPr spc="-10" dirty="0"/>
          </a:p>
          <a:p>
            <a:pPr marL="356870" indent="-344170">
              <a:lnSpc>
                <a:spcPct val="100000"/>
              </a:lnSpc>
              <a:spcBef>
                <a:spcPts val="409"/>
              </a:spcBef>
              <a:buFont typeface="Arial MT"/>
              <a:buChar char="•"/>
              <a:tabLst>
                <a:tab pos="356870" algn="l"/>
              </a:tabLst>
            </a:pPr>
            <a:r>
              <a:rPr spc="-10" dirty="0"/>
              <a:t>Methodology</a:t>
            </a:r>
          </a:p>
          <a:p>
            <a:pPr marL="356870" indent="-344170">
              <a:lnSpc>
                <a:spcPct val="100000"/>
              </a:lnSpc>
              <a:spcBef>
                <a:spcPts val="409"/>
              </a:spcBef>
              <a:buFont typeface="Arial MT"/>
              <a:buChar char="•"/>
              <a:tabLst>
                <a:tab pos="356870" algn="l"/>
              </a:tabLst>
            </a:pPr>
            <a:r>
              <a:rPr spc="-10" dirty="0" smtClean="0"/>
              <a:t>References</a:t>
            </a:r>
            <a:endParaRPr spc="-10" dirty="0"/>
          </a:p>
        </p:txBody>
      </p:sp>
      <p:pic>
        <p:nvPicPr>
          <p:cNvPr id="7" name="object 7"/>
          <p:cNvPicPr/>
          <p:nvPr/>
        </p:nvPicPr>
        <p:blipFill>
          <a:blip r:embed="rId2" cstate="print"/>
          <a:stretch>
            <a:fillRect/>
          </a:stretch>
        </p:blipFill>
        <p:spPr>
          <a:xfrm>
            <a:off x="238759" y="148241"/>
            <a:ext cx="812800" cy="808153"/>
          </a:xfrm>
          <a:prstGeom prst="rect">
            <a:avLst/>
          </a:prstGeom>
        </p:spPr>
      </p:pic>
      <p:pic>
        <p:nvPicPr>
          <p:cNvPr id="8"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1"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a:solidFill>
                  <a:srgbClr val="888888"/>
                </a:solidFill>
                <a:latin typeface="+mj-lt"/>
                <a:cs typeface="Calibri"/>
              </a:rPr>
              <a:t>1</a:t>
            </a:r>
            <a:endParaRPr sz="1400" dirty="0">
              <a:latin typeface="+mj-lt"/>
              <a:cs typeface="Calibri"/>
            </a:endParaRPr>
          </a:p>
        </p:txBody>
      </p:sp>
      <p:sp>
        <p:nvSpPr>
          <p:cNvPr id="12"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11210328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458469" y="1809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Introduction and Background</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5" name="Rectangle 1"/>
          <p:cNvSpPr>
            <a:spLocks noChangeArrowheads="1"/>
          </p:cNvSpPr>
          <p:nvPr/>
        </p:nvSpPr>
        <p:spPr bwMode="auto">
          <a:xfrm>
            <a:off x="139960" y="1048498"/>
            <a:ext cx="1190045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GB" sz="2400" dirty="0"/>
              <a:t>Public transport plays an important role to meet the daily needs of people across any Indian cities. In Mangalore, KSRTC buses are widely used by students, office commuters, inter-district passengers etc. but there is a need to address the challenges of overcrowding during certain days especially at peak hours as it affects comfort and planning. </a:t>
            </a:r>
            <a:endParaRPr lang="en-GB" sz="2400" dirty="0" smtClean="0"/>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Most schedules do not give information about suitable travel timings or crowd levels. Also, existing studies focused only on real-time data, passenger counts, or automated systems which are not always accessible. As a result, there is a need for a simple approach that uses the publicly available data</a:t>
            </a:r>
            <a:r>
              <a:rPr lang="en-GB" sz="2400" dirty="0" smtClean="0"/>
              <a:t>.</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This research uses KSRTC Mangalore bus timetables and district-level indicators to analyse the travel patterns and estimate the crowd risk pattern at different time slots. This can help passengers to choose the less congested timings without making real-time claims. </a:t>
            </a:r>
          </a:p>
        </p:txBody>
      </p:sp>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1"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2</a:t>
            </a:r>
            <a:endParaRPr sz="1400" dirty="0">
              <a:latin typeface="+mj-lt"/>
              <a:cs typeface="Calibri"/>
            </a:endParaRPr>
          </a:p>
        </p:txBody>
      </p:sp>
      <p:sp>
        <p:nvSpPr>
          <p:cNvPr id="12"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8062234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3</a:t>
            </a:r>
            <a:endParaRPr sz="1400" dirty="0">
              <a:latin typeface="+mj-lt"/>
              <a:cs typeface="Calibri"/>
            </a:endParaRPr>
          </a:p>
        </p:txBody>
      </p:sp>
      <p:graphicFrame>
        <p:nvGraphicFramePr>
          <p:cNvPr id="8" name="Table 7"/>
          <p:cNvGraphicFramePr>
            <a:graphicFrameLocks noGrp="1"/>
          </p:cNvGraphicFramePr>
          <p:nvPr>
            <p:extLst>
              <p:ext uri="{D42A27DB-BD31-4B8C-83A1-F6EECF244321}">
                <p14:modId xmlns:p14="http://schemas.microsoft.com/office/powerpoint/2010/main" val="100533414"/>
              </p:ext>
            </p:extLst>
          </p:nvPr>
        </p:nvGraphicFramePr>
        <p:xfrm>
          <a:off x="517721" y="987884"/>
          <a:ext cx="11311032" cy="5532098"/>
        </p:xfrm>
        <a:graphic>
          <a:graphicData uri="http://schemas.openxmlformats.org/drawingml/2006/table">
            <a:tbl>
              <a:tblPr firstRow="1" firstCol="1" bandRow="1">
                <a:tableStyleId>{5940675A-B579-460E-94D1-54222C63F5DA}</a:tableStyleId>
              </a:tblPr>
              <a:tblGrid>
                <a:gridCol w="2093684">
                  <a:extLst>
                    <a:ext uri="{9D8B030D-6E8A-4147-A177-3AD203B41FA5}">
                      <a16:colId xmlns:a16="http://schemas.microsoft.com/office/drawing/2014/main" val="2590513845"/>
                    </a:ext>
                  </a:extLst>
                </a:gridCol>
                <a:gridCol w="2217565">
                  <a:extLst>
                    <a:ext uri="{9D8B030D-6E8A-4147-A177-3AD203B41FA5}">
                      <a16:colId xmlns:a16="http://schemas.microsoft.com/office/drawing/2014/main" val="3891039128"/>
                    </a:ext>
                  </a:extLst>
                </a:gridCol>
                <a:gridCol w="2584741">
                  <a:extLst>
                    <a:ext uri="{9D8B030D-6E8A-4147-A177-3AD203B41FA5}">
                      <a16:colId xmlns:a16="http://schemas.microsoft.com/office/drawing/2014/main" val="4141047190"/>
                    </a:ext>
                  </a:extLst>
                </a:gridCol>
                <a:gridCol w="2206405">
                  <a:extLst>
                    <a:ext uri="{9D8B030D-6E8A-4147-A177-3AD203B41FA5}">
                      <a16:colId xmlns:a16="http://schemas.microsoft.com/office/drawing/2014/main" val="2985443776"/>
                    </a:ext>
                  </a:extLst>
                </a:gridCol>
                <a:gridCol w="2208637">
                  <a:extLst>
                    <a:ext uri="{9D8B030D-6E8A-4147-A177-3AD203B41FA5}">
                      <a16:colId xmlns:a16="http://schemas.microsoft.com/office/drawing/2014/main" val="751343341"/>
                    </a:ext>
                  </a:extLst>
                </a:gridCol>
              </a:tblGrid>
              <a:tr h="835510">
                <a:tc>
                  <a:txBody>
                    <a:bodyPr/>
                    <a:lstStyle/>
                    <a:p>
                      <a:pPr algn="ctr">
                        <a:lnSpc>
                          <a:spcPct val="107000"/>
                        </a:lnSpc>
                        <a:spcAft>
                          <a:spcPts val="0"/>
                        </a:spcAft>
                      </a:pPr>
                      <a:r>
                        <a:rPr lang="en-IN" sz="1800" b="1" dirty="0">
                          <a:effectLst/>
                        </a:rPr>
                        <a:t>Author &amp; Journal Details</a:t>
                      </a:r>
                      <a:endParaRPr lang="en-GB" sz="1050" b="1"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gn="ctr">
                        <a:lnSpc>
                          <a:spcPct val="107000"/>
                        </a:lnSpc>
                        <a:spcAft>
                          <a:spcPts val="0"/>
                        </a:spcAft>
                      </a:pPr>
                      <a:r>
                        <a:rPr lang="en-IN" sz="1800" b="1" dirty="0">
                          <a:effectLst/>
                        </a:rPr>
                        <a:t>Methodology</a:t>
                      </a:r>
                      <a:endParaRPr lang="en-GB" sz="1050" b="1"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extLst>
                  <a:ext uri="{0D108BD9-81ED-4DB2-BD59-A6C34878D82A}">
                    <a16:rowId xmlns:a16="http://schemas.microsoft.com/office/drawing/2014/main" val="2749685852"/>
                  </a:ext>
                </a:extLst>
              </a:tr>
              <a:tr h="2042680">
                <a:tc>
                  <a:txBody>
                    <a:bodyPr/>
                    <a:lstStyle/>
                    <a:p>
                      <a:pPr>
                        <a:lnSpc>
                          <a:spcPct val="107000"/>
                        </a:lnSpc>
                        <a:spcAft>
                          <a:spcPts val="0"/>
                        </a:spcAft>
                      </a:pPr>
                      <a:r>
                        <a:rPr lang="en-IN" sz="1500" dirty="0" smtClean="0">
                          <a:effectLst/>
                          <a:latin typeface="+mn-lt"/>
                          <a:ea typeface="+mn-ea"/>
                          <a:cs typeface="+mn-cs"/>
                          <a:hlinkClick r:id="rId4"/>
                        </a:rPr>
                        <a:t>[1]. </a:t>
                      </a:r>
                      <a:r>
                        <a:rPr lang="en-IN" sz="1500" dirty="0" smtClean="0">
                          <a:effectLst/>
                          <a:latin typeface="+mn-lt"/>
                          <a:ea typeface="+mn-ea"/>
                          <a:cs typeface="+mn-cs"/>
                        </a:rPr>
                        <a:t>Basha,</a:t>
                      </a:r>
                      <a:r>
                        <a:rPr lang="en-IN" sz="1500" baseline="0" dirty="0" smtClean="0">
                          <a:effectLst/>
                          <a:latin typeface="+mn-lt"/>
                          <a:ea typeface="+mn-ea"/>
                          <a:cs typeface="+mn-cs"/>
                        </a:rPr>
                        <a:t> SK., et al. (2025)</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nSpc>
                          <a:spcPct val="107000"/>
                        </a:lnSpc>
                        <a:spcAft>
                          <a:spcPts val="0"/>
                        </a:spcAft>
                      </a:pPr>
                      <a:r>
                        <a:rPr lang="en-GB" sz="1600" dirty="0" smtClean="0"/>
                        <a:t>AI-Driven Bus Boarding Demand Prediction for Real-Time Public Transport Optimization</a:t>
                      </a:r>
                      <a:r>
                        <a:rPr lang="en-IN" sz="1500" dirty="0" smtClean="0">
                          <a:effectLst/>
                        </a:rPr>
                        <a:t>-</a:t>
                      </a:r>
                      <a:endParaRPr lang="en-GB" sz="1500" dirty="0">
                        <a:effectLst/>
                      </a:endParaRPr>
                    </a:p>
                    <a:p>
                      <a:pPr>
                        <a:lnSpc>
                          <a:spcPct val="107000"/>
                        </a:lnSpc>
                        <a:spcAft>
                          <a:spcPts val="0"/>
                        </a:spcAft>
                      </a:pPr>
                      <a:r>
                        <a:rPr lang="en-GB" sz="1500" dirty="0">
                          <a:effectLst/>
                        </a:rPr>
                        <a:t>To </a:t>
                      </a:r>
                      <a:r>
                        <a:rPr lang="en-GB" sz="1600" dirty="0" smtClean="0"/>
                        <a:t>improve passenger boarding demand in bus transit by using SVM</a:t>
                      </a:r>
                      <a:r>
                        <a:rPr lang="en-GB" sz="1600" baseline="0" dirty="0" smtClean="0"/>
                        <a:t> </a:t>
                      </a:r>
                      <a:r>
                        <a:rPr lang="en-GB" sz="1600" dirty="0" smtClean="0"/>
                        <a:t>and</a:t>
                      </a:r>
                      <a:r>
                        <a:rPr lang="en-GB" sz="1600" baseline="0" dirty="0" smtClean="0"/>
                        <a:t> </a:t>
                      </a:r>
                      <a:r>
                        <a:rPr lang="en-GB" sz="1600" dirty="0" smtClean="0"/>
                        <a:t>DNNs, to forecast demand dynamically.</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nSpc>
                          <a:spcPct val="107000"/>
                        </a:lnSpc>
                        <a:spcAft>
                          <a:spcPts val="0"/>
                        </a:spcAft>
                      </a:pPr>
                      <a:r>
                        <a:rPr lang="en-GB" sz="1600" dirty="0" smtClean="0"/>
                        <a:t>It</a:t>
                      </a:r>
                      <a:r>
                        <a:rPr lang="en-GB" sz="1600" baseline="0" dirty="0" smtClean="0"/>
                        <a:t> involved</a:t>
                      </a:r>
                      <a:r>
                        <a:rPr lang="en-GB" sz="1600" dirty="0" smtClean="0"/>
                        <a:t> training and validating models with timestamps, route numbers, and traffic conditions, and comparing performance.</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nSpc>
                          <a:spcPct val="107000"/>
                        </a:lnSpc>
                        <a:spcAft>
                          <a:spcPts val="0"/>
                        </a:spcAft>
                      </a:pPr>
                      <a:r>
                        <a:rPr lang="en-GB" sz="1600" dirty="0" smtClean="0"/>
                        <a:t>AI-based models delivered high precision in predicting boarding demand.</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nSpc>
                          <a:spcPct val="107000"/>
                        </a:lnSpc>
                        <a:spcAft>
                          <a:spcPts val="0"/>
                        </a:spcAft>
                      </a:pPr>
                      <a:r>
                        <a:rPr lang="en-GB" sz="1600" b="0" dirty="0" smtClean="0"/>
                        <a:t>Timetable and historical input features to estimate demand patterns</a:t>
                      </a:r>
                      <a:r>
                        <a:rPr lang="en-GB" sz="1600" dirty="0" smtClean="0"/>
                        <a:t>, routing crowd estimation and travel time recommendation.</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extLst>
                  <a:ext uri="{0D108BD9-81ED-4DB2-BD59-A6C34878D82A}">
                    <a16:rowId xmlns:a16="http://schemas.microsoft.com/office/drawing/2014/main" val="2465457747"/>
                  </a:ext>
                </a:extLst>
              </a:tr>
              <a:tr h="2212905">
                <a:tc>
                  <a:txBody>
                    <a:bodyPr/>
                    <a:lstStyle/>
                    <a:p>
                      <a:pPr>
                        <a:lnSpc>
                          <a:spcPct val="107000"/>
                        </a:lnSpc>
                        <a:spcAft>
                          <a:spcPts val="0"/>
                        </a:spcAft>
                      </a:pPr>
                      <a:r>
                        <a:rPr lang="en-GB" sz="1500" dirty="0" smtClean="0">
                          <a:effectLst/>
                          <a:hlinkClick r:id="rId5"/>
                        </a:rPr>
                        <a:t>[2]. </a:t>
                      </a:r>
                      <a:r>
                        <a:rPr lang="en-GB" sz="1500" dirty="0" smtClean="0">
                          <a:effectLst/>
                        </a:rPr>
                        <a:t>Shrivastava, A.,</a:t>
                      </a:r>
                      <a:r>
                        <a:rPr lang="en-GB" sz="1500" baseline="0" dirty="0" smtClean="0">
                          <a:effectLst/>
                        </a:rPr>
                        <a:t> et al. (2024)</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nSpc>
                          <a:spcPct val="107000"/>
                        </a:lnSpc>
                        <a:spcAft>
                          <a:spcPts val="0"/>
                        </a:spcAft>
                      </a:pPr>
                      <a:r>
                        <a:rPr lang="en-GB" sz="1600" dirty="0" smtClean="0"/>
                        <a:t>Deep-Learning-Based Model for Prediction of Crowding in a Public Transit System</a:t>
                      </a:r>
                      <a:r>
                        <a:rPr lang="en-GB" sz="1500" dirty="0" smtClean="0">
                          <a:effectLst/>
                        </a:rPr>
                        <a:t>-</a:t>
                      </a:r>
                      <a:r>
                        <a:rPr lang="en-GB" sz="1500" baseline="0" dirty="0" smtClean="0">
                          <a:effectLst/>
                        </a:rPr>
                        <a:t> </a:t>
                      </a:r>
                      <a:r>
                        <a:rPr lang="en-GB" sz="1600" baseline="0" dirty="0" smtClean="0">
                          <a:effectLst/>
                        </a:rPr>
                        <a:t>Develop </a:t>
                      </a:r>
                      <a:r>
                        <a:rPr lang="en-GB" sz="1600" dirty="0" smtClean="0"/>
                        <a:t>a </a:t>
                      </a:r>
                      <a:r>
                        <a:rPr lang="en-GB" sz="1600" b="0" dirty="0" smtClean="0"/>
                        <a:t>crowding prediction framework </a:t>
                      </a:r>
                      <a:r>
                        <a:rPr lang="en-GB" sz="1600" dirty="0" smtClean="0"/>
                        <a:t>using ticketing data and clustering passenger segments.</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nSpc>
                          <a:spcPct val="107000"/>
                        </a:lnSpc>
                        <a:spcAft>
                          <a:spcPts val="0"/>
                        </a:spcAft>
                      </a:pPr>
                      <a:r>
                        <a:rPr lang="en-GB" sz="1600" dirty="0" smtClean="0"/>
                        <a:t>Applied transit segment relations (TSR) to capture ridership patterns and predicts crowding levels for different periods of the day.</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nSpc>
                          <a:spcPct val="107000"/>
                        </a:lnSpc>
                        <a:spcAft>
                          <a:spcPts val="0"/>
                        </a:spcAft>
                      </a:pPr>
                      <a:r>
                        <a:rPr lang="en-GB" sz="1600" dirty="0" smtClean="0"/>
                        <a:t>The model, validated with three months of</a:t>
                      </a:r>
                      <a:r>
                        <a:rPr lang="en-GB" sz="1600" baseline="0" dirty="0" smtClean="0"/>
                        <a:t> </a:t>
                      </a:r>
                      <a:r>
                        <a:rPr lang="en-GB" sz="1600" dirty="0" smtClean="0"/>
                        <a:t>ticketing data in Bhubaneswar, can guide passengers and transit agencies about expected crowding, helping them plan route choices.</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tc>
                  <a:txBody>
                    <a:bodyPr/>
                    <a:lstStyle/>
                    <a:p>
                      <a:pPr>
                        <a:lnSpc>
                          <a:spcPct val="107000"/>
                        </a:lnSpc>
                        <a:spcAft>
                          <a:spcPts val="0"/>
                        </a:spcAft>
                      </a:pPr>
                      <a:r>
                        <a:rPr lang="en-GB" sz="1600" b="0" dirty="0" smtClean="0"/>
                        <a:t>Categorizing crowd levels based on time and ridership patterns</a:t>
                      </a:r>
                      <a:r>
                        <a:rPr lang="en-GB" sz="1600" dirty="0" smtClean="0"/>
                        <a:t>,</a:t>
                      </a:r>
                      <a:r>
                        <a:rPr lang="en-GB" sz="1600" baseline="0" dirty="0" smtClean="0"/>
                        <a:t> </a:t>
                      </a:r>
                      <a:r>
                        <a:rPr lang="en-GB" sz="1600" dirty="0" smtClean="0"/>
                        <a:t>transforming into time slots and risk levels in timetable analysis without direct crowd counts.</a:t>
                      </a:r>
                      <a:r>
                        <a:rPr lang="en-GB" sz="1500" dirty="0" smtClean="0">
                          <a:effectLst/>
                        </a:rPr>
                        <a:t> </a:t>
                      </a:r>
                      <a:endParaRPr lang="en-GB" sz="1500" dirty="0">
                        <a:effectLst/>
                      </a:endParaRPr>
                    </a:p>
                    <a:p>
                      <a:pPr>
                        <a:lnSpc>
                          <a:spcPct val="107000"/>
                        </a:lnSpc>
                        <a:spcAft>
                          <a:spcPts val="0"/>
                        </a:spcAft>
                      </a:pPr>
                      <a:r>
                        <a:rPr lang="en-IN" sz="1500" dirty="0">
                          <a:effectLst/>
                        </a:rPr>
                        <a:t>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5621" marR="55621" marT="0" marB="0"/>
                </a:tc>
                <a:extLst>
                  <a:ext uri="{0D108BD9-81ED-4DB2-BD59-A6C34878D82A}">
                    <a16:rowId xmlns:a16="http://schemas.microsoft.com/office/drawing/2014/main" val="3545614659"/>
                  </a:ext>
                </a:extLst>
              </a:tr>
            </a:tbl>
          </a:graphicData>
        </a:graphic>
      </p:graphicFrame>
      <p:sp>
        <p:nvSpPr>
          <p:cNvPr id="11"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9625156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4</a:t>
            </a:r>
            <a:endParaRPr sz="1400" dirty="0">
              <a:latin typeface="+mj-lt"/>
              <a:cs typeface="Calibri"/>
            </a:endParaRPr>
          </a:p>
        </p:txBody>
      </p:sp>
      <p:graphicFrame>
        <p:nvGraphicFramePr>
          <p:cNvPr id="8" name="Table 7"/>
          <p:cNvGraphicFramePr>
            <a:graphicFrameLocks noGrp="1"/>
          </p:cNvGraphicFramePr>
          <p:nvPr>
            <p:extLst>
              <p:ext uri="{D42A27DB-BD31-4B8C-83A1-F6EECF244321}">
                <p14:modId xmlns:p14="http://schemas.microsoft.com/office/powerpoint/2010/main" val="2894196457"/>
              </p:ext>
            </p:extLst>
          </p:nvPr>
        </p:nvGraphicFramePr>
        <p:xfrm>
          <a:off x="543339" y="1047092"/>
          <a:ext cx="11285414" cy="5478076"/>
        </p:xfrm>
        <a:graphic>
          <a:graphicData uri="http://schemas.openxmlformats.org/drawingml/2006/table">
            <a:tbl>
              <a:tblPr firstRow="1" firstCol="1" bandRow="1">
                <a:tableStyleId>{5940675A-B579-460E-94D1-54222C63F5DA}</a:tableStyleId>
              </a:tblPr>
              <a:tblGrid>
                <a:gridCol w="2088943">
                  <a:extLst>
                    <a:ext uri="{9D8B030D-6E8A-4147-A177-3AD203B41FA5}">
                      <a16:colId xmlns:a16="http://schemas.microsoft.com/office/drawing/2014/main" val="1300092438"/>
                    </a:ext>
                  </a:extLst>
                </a:gridCol>
                <a:gridCol w="2212543">
                  <a:extLst>
                    <a:ext uri="{9D8B030D-6E8A-4147-A177-3AD203B41FA5}">
                      <a16:colId xmlns:a16="http://schemas.microsoft.com/office/drawing/2014/main" val="1680491335"/>
                    </a:ext>
                  </a:extLst>
                </a:gridCol>
                <a:gridCol w="2578887">
                  <a:extLst>
                    <a:ext uri="{9D8B030D-6E8A-4147-A177-3AD203B41FA5}">
                      <a16:colId xmlns:a16="http://schemas.microsoft.com/office/drawing/2014/main" val="3391860454"/>
                    </a:ext>
                  </a:extLst>
                </a:gridCol>
                <a:gridCol w="2201407">
                  <a:extLst>
                    <a:ext uri="{9D8B030D-6E8A-4147-A177-3AD203B41FA5}">
                      <a16:colId xmlns:a16="http://schemas.microsoft.com/office/drawing/2014/main" val="4179322300"/>
                    </a:ext>
                  </a:extLst>
                </a:gridCol>
                <a:gridCol w="2203634">
                  <a:extLst>
                    <a:ext uri="{9D8B030D-6E8A-4147-A177-3AD203B41FA5}">
                      <a16:colId xmlns:a16="http://schemas.microsoft.com/office/drawing/2014/main" val="4093839904"/>
                    </a:ext>
                  </a:extLst>
                </a:gridCol>
              </a:tblGrid>
              <a:tr h="797808">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extLst>
                  <a:ext uri="{0D108BD9-81ED-4DB2-BD59-A6C34878D82A}">
                    <a16:rowId xmlns:a16="http://schemas.microsoft.com/office/drawing/2014/main" val="54180444"/>
                  </a:ext>
                </a:extLst>
              </a:tr>
              <a:tr h="2005246">
                <a:tc>
                  <a:txBody>
                    <a:bodyPr/>
                    <a:lstStyle/>
                    <a:p>
                      <a:r>
                        <a:rPr lang="sv-SE" sz="1500" b="0" dirty="0" smtClean="0">
                          <a:hlinkClick r:id="rId4"/>
                        </a:rPr>
                        <a:t>[3]. </a:t>
                      </a:r>
                      <a:r>
                        <a:rPr lang="sv-SE" sz="1500" b="0" dirty="0" smtClean="0"/>
                        <a:t>V</a:t>
                      </a:r>
                      <a:r>
                        <a:rPr lang="sv-SE" sz="1500" b="0" baseline="0" dirty="0" smtClean="0"/>
                        <a:t> S, D., et al. (2022) </a:t>
                      </a:r>
                      <a:endParaRPr lang="sv-SE" sz="1500" b="0" dirty="0"/>
                    </a:p>
                  </a:txBody>
                  <a:tcPr marL="59607" marR="59607" marT="0" marB="0"/>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GB" sz="1600" dirty="0" smtClean="0"/>
                        <a:t>Crowd Density Estimation and Location Prediction in Public Transport System</a:t>
                      </a:r>
                      <a:r>
                        <a:rPr lang="en-IN" sz="1500" dirty="0" smtClean="0">
                          <a:effectLst/>
                        </a:rPr>
                        <a:t>– To</a:t>
                      </a:r>
                      <a:r>
                        <a:rPr lang="en-IN" sz="1500" baseline="0" dirty="0" smtClean="0">
                          <a:effectLst/>
                        </a:rPr>
                        <a:t> </a:t>
                      </a:r>
                      <a:r>
                        <a:rPr lang="en-GB" sz="1600" dirty="0" smtClean="0"/>
                        <a:t>design a system that combines crowd density estimation with location prediction.</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nSpc>
                          <a:spcPct val="107000"/>
                        </a:lnSpc>
                        <a:spcAft>
                          <a:spcPts val="0"/>
                        </a:spcAft>
                      </a:pPr>
                      <a:r>
                        <a:rPr lang="en-GB" sz="1600" dirty="0" smtClean="0"/>
                        <a:t>Involved </a:t>
                      </a:r>
                      <a:r>
                        <a:rPr lang="en-GB" sz="1600" dirty="0" err="1" smtClean="0"/>
                        <a:t>IoT</a:t>
                      </a:r>
                      <a:r>
                        <a:rPr lang="en-GB" sz="1600" dirty="0" smtClean="0"/>
                        <a:t>, hardware sensors, and deep learning models to estimate crowd density and provide travel information.</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nSpc>
                          <a:spcPct val="107000"/>
                        </a:lnSpc>
                        <a:spcAft>
                          <a:spcPts val="0"/>
                        </a:spcAft>
                      </a:pPr>
                      <a:r>
                        <a:rPr lang="en-GB" sz="1600" dirty="0" smtClean="0"/>
                        <a:t>Such systems can contribute to better use of travel time and help both passengers and travel agencies schedule appropriately.</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nSpc>
                          <a:spcPct val="107000"/>
                        </a:lnSpc>
                        <a:spcAft>
                          <a:spcPts val="0"/>
                        </a:spcAft>
                      </a:pPr>
                      <a:r>
                        <a:rPr lang="en-GB" sz="1600" dirty="0" smtClean="0"/>
                        <a:t>It supports the use of </a:t>
                      </a:r>
                      <a:r>
                        <a:rPr lang="en-GB" sz="1600" b="0" dirty="0" smtClean="0"/>
                        <a:t>crowd level estimation as a tool for travel planning </a:t>
                      </a:r>
                      <a:r>
                        <a:rPr lang="en-GB" sz="1600" dirty="0" smtClean="0"/>
                        <a:t>using secondary data proxies</a:t>
                      </a:r>
                      <a:r>
                        <a:rPr lang="en-GB" sz="1500" dirty="0" smtClean="0">
                          <a:effectLst/>
                        </a:rPr>
                        <a:t>.</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extLst>
                  <a:ext uri="{0D108BD9-81ED-4DB2-BD59-A6C34878D82A}">
                    <a16:rowId xmlns:a16="http://schemas.microsoft.com/office/drawing/2014/main" val="961462290"/>
                  </a:ext>
                </a:extLst>
              </a:tr>
              <a:tr h="2494334">
                <a:tc>
                  <a:txBody>
                    <a:bodyPr/>
                    <a:lstStyle/>
                    <a:p>
                      <a:pPr>
                        <a:lnSpc>
                          <a:spcPct val="107000"/>
                        </a:lnSpc>
                        <a:spcAft>
                          <a:spcPts val="0"/>
                        </a:spcAft>
                      </a:pPr>
                      <a:r>
                        <a:rPr lang="en-GB" sz="1500" dirty="0" smtClean="0">
                          <a:effectLst/>
                          <a:hlinkClick r:id="rId5"/>
                        </a:rPr>
                        <a:t>[4].</a:t>
                      </a:r>
                      <a:r>
                        <a:rPr lang="en-GB" sz="1500" baseline="0" dirty="0" smtClean="0">
                          <a:effectLst/>
                          <a:hlinkClick r:id="rId5"/>
                        </a:rPr>
                        <a:t> </a:t>
                      </a:r>
                      <a:r>
                        <a:rPr lang="en-GB" sz="1500" dirty="0" smtClean="0">
                          <a:effectLst/>
                        </a:rPr>
                        <a:t>Hsu, W. Y.,</a:t>
                      </a:r>
                      <a:r>
                        <a:rPr lang="en-GB" sz="1500" baseline="0" dirty="0" smtClean="0">
                          <a:effectLst/>
                        </a:rPr>
                        <a:t> et al. (</a:t>
                      </a:r>
                      <a:r>
                        <a:rPr lang="en-GB" sz="1500" dirty="0" smtClean="0">
                          <a:effectLst/>
                        </a:rPr>
                        <a:t>2020)</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nSpc>
                          <a:spcPct val="107000"/>
                        </a:lnSpc>
                        <a:spcAft>
                          <a:spcPts val="0"/>
                        </a:spcAft>
                      </a:pPr>
                      <a:r>
                        <a:rPr lang="en-GB" sz="1600" dirty="0" smtClean="0"/>
                        <a:t>Estimation of the Number of Passengers in a Bus Using Deep Learning</a:t>
                      </a:r>
                      <a:r>
                        <a:rPr lang="en-GB" sz="1500" dirty="0" smtClean="0">
                          <a:effectLst/>
                        </a:rPr>
                        <a:t>- To</a:t>
                      </a:r>
                      <a:r>
                        <a:rPr lang="en-GB" sz="1500" baseline="0" dirty="0" smtClean="0">
                          <a:effectLst/>
                        </a:rPr>
                        <a:t> </a:t>
                      </a:r>
                      <a:r>
                        <a:rPr lang="en-GB" sz="1600" dirty="0" smtClean="0"/>
                        <a:t>estimate</a:t>
                      </a:r>
                      <a:r>
                        <a:rPr lang="en-GB" sz="1600" baseline="0" dirty="0" smtClean="0"/>
                        <a:t> </a:t>
                      </a:r>
                      <a:r>
                        <a:rPr lang="en-GB" sz="1600" dirty="0" smtClean="0"/>
                        <a:t>passengers</a:t>
                      </a:r>
                      <a:r>
                        <a:rPr lang="en-GB" sz="1600" baseline="0" dirty="0" smtClean="0"/>
                        <a:t> </a:t>
                      </a:r>
                      <a:r>
                        <a:rPr lang="en-GB" sz="1600" dirty="0" smtClean="0"/>
                        <a:t>by applying deep learning models that combine feature extraction and object detection.</a:t>
                      </a:r>
                      <a:r>
                        <a:rPr lang="en-GB" sz="1600" baseline="0" dirty="0" smtClean="0"/>
                        <a:t>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nSpc>
                          <a:spcPct val="107000"/>
                        </a:lnSpc>
                        <a:spcAft>
                          <a:spcPts val="0"/>
                        </a:spcAft>
                      </a:pPr>
                      <a:r>
                        <a:rPr lang="en-GB" sz="1600" dirty="0" smtClean="0"/>
                        <a:t>It processed visual or sensor data to detect head regions and count passengers, evaluating performance across different scenarios.</a:t>
                      </a:r>
                      <a:endParaRPr lang="en-GB" sz="1500" dirty="0">
                        <a:effectLst/>
                      </a:endParaRPr>
                    </a:p>
                  </a:txBody>
                  <a:tcPr marL="59607" marR="59607" marT="0" marB="0"/>
                </a:tc>
                <a:tc>
                  <a:txBody>
                    <a:bodyPr/>
                    <a:lstStyle/>
                    <a:p>
                      <a:pPr>
                        <a:lnSpc>
                          <a:spcPct val="107000"/>
                        </a:lnSpc>
                        <a:spcAft>
                          <a:spcPts val="0"/>
                        </a:spcAft>
                      </a:pPr>
                      <a:r>
                        <a:rPr lang="en-GB" sz="1600" dirty="0" smtClean="0"/>
                        <a:t>The model performs better than existing methods in estimating occupancy.</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tc>
                  <a:txBody>
                    <a:bodyPr/>
                    <a:lstStyle/>
                    <a:p>
                      <a:pPr>
                        <a:lnSpc>
                          <a:spcPct val="107000"/>
                        </a:lnSpc>
                        <a:spcAft>
                          <a:spcPts val="0"/>
                        </a:spcAft>
                      </a:pPr>
                      <a:r>
                        <a:rPr lang="en-GB" sz="1600" dirty="0" smtClean="0"/>
                        <a:t>Illustrating </a:t>
                      </a:r>
                      <a:r>
                        <a:rPr lang="en-GB" sz="1600" b="0" dirty="0" smtClean="0"/>
                        <a:t>advanced crowd estimation techniques</a:t>
                      </a:r>
                      <a:r>
                        <a:rPr lang="en-GB" sz="1600" b="0" baseline="0" dirty="0" smtClean="0"/>
                        <a:t> where </a:t>
                      </a:r>
                      <a:r>
                        <a:rPr lang="en-GB" sz="1600" dirty="0" smtClean="0"/>
                        <a:t>accurate crowd estimation can be improved by using data patterns, from timetables and demographic indicators</a:t>
                      </a:r>
                      <a:r>
                        <a:rPr lang="en-GB" sz="1500" dirty="0" smtClean="0">
                          <a:effectLst/>
                        </a:rPr>
                        <a:t>.</a:t>
                      </a:r>
                      <a:endParaRPr lang="en-GB" sz="1500" dirty="0">
                        <a:effectLst/>
                      </a:endParaRPr>
                    </a:p>
                    <a:p>
                      <a:pPr>
                        <a:lnSpc>
                          <a:spcPct val="107000"/>
                        </a:lnSpc>
                        <a:spcAft>
                          <a:spcPts val="0"/>
                        </a:spcAft>
                      </a:pPr>
                      <a:r>
                        <a:rPr lang="en-IN" sz="1500" dirty="0">
                          <a:effectLst/>
                        </a:rPr>
                        <a:t>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607" marR="59607" marT="0" marB="0"/>
                </a:tc>
                <a:extLst>
                  <a:ext uri="{0D108BD9-81ED-4DB2-BD59-A6C34878D82A}">
                    <a16:rowId xmlns:a16="http://schemas.microsoft.com/office/drawing/2014/main" val="589172869"/>
                  </a:ext>
                </a:extLst>
              </a:tr>
            </a:tbl>
          </a:graphicData>
        </a:graphic>
      </p:graphicFrame>
      <p:sp>
        <p:nvSpPr>
          <p:cNvPr id="11"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22121443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5</a:t>
            </a:r>
            <a:endParaRPr sz="1400" dirty="0">
              <a:latin typeface="+mj-lt"/>
              <a:cs typeface="Calibri"/>
            </a:endParaRPr>
          </a:p>
        </p:txBody>
      </p:sp>
      <p:graphicFrame>
        <p:nvGraphicFramePr>
          <p:cNvPr id="5" name="Table 4"/>
          <p:cNvGraphicFramePr>
            <a:graphicFrameLocks noGrp="1"/>
          </p:cNvGraphicFramePr>
          <p:nvPr>
            <p:extLst>
              <p:ext uri="{D42A27DB-BD31-4B8C-83A1-F6EECF244321}">
                <p14:modId xmlns:p14="http://schemas.microsoft.com/office/powerpoint/2010/main" val="3080280548"/>
              </p:ext>
            </p:extLst>
          </p:nvPr>
        </p:nvGraphicFramePr>
        <p:xfrm>
          <a:off x="552041" y="1068896"/>
          <a:ext cx="11276712" cy="5400441"/>
        </p:xfrm>
        <a:graphic>
          <a:graphicData uri="http://schemas.openxmlformats.org/drawingml/2006/table">
            <a:tbl>
              <a:tblPr firstRow="1" firstCol="1" bandRow="1">
                <a:tableStyleId>{5940675A-B579-460E-94D1-54222C63F5DA}</a:tableStyleId>
              </a:tblPr>
              <a:tblGrid>
                <a:gridCol w="2087332">
                  <a:extLst>
                    <a:ext uri="{9D8B030D-6E8A-4147-A177-3AD203B41FA5}">
                      <a16:colId xmlns:a16="http://schemas.microsoft.com/office/drawing/2014/main" val="849035432"/>
                    </a:ext>
                  </a:extLst>
                </a:gridCol>
                <a:gridCol w="2210837">
                  <a:extLst>
                    <a:ext uri="{9D8B030D-6E8A-4147-A177-3AD203B41FA5}">
                      <a16:colId xmlns:a16="http://schemas.microsoft.com/office/drawing/2014/main" val="3577753948"/>
                    </a:ext>
                  </a:extLst>
                </a:gridCol>
                <a:gridCol w="2576899">
                  <a:extLst>
                    <a:ext uri="{9D8B030D-6E8A-4147-A177-3AD203B41FA5}">
                      <a16:colId xmlns:a16="http://schemas.microsoft.com/office/drawing/2014/main" val="3859436340"/>
                    </a:ext>
                  </a:extLst>
                </a:gridCol>
                <a:gridCol w="2199709">
                  <a:extLst>
                    <a:ext uri="{9D8B030D-6E8A-4147-A177-3AD203B41FA5}">
                      <a16:colId xmlns:a16="http://schemas.microsoft.com/office/drawing/2014/main" val="231053388"/>
                    </a:ext>
                  </a:extLst>
                </a:gridCol>
                <a:gridCol w="2201935">
                  <a:extLst>
                    <a:ext uri="{9D8B030D-6E8A-4147-A177-3AD203B41FA5}">
                      <a16:colId xmlns:a16="http://schemas.microsoft.com/office/drawing/2014/main" val="3276188071"/>
                    </a:ext>
                  </a:extLst>
                </a:gridCol>
              </a:tblGrid>
              <a:tr h="878668">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extLst>
                  <a:ext uri="{0D108BD9-81ED-4DB2-BD59-A6C34878D82A}">
                    <a16:rowId xmlns:a16="http://schemas.microsoft.com/office/drawing/2014/main" val="3357166382"/>
                  </a:ext>
                </a:extLst>
              </a:tr>
              <a:tr h="2126364">
                <a:tc>
                  <a:txBody>
                    <a:bodyPr/>
                    <a:lstStyle/>
                    <a:p>
                      <a:pPr>
                        <a:lnSpc>
                          <a:spcPct val="107000"/>
                        </a:lnSpc>
                        <a:spcAft>
                          <a:spcPts val="0"/>
                        </a:spcAft>
                      </a:pPr>
                      <a:r>
                        <a:rPr lang="en-IN" sz="1500" dirty="0" smtClean="0">
                          <a:effectLst/>
                          <a:hlinkClick r:id="rId4"/>
                        </a:rPr>
                        <a:t>[5]. </a:t>
                      </a:r>
                      <a:r>
                        <a:rPr lang="en-IN" sz="1500" dirty="0" smtClean="0">
                          <a:effectLst/>
                        </a:rPr>
                        <a:t>Marques</a:t>
                      </a:r>
                      <a:r>
                        <a:rPr lang="en-IN" sz="1500" baseline="0" dirty="0" smtClean="0">
                          <a:effectLst/>
                        </a:rPr>
                        <a:t>, S., et al. (2022)</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tc>
                  <a:txBody>
                    <a:bodyPr/>
                    <a:lstStyle/>
                    <a:p>
                      <a:r>
                        <a:rPr lang="en-GB" sz="1600" dirty="0" smtClean="0"/>
                        <a:t>Transit Ridership Modelling at the Bus Stop Level: Comparison of Approaches Focusing on Count and Spatially Dependent Data</a:t>
                      </a:r>
                      <a:r>
                        <a:rPr lang="en-GB" sz="1500" dirty="0" smtClean="0">
                          <a:effectLst/>
                        </a:rPr>
                        <a:t> </a:t>
                      </a:r>
                      <a:r>
                        <a:rPr lang="en-GB" sz="1500" dirty="0">
                          <a:effectLst/>
                        </a:rPr>
                        <a:t>- </a:t>
                      </a:r>
                      <a:r>
                        <a:rPr lang="en-GB" sz="1600" dirty="0" smtClean="0">
                          <a:effectLst/>
                        </a:rPr>
                        <a:t>M</a:t>
                      </a:r>
                      <a:r>
                        <a:rPr lang="en-GB" sz="1600" dirty="0" smtClean="0"/>
                        <a:t>odel boarding and alighting behaviour at the bus stop level.</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59015" marR="59015" marT="0" marB="0"/>
                </a:tc>
                <a:tc>
                  <a:txBody>
                    <a:bodyPr/>
                    <a:lstStyle/>
                    <a:p>
                      <a:r>
                        <a:rPr lang="en-GB" sz="1600" dirty="0" smtClean="0"/>
                        <a:t>Compared models with and without spatial dependence, finding that models recognizing spatial differences provide better fit and improve predictions.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59015" marR="59015" marT="0" marB="0"/>
                </a:tc>
                <a:tc>
                  <a:txBody>
                    <a:bodyPr/>
                    <a:lstStyle/>
                    <a:p>
                      <a:r>
                        <a:rPr lang="en-GB" sz="1600" dirty="0" smtClean="0"/>
                        <a:t>Emphasize the importance of incorporating </a:t>
                      </a:r>
                      <a:r>
                        <a:rPr lang="en-GB" sz="1600" b="0" dirty="0" smtClean="0"/>
                        <a:t>spatial context and</a:t>
                      </a:r>
                      <a:r>
                        <a:rPr lang="en-GB" sz="1600" b="0" baseline="0" dirty="0" smtClean="0"/>
                        <a:t> </a:t>
                      </a:r>
                      <a:r>
                        <a:rPr lang="en-GB" sz="1600" b="0" dirty="0" smtClean="0"/>
                        <a:t>demographic predictors </a:t>
                      </a:r>
                      <a:r>
                        <a:rPr lang="en-GB" sz="1600" dirty="0" smtClean="0"/>
                        <a:t>into ridership estimates.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59015" marR="59015" marT="0" marB="0"/>
                </a:tc>
                <a:tc>
                  <a:txBody>
                    <a:bodyPr/>
                    <a:lstStyle/>
                    <a:p>
                      <a:pPr>
                        <a:lnSpc>
                          <a:spcPct val="107000"/>
                        </a:lnSpc>
                        <a:spcAft>
                          <a:spcPts val="0"/>
                        </a:spcAft>
                      </a:pPr>
                      <a:r>
                        <a:rPr lang="en-GB" sz="1600" dirty="0" smtClean="0"/>
                        <a:t>It validates the use of </a:t>
                      </a:r>
                      <a:r>
                        <a:rPr lang="en-GB" sz="1600" b="0" dirty="0" smtClean="0"/>
                        <a:t>demographic and locational indicators </a:t>
                      </a:r>
                      <a:r>
                        <a:rPr lang="en-GB" sz="1600" dirty="0" smtClean="0"/>
                        <a:t>(e.g., population, land use) for estimating crowd patterns from secondary data.</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extLst>
                  <a:ext uri="{0D108BD9-81ED-4DB2-BD59-A6C34878D82A}">
                    <a16:rowId xmlns:a16="http://schemas.microsoft.com/office/drawing/2014/main" val="2025755139"/>
                  </a:ext>
                </a:extLst>
              </a:tr>
              <a:tr h="2327213">
                <a:tc>
                  <a:txBody>
                    <a:bodyPr/>
                    <a:lstStyle/>
                    <a:p>
                      <a:pPr>
                        <a:lnSpc>
                          <a:spcPct val="107000"/>
                        </a:lnSpc>
                        <a:spcAft>
                          <a:spcPts val="0"/>
                        </a:spcAft>
                      </a:pPr>
                      <a:r>
                        <a:rPr lang="en-IN" sz="1500" dirty="0" smtClean="0">
                          <a:effectLst/>
                          <a:hlinkClick r:id="rId5"/>
                        </a:rPr>
                        <a:t>[6]. </a:t>
                      </a:r>
                      <a:r>
                        <a:rPr lang="en-IN" sz="1500" dirty="0" err="1" smtClean="0">
                          <a:effectLst/>
                        </a:rPr>
                        <a:t>Pronello</a:t>
                      </a:r>
                      <a:r>
                        <a:rPr lang="en-IN" sz="1500" dirty="0" smtClean="0">
                          <a:effectLst/>
                        </a:rPr>
                        <a:t>, C., et</a:t>
                      </a:r>
                      <a:r>
                        <a:rPr lang="en-IN" sz="1500" baseline="0" dirty="0" smtClean="0">
                          <a:effectLst/>
                        </a:rPr>
                        <a:t> al. (2024)</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tc>
                  <a:txBody>
                    <a:bodyPr/>
                    <a:lstStyle/>
                    <a:p>
                      <a:pPr>
                        <a:lnSpc>
                          <a:spcPct val="107000"/>
                        </a:lnSpc>
                        <a:spcAft>
                          <a:spcPts val="0"/>
                        </a:spcAft>
                      </a:pPr>
                      <a:r>
                        <a:rPr lang="en-GB" sz="1600" dirty="0" smtClean="0"/>
                        <a:t>A Low-Cost Automatic People-Counting System at Bus Stops Using Wi-Fi Probe Requests and Deep Learning</a:t>
                      </a:r>
                      <a:r>
                        <a:rPr lang="en-IN" sz="1500" dirty="0" smtClean="0">
                          <a:effectLst/>
                        </a:rPr>
                        <a:t>-</a:t>
                      </a:r>
                      <a:r>
                        <a:rPr lang="en-GB" sz="1600" dirty="0" smtClean="0">
                          <a:effectLst/>
                        </a:rPr>
                        <a:t>E</a:t>
                      </a:r>
                      <a:r>
                        <a:rPr lang="en-GB" sz="1600" dirty="0" smtClean="0"/>
                        <a:t>stimate</a:t>
                      </a:r>
                      <a:r>
                        <a:rPr lang="en-GB" sz="1600" baseline="0" dirty="0" smtClean="0"/>
                        <a:t> </a:t>
                      </a:r>
                      <a:r>
                        <a:rPr lang="en-GB" sz="1600" dirty="0" smtClean="0"/>
                        <a:t>people waiting at bus stops, using Wi-Fi probe requests and CRNN.</a:t>
                      </a:r>
                      <a:r>
                        <a:rPr lang="en-GB" sz="1600" baseline="0" dirty="0" smtClean="0"/>
                        <a:t>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tc>
                  <a:txBody>
                    <a:bodyPr/>
                    <a:lstStyle/>
                    <a:p>
                      <a:r>
                        <a:rPr lang="en-GB" sz="1600" dirty="0" smtClean="0"/>
                        <a:t>Involved installing sniffing devices at stops, collecting probe request data, and training deep learning models to predict passenger counts with an average error of about 1.2 people.</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59015" marR="59015" marT="0" marB="0"/>
                </a:tc>
                <a:tc>
                  <a:txBody>
                    <a:bodyPr/>
                    <a:lstStyle/>
                    <a:p>
                      <a:r>
                        <a:rPr lang="en-GB" sz="1600" dirty="0" smtClean="0"/>
                        <a:t>Low-cost sensing combined with ML can yield reliable counts for planning.</a:t>
                      </a:r>
                      <a:r>
                        <a:rPr lang="en-GB" sz="1500" dirty="0">
                          <a:effectLst/>
                        </a:rPr>
                        <a:t>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tc>
                  <a:txBody>
                    <a:bodyPr/>
                    <a:lstStyle/>
                    <a:p>
                      <a:pPr>
                        <a:lnSpc>
                          <a:spcPct val="107000"/>
                        </a:lnSpc>
                        <a:spcAft>
                          <a:spcPts val="0"/>
                        </a:spcAft>
                      </a:pPr>
                      <a:r>
                        <a:rPr lang="en-GB" sz="1600" dirty="0" smtClean="0"/>
                        <a:t>It </a:t>
                      </a:r>
                      <a:r>
                        <a:rPr lang="en-GB" sz="1600" b="0" dirty="0" smtClean="0"/>
                        <a:t>demonstrates modern crowd estimation techniques </a:t>
                      </a:r>
                      <a:r>
                        <a:rPr lang="en-GB" sz="1600" dirty="0" smtClean="0"/>
                        <a:t>and provides a contrast between hardware-based crowd counting and timetable-based estimation.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59015" marR="59015" marT="0" marB="0"/>
                </a:tc>
                <a:extLst>
                  <a:ext uri="{0D108BD9-81ED-4DB2-BD59-A6C34878D82A}">
                    <a16:rowId xmlns:a16="http://schemas.microsoft.com/office/drawing/2014/main" val="1282476322"/>
                  </a:ext>
                </a:extLst>
              </a:tr>
            </a:tbl>
          </a:graphicData>
        </a:graphic>
      </p:graphicFrame>
      <p:sp>
        <p:nvSpPr>
          <p:cNvPr id="8"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8801293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75392"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6</a:t>
            </a:r>
            <a:endParaRPr sz="1400" dirty="0">
              <a:latin typeface="+mj-lt"/>
              <a:cs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1760478483"/>
              </p:ext>
            </p:extLst>
          </p:nvPr>
        </p:nvGraphicFramePr>
        <p:xfrm>
          <a:off x="553652" y="1004603"/>
          <a:ext cx="11275101" cy="5544931"/>
        </p:xfrm>
        <a:graphic>
          <a:graphicData uri="http://schemas.openxmlformats.org/drawingml/2006/table">
            <a:tbl>
              <a:tblPr firstRow="1" firstCol="1" bandRow="1">
                <a:tableStyleId>{5940675A-B579-460E-94D1-54222C63F5DA}</a:tableStyleId>
              </a:tblPr>
              <a:tblGrid>
                <a:gridCol w="2087034">
                  <a:extLst>
                    <a:ext uri="{9D8B030D-6E8A-4147-A177-3AD203B41FA5}">
                      <a16:colId xmlns:a16="http://schemas.microsoft.com/office/drawing/2014/main" val="3629784145"/>
                    </a:ext>
                  </a:extLst>
                </a:gridCol>
                <a:gridCol w="2210520">
                  <a:extLst>
                    <a:ext uri="{9D8B030D-6E8A-4147-A177-3AD203B41FA5}">
                      <a16:colId xmlns:a16="http://schemas.microsoft.com/office/drawing/2014/main" val="1539078260"/>
                    </a:ext>
                  </a:extLst>
                </a:gridCol>
                <a:gridCol w="2576531">
                  <a:extLst>
                    <a:ext uri="{9D8B030D-6E8A-4147-A177-3AD203B41FA5}">
                      <a16:colId xmlns:a16="http://schemas.microsoft.com/office/drawing/2014/main" val="1973663002"/>
                    </a:ext>
                  </a:extLst>
                </a:gridCol>
                <a:gridCol w="2199395">
                  <a:extLst>
                    <a:ext uri="{9D8B030D-6E8A-4147-A177-3AD203B41FA5}">
                      <a16:colId xmlns:a16="http://schemas.microsoft.com/office/drawing/2014/main" val="81220232"/>
                    </a:ext>
                  </a:extLst>
                </a:gridCol>
                <a:gridCol w="2201621">
                  <a:extLst>
                    <a:ext uri="{9D8B030D-6E8A-4147-A177-3AD203B41FA5}">
                      <a16:colId xmlns:a16="http://schemas.microsoft.com/office/drawing/2014/main" val="3573202863"/>
                    </a:ext>
                  </a:extLst>
                </a:gridCol>
              </a:tblGrid>
              <a:tr h="945751">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56754656"/>
                  </a:ext>
                </a:extLst>
              </a:tr>
              <a:tr h="2160780">
                <a:tc>
                  <a:txBody>
                    <a:bodyPr/>
                    <a:lstStyle/>
                    <a:p>
                      <a:pPr>
                        <a:lnSpc>
                          <a:spcPct val="107000"/>
                        </a:lnSpc>
                        <a:spcAft>
                          <a:spcPts val="0"/>
                        </a:spcAft>
                      </a:pPr>
                      <a:r>
                        <a:rPr lang="en-GB" sz="1500" dirty="0" smtClean="0">
                          <a:effectLst/>
                          <a:hlinkClick r:id="rId4"/>
                        </a:rPr>
                        <a:t>[7]. </a:t>
                      </a:r>
                      <a:r>
                        <a:rPr lang="en-GB" sz="1500" dirty="0" err="1" smtClean="0">
                          <a:effectLst/>
                        </a:rPr>
                        <a:t>Talusan</a:t>
                      </a:r>
                      <a:r>
                        <a:rPr lang="en-GB" sz="1500" dirty="0" smtClean="0">
                          <a:effectLst/>
                        </a:rPr>
                        <a:t>, JP.,</a:t>
                      </a:r>
                      <a:r>
                        <a:rPr lang="en-GB" sz="1500" baseline="0" dirty="0" smtClean="0">
                          <a:effectLst/>
                        </a:rPr>
                        <a:t> et al. (2022)</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dirty="0" smtClean="0"/>
                        <a:t>On Designing Day Ahead and Same Day Ridership Level Prediction Models Using Noisy APC Data</a:t>
                      </a:r>
                      <a:r>
                        <a:rPr lang="en-IN" sz="1500" smtClean="0">
                          <a:effectLst/>
                        </a:rPr>
                        <a:t>- </a:t>
                      </a:r>
                      <a:r>
                        <a:rPr lang="en-GB" sz="1600" smtClean="0">
                          <a:effectLst/>
                        </a:rPr>
                        <a:t>D</a:t>
                      </a:r>
                      <a:r>
                        <a:rPr lang="en-GB" sz="1600" smtClean="0"/>
                        <a:t>esign models for daily ridership levels</a:t>
                      </a:r>
                      <a:r>
                        <a:rPr lang="en-GB" sz="1600" baseline="0" smtClean="0"/>
                        <a:t> </a:t>
                      </a:r>
                      <a:r>
                        <a:rPr lang="en-GB" sz="1600" smtClean="0"/>
                        <a:t>with weather, transit, and calendar data.</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err="1" smtClean="0"/>
                        <a:t>XGBoost</a:t>
                      </a:r>
                      <a:r>
                        <a:rPr lang="en-GB" sz="1600" dirty="0" smtClean="0"/>
                        <a:t> and LSTM was used on millions of observations to perform trip- and stop-level prediction, showing that data fusion and advanced models outperform baseline statistics.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Multi-source datasets improve accuracy.</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b="0" dirty="0" smtClean="0"/>
                        <a:t>Handling noisy secondary data and model training </a:t>
                      </a:r>
                      <a:r>
                        <a:rPr lang="en-GB" sz="1600" dirty="0" smtClean="0"/>
                        <a:t>for feature engineering approach even without real ridership counts.</a:t>
                      </a:r>
                      <a:r>
                        <a:rPr lang="en-IN" sz="1500" dirty="0" smtClean="0">
                          <a:effectLst/>
                        </a:rPr>
                        <a:t>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1008732"/>
                  </a:ext>
                </a:extLst>
              </a:tr>
              <a:tr h="2119516">
                <a:tc>
                  <a:txBody>
                    <a:bodyPr/>
                    <a:lstStyle/>
                    <a:p>
                      <a:pPr>
                        <a:lnSpc>
                          <a:spcPct val="107000"/>
                        </a:lnSpc>
                        <a:spcAft>
                          <a:spcPts val="0"/>
                        </a:spcAft>
                      </a:pPr>
                      <a:r>
                        <a:rPr lang="en-US" sz="1500" kern="1200" dirty="0" smtClean="0">
                          <a:solidFill>
                            <a:schemeClr val="tx1"/>
                          </a:solidFill>
                          <a:effectLst/>
                          <a:latin typeface="+mn-lt"/>
                          <a:ea typeface="+mn-ea"/>
                          <a:cs typeface="+mn-cs"/>
                          <a:hlinkClick r:id="rId5"/>
                        </a:rPr>
                        <a:t>[8]. </a:t>
                      </a:r>
                      <a:r>
                        <a:rPr lang="en-US" sz="1500" kern="1200" dirty="0" err="1" smtClean="0">
                          <a:solidFill>
                            <a:schemeClr val="tx1"/>
                          </a:solidFill>
                          <a:effectLst/>
                          <a:latin typeface="+mn-lt"/>
                          <a:ea typeface="+mn-ea"/>
                          <a:cs typeface="+mn-cs"/>
                        </a:rPr>
                        <a:t>Martí</a:t>
                      </a:r>
                      <a:r>
                        <a:rPr lang="en-US" sz="1500" kern="1200" dirty="0" smtClean="0">
                          <a:solidFill>
                            <a:schemeClr val="tx1"/>
                          </a:solidFill>
                          <a:effectLst/>
                          <a:latin typeface="+mn-lt"/>
                          <a:ea typeface="+mn-ea"/>
                          <a:cs typeface="+mn-cs"/>
                        </a:rPr>
                        <a:t>, P., et al. (2024).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Bus Ridership Prediction and Scenario Analysis through ML and Multi-Agent Simulations</a:t>
                      </a:r>
                      <a:r>
                        <a:rPr lang="en-GB" sz="1600" i="0" baseline="0" dirty="0" smtClean="0"/>
                        <a:t> - C</a:t>
                      </a:r>
                      <a:r>
                        <a:rPr lang="en-GB" sz="1600" i="0" dirty="0" smtClean="0"/>
                        <a:t>ombine ML forecasts</a:t>
                      </a:r>
                      <a:r>
                        <a:rPr lang="en-GB" sz="1600" i="0" baseline="0" dirty="0" smtClean="0"/>
                        <a:t> &amp;</a:t>
                      </a:r>
                      <a:r>
                        <a:rPr lang="en-GB" sz="1600" i="0" dirty="0" smtClean="0"/>
                        <a:t> multi-agent simulations to model and analyse bus passenger flows and evaluate transport</a:t>
                      </a:r>
                      <a:r>
                        <a:rPr lang="en-GB" sz="1600" i="0" baseline="0" dirty="0" smtClean="0"/>
                        <a:t>.</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Comprehensive dataset and ML</a:t>
                      </a:r>
                      <a:r>
                        <a:rPr lang="en-GB" sz="1600" baseline="0" dirty="0" smtClean="0"/>
                        <a:t> </a:t>
                      </a:r>
                      <a:r>
                        <a:rPr lang="en-GB" sz="1600" dirty="0" smtClean="0"/>
                        <a:t>model</a:t>
                      </a:r>
                      <a:r>
                        <a:rPr lang="en-GB" sz="1600" baseline="0" dirty="0" smtClean="0"/>
                        <a:t> training</a:t>
                      </a:r>
                      <a:r>
                        <a:rPr lang="en-GB" sz="1600" dirty="0" smtClean="0"/>
                        <a:t> to forecast passenger flows, incorporating</a:t>
                      </a:r>
                      <a:r>
                        <a:rPr lang="en-GB" sz="1600" baseline="0" dirty="0" smtClean="0"/>
                        <a:t> them</a:t>
                      </a:r>
                      <a:r>
                        <a:rPr lang="en-GB" sz="1600" dirty="0" smtClean="0"/>
                        <a:t> into agent-based simulations to evaluate service performance and scenario outcomes.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ML predictions and agent-based simulations produces detailed analyses of ridership scenarios, offering insights on resource allocation, service efficiency, and optimisation of urban mobility.</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Predictive modelling and scenario evaluation can inform crowd and demand estimation.</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1218908606"/>
                  </a:ext>
                </a:extLst>
              </a:tr>
            </a:tbl>
          </a:graphicData>
        </a:graphic>
      </p:graphicFrame>
      <p:sp>
        <p:nvSpPr>
          <p:cNvPr id="8"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31028476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7</a:t>
            </a:r>
            <a:endParaRPr sz="1400" dirty="0">
              <a:latin typeface="+mj-lt"/>
              <a:cs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2641394464"/>
              </p:ext>
            </p:extLst>
          </p:nvPr>
        </p:nvGraphicFramePr>
        <p:xfrm>
          <a:off x="553652" y="942575"/>
          <a:ext cx="11275101" cy="5642339"/>
        </p:xfrm>
        <a:graphic>
          <a:graphicData uri="http://schemas.openxmlformats.org/drawingml/2006/table">
            <a:tbl>
              <a:tblPr firstRow="1" firstCol="1" bandRow="1">
                <a:tableStyleId>{5940675A-B579-460E-94D1-54222C63F5DA}</a:tableStyleId>
              </a:tblPr>
              <a:tblGrid>
                <a:gridCol w="2087034">
                  <a:extLst>
                    <a:ext uri="{9D8B030D-6E8A-4147-A177-3AD203B41FA5}">
                      <a16:colId xmlns:a16="http://schemas.microsoft.com/office/drawing/2014/main" val="3629784145"/>
                    </a:ext>
                  </a:extLst>
                </a:gridCol>
                <a:gridCol w="2210520">
                  <a:extLst>
                    <a:ext uri="{9D8B030D-6E8A-4147-A177-3AD203B41FA5}">
                      <a16:colId xmlns:a16="http://schemas.microsoft.com/office/drawing/2014/main" val="1539078260"/>
                    </a:ext>
                  </a:extLst>
                </a:gridCol>
                <a:gridCol w="2576531">
                  <a:extLst>
                    <a:ext uri="{9D8B030D-6E8A-4147-A177-3AD203B41FA5}">
                      <a16:colId xmlns:a16="http://schemas.microsoft.com/office/drawing/2014/main" val="1973663002"/>
                    </a:ext>
                  </a:extLst>
                </a:gridCol>
                <a:gridCol w="2199395">
                  <a:extLst>
                    <a:ext uri="{9D8B030D-6E8A-4147-A177-3AD203B41FA5}">
                      <a16:colId xmlns:a16="http://schemas.microsoft.com/office/drawing/2014/main" val="81220232"/>
                    </a:ext>
                  </a:extLst>
                </a:gridCol>
                <a:gridCol w="2201621">
                  <a:extLst>
                    <a:ext uri="{9D8B030D-6E8A-4147-A177-3AD203B41FA5}">
                      <a16:colId xmlns:a16="http://schemas.microsoft.com/office/drawing/2014/main" val="3573202863"/>
                    </a:ext>
                  </a:extLst>
                </a:gridCol>
              </a:tblGrid>
              <a:tr h="945751">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56754656"/>
                  </a:ext>
                </a:extLst>
              </a:tr>
              <a:tr h="2160780">
                <a:tc>
                  <a:txBody>
                    <a:bodyPr/>
                    <a:lstStyle/>
                    <a:p>
                      <a:pPr>
                        <a:lnSpc>
                          <a:spcPct val="107000"/>
                        </a:lnSpc>
                        <a:spcAft>
                          <a:spcPts val="0"/>
                        </a:spcAft>
                      </a:pPr>
                      <a:r>
                        <a:rPr lang="en-US" sz="1500" kern="1200" dirty="0" smtClean="0">
                          <a:solidFill>
                            <a:schemeClr val="tx1"/>
                          </a:solidFill>
                          <a:effectLst/>
                          <a:latin typeface="+mn-lt"/>
                          <a:ea typeface="+mn-ea"/>
                          <a:cs typeface="+mn-cs"/>
                          <a:hlinkClick r:id="rId4"/>
                        </a:rPr>
                        <a:t>[9]. </a:t>
                      </a:r>
                      <a:r>
                        <a:rPr lang="en-US" sz="1500" kern="1200" dirty="0" err="1" smtClean="0">
                          <a:solidFill>
                            <a:schemeClr val="tx1"/>
                          </a:solidFill>
                          <a:effectLst/>
                          <a:latin typeface="+mn-lt"/>
                          <a:ea typeface="+mn-ea"/>
                          <a:cs typeface="+mn-cs"/>
                        </a:rPr>
                        <a:t>Fontes</a:t>
                      </a:r>
                      <a:r>
                        <a:rPr lang="en-US" sz="1500" kern="1200" dirty="0" smtClean="0">
                          <a:solidFill>
                            <a:schemeClr val="tx1"/>
                          </a:solidFill>
                          <a:effectLst/>
                          <a:latin typeface="+mn-lt"/>
                          <a:ea typeface="+mn-ea"/>
                          <a:cs typeface="+mn-cs"/>
                        </a:rPr>
                        <a:t>, T., et al. (2020).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A Deep Learning Approach for Predicting Bus Passenger Demand Based on Weather Conditions-Predict bus ridership by incorporating weather conditions and time labels.</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Transit bus ridership data and weather conditions over one year were used. A Multilayer Perceptron (deep learning regression model) was trained with time and weather features to predict passenger demand.</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The inclusion of weather features (especially conditions two hours before travel) reduced prediction error by approximately 9%, and model sensitivity analysis.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b="0" dirty="0" smtClean="0"/>
                        <a:t>Integrating</a:t>
                      </a:r>
                      <a:r>
                        <a:rPr lang="en-GB" sz="1600" b="0" baseline="0" dirty="0" smtClean="0"/>
                        <a:t> </a:t>
                      </a:r>
                      <a:r>
                        <a:rPr lang="en-GB" sz="1600" b="0" dirty="0" smtClean="0"/>
                        <a:t>contextual features </a:t>
                      </a:r>
                      <a:r>
                        <a:rPr lang="en-GB" sz="1600" dirty="0" smtClean="0"/>
                        <a:t>(e.g., time of day and external indicators) to improve forecasting.</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1008732"/>
                  </a:ext>
                </a:extLst>
              </a:tr>
              <a:tr h="2119516">
                <a:tc>
                  <a:txBody>
                    <a:bodyPr/>
                    <a:lstStyle/>
                    <a:p>
                      <a:pPr>
                        <a:lnSpc>
                          <a:spcPct val="107000"/>
                        </a:lnSpc>
                        <a:spcAft>
                          <a:spcPts val="0"/>
                        </a:spcAft>
                      </a:pPr>
                      <a:r>
                        <a:rPr lang="en-IN" sz="1500" dirty="0" smtClean="0">
                          <a:effectLst/>
                          <a:latin typeface="Calibri" panose="020F0502020204030204" pitchFamily="34" charset="0"/>
                          <a:ea typeface="Calibri" panose="020F0502020204030204" pitchFamily="34" charset="0"/>
                          <a:cs typeface="Arial" panose="020B0604020202020204" pitchFamily="34" charset="0"/>
                          <a:hlinkClick r:id="rId5"/>
                        </a:rPr>
                        <a:t>[10]. </a:t>
                      </a:r>
                      <a:r>
                        <a:rPr lang="en-IN" sz="1500" dirty="0" err="1" smtClean="0">
                          <a:effectLst/>
                          <a:latin typeface="Calibri" panose="020F0502020204030204" pitchFamily="34" charset="0"/>
                          <a:ea typeface="Calibri" panose="020F0502020204030204" pitchFamily="34" charset="0"/>
                          <a:cs typeface="Arial" panose="020B0604020202020204" pitchFamily="34" charset="0"/>
                        </a:rPr>
                        <a:t>Farahmand</a:t>
                      </a:r>
                      <a:r>
                        <a:rPr lang="en-IN" sz="1500" baseline="0" dirty="0" smtClean="0">
                          <a:effectLst/>
                          <a:latin typeface="Calibri" panose="020F0502020204030204" pitchFamily="34" charset="0"/>
                          <a:ea typeface="Calibri" panose="020F0502020204030204" pitchFamily="34" charset="0"/>
                          <a:cs typeface="Arial" panose="020B0604020202020204" pitchFamily="34" charset="0"/>
                        </a:rPr>
                        <a:t>, Z.H., et al. (2023)</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Predicting Bus Ridership Based on the Weather Conditions Using Deep Learning Algorithms-Forecast bus ridership by incorporating weather conditions and</a:t>
                      </a:r>
                      <a:r>
                        <a:rPr lang="en-GB" sz="1600" i="0" baseline="0" dirty="0" smtClean="0"/>
                        <a:t> others </a:t>
                      </a:r>
                      <a:r>
                        <a:rPr lang="en-GB" sz="1600" i="0" dirty="0" smtClean="0"/>
                        <a:t>into demand prediction models.</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Used smart-card fare data covering multiple years, and applied a Multilayer Perceptron</a:t>
                      </a:r>
                      <a:r>
                        <a:rPr lang="en-GB" sz="1600" baseline="0" dirty="0" smtClean="0"/>
                        <a:t> </a:t>
                      </a:r>
                      <a:r>
                        <a:rPr lang="en-GB" sz="1600" dirty="0" smtClean="0"/>
                        <a:t>under three scenarios: without weather data, with weather data at boarding time, and with weather data one hour ahead.</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Delivered ridership forecasts, improving prediction accuracy when weather features were included. Error rates on weekdays and weekends</a:t>
                      </a:r>
                      <a:r>
                        <a:rPr lang="en-GB" sz="1600" baseline="0" dirty="0" smtClean="0"/>
                        <a:t> improved</a:t>
                      </a:r>
                      <a:r>
                        <a:rPr lang="en-GB" sz="1600" dirty="0" smtClean="0"/>
                        <a:t>.</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Engineered external features (weather, time) can improve demand prediction.</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1218908606"/>
                  </a:ext>
                </a:extLst>
              </a:tr>
            </a:tbl>
          </a:graphicData>
        </a:graphic>
      </p:graphicFrame>
      <p:sp>
        <p:nvSpPr>
          <p:cNvPr id="8"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39512839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8</a:t>
            </a:r>
            <a:endParaRPr sz="1400" dirty="0">
              <a:latin typeface="+mj-lt"/>
              <a:cs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1951373014"/>
              </p:ext>
            </p:extLst>
          </p:nvPr>
        </p:nvGraphicFramePr>
        <p:xfrm>
          <a:off x="553652" y="975747"/>
          <a:ext cx="11275101" cy="5595107"/>
        </p:xfrm>
        <a:graphic>
          <a:graphicData uri="http://schemas.openxmlformats.org/drawingml/2006/table">
            <a:tbl>
              <a:tblPr firstRow="1" firstCol="1" bandRow="1">
                <a:tableStyleId>{5940675A-B579-460E-94D1-54222C63F5DA}</a:tableStyleId>
              </a:tblPr>
              <a:tblGrid>
                <a:gridCol w="2087034">
                  <a:extLst>
                    <a:ext uri="{9D8B030D-6E8A-4147-A177-3AD203B41FA5}">
                      <a16:colId xmlns:a16="http://schemas.microsoft.com/office/drawing/2014/main" val="3629784145"/>
                    </a:ext>
                  </a:extLst>
                </a:gridCol>
                <a:gridCol w="2210520">
                  <a:extLst>
                    <a:ext uri="{9D8B030D-6E8A-4147-A177-3AD203B41FA5}">
                      <a16:colId xmlns:a16="http://schemas.microsoft.com/office/drawing/2014/main" val="1539078260"/>
                    </a:ext>
                  </a:extLst>
                </a:gridCol>
                <a:gridCol w="2576531">
                  <a:extLst>
                    <a:ext uri="{9D8B030D-6E8A-4147-A177-3AD203B41FA5}">
                      <a16:colId xmlns:a16="http://schemas.microsoft.com/office/drawing/2014/main" val="1973663002"/>
                    </a:ext>
                  </a:extLst>
                </a:gridCol>
                <a:gridCol w="2199395">
                  <a:extLst>
                    <a:ext uri="{9D8B030D-6E8A-4147-A177-3AD203B41FA5}">
                      <a16:colId xmlns:a16="http://schemas.microsoft.com/office/drawing/2014/main" val="81220232"/>
                    </a:ext>
                  </a:extLst>
                </a:gridCol>
                <a:gridCol w="2201621">
                  <a:extLst>
                    <a:ext uri="{9D8B030D-6E8A-4147-A177-3AD203B41FA5}">
                      <a16:colId xmlns:a16="http://schemas.microsoft.com/office/drawing/2014/main" val="3573202863"/>
                    </a:ext>
                  </a:extLst>
                </a:gridCol>
              </a:tblGrid>
              <a:tr h="945751">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56754656"/>
                  </a:ext>
                </a:extLst>
              </a:tr>
              <a:tr h="2160780">
                <a:tc>
                  <a:txBody>
                    <a:bodyPr/>
                    <a:lstStyle/>
                    <a:p>
                      <a:pPr>
                        <a:lnSpc>
                          <a:spcPct val="107000"/>
                        </a:lnSpc>
                        <a:spcAft>
                          <a:spcPts val="0"/>
                        </a:spcAft>
                      </a:pPr>
                      <a:r>
                        <a:rPr lang="en-US" sz="1500" kern="1200" dirty="0" smtClean="0">
                          <a:solidFill>
                            <a:schemeClr val="tx1"/>
                          </a:solidFill>
                          <a:effectLst/>
                          <a:latin typeface="+mn-lt"/>
                          <a:ea typeface="+mn-ea"/>
                          <a:cs typeface="+mn-cs"/>
                          <a:hlinkClick r:id="rId4"/>
                        </a:rPr>
                        <a:t>[11].</a:t>
                      </a:r>
                      <a:r>
                        <a:rPr lang="en-US" sz="1500" kern="1200" baseline="0" dirty="0" smtClean="0">
                          <a:solidFill>
                            <a:schemeClr val="tx1"/>
                          </a:solidFill>
                          <a:effectLst/>
                          <a:latin typeface="+mn-lt"/>
                          <a:ea typeface="+mn-ea"/>
                          <a:cs typeface="+mn-cs"/>
                          <a:hlinkClick r:id="rId4"/>
                        </a:rPr>
                        <a:t> </a:t>
                      </a:r>
                      <a:r>
                        <a:rPr lang="en-US" sz="1500" kern="1200" dirty="0" smtClean="0">
                          <a:solidFill>
                            <a:schemeClr val="tx1"/>
                          </a:solidFill>
                          <a:effectLst/>
                          <a:latin typeface="+mn-lt"/>
                          <a:ea typeface="+mn-ea"/>
                          <a:cs typeface="+mn-cs"/>
                        </a:rPr>
                        <a:t>Yusuf, O., et al. (2025).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Data-Driven Predictive Modelling of Stop-Level Public Transit Patterns- Develop a predictive modelling framework that takes local spatiotemporal dynamics of passenger counts at stop level.</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Horizon-agnostic machine learning framework using APC data, engineered features like</a:t>
                      </a:r>
                      <a:r>
                        <a:rPr lang="en-GB" sz="1600" baseline="0" dirty="0" smtClean="0"/>
                        <a:t> </a:t>
                      </a:r>
                      <a:r>
                        <a:rPr lang="en-GB" sz="1600" dirty="0" smtClean="0"/>
                        <a:t>boarding/alighting counts, operational and weather and land use, and many predictive algorithms with feature optimisation and interpretability analyses.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Tree-based ML models</a:t>
                      </a:r>
                      <a:r>
                        <a:rPr lang="en-GB" sz="1600" baseline="0" dirty="0" smtClean="0"/>
                        <a:t> gave</a:t>
                      </a:r>
                      <a:r>
                        <a:rPr lang="en-GB" sz="1600" dirty="0" smtClean="0"/>
                        <a:t> better passenger count forecasts. Enabled</a:t>
                      </a:r>
                      <a:r>
                        <a:rPr lang="en-GB" sz="1600" baseline="0" dirty="0" smtClean="0"/>
                        <a:t> s</a:t>
                      </a:r>
                      <a:r>
                        <a:rPr lang="en-GB" sz="1600" dirty="0" smtClean="0"/>
                        <a:t>cenario analyses for planning applications and highlighted asymmetric relationships between boarding and alighting counts. </a:t>
                      </a:r>
                      <a:endParaRPr lang="en-GB" sz="1600" dirty="0"/>
                    </a:p>
                  </a:txBody>
                  <a:tcPr anchor="ctr"/>
                </a:tc>
                <a:tc>
                  <a:txBody>
                    <a:bodyPr/>
                    <a:lstStyle/>
                    <a:p>
                      <a:r>
                        <a:rPr lang="en-GB" sz="1600" dirty="0" smtClean="0"/>
                        <a:t>Structured feature engineering and machine learning can extract ridership patterns from high-resolution data.</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1008732"/>
                  </a:ext>
                </a:extLst>
              </a:tr>
              <a:tr h="2119516">
                <a:tc>
                  <a:txBody>
                    <a:bodyPr/>
                    <a:lstStyle/>
                    <a:p>
                      <a:pPr>
                        <a:lnSpc>
                          <a:spcPct val="107000"/>
                        </a:lnSpc>
                        <a:spcAft>
                          <a:spcPts val="0"/>
                        </a:spcAft>
                      </a:pPr>
                      <a:r>
                        <a:rPr lang="en-IN" sz="1500" dirty="0" smtClean="0">
                          <a:effectLst/>
                          <a:latin typeface="Calibri" panose="020F0502020204030204" pitchFamily="34" charset="0"/>
                          <a:ea typeface="Calibri" panose="020F0502020204030204" pitchFamily="34" charset="0"/>
                          <a:cs typeface="Arial" panose="020B0604020202020204" pitchFamily="34" charset="0"/>
                          <a:hlinkClick r:id="rId5"/>
                        </a:rPr>
                        <a:t>[12]. </a:t>
                      </a:r>
                      <a:r>
                        <a:rPr lang="en-IN" sz="1500" dirty="0" err="1" smtClean="0">
                          <a:effectLst/>
                          <a:latin typeface="Calibri" panose="020F0502020204030204" pitchFamily="34" charset="0"/>
                          <a:ea typeface="Calibri" panose="020F0502020204030204" pitchFamily="34" charset="0"/>
                          <a:cs typeface="Arial" panose="020B0604020202020204" pitchFamily="34" charset="0"/>
                        </a:rPr>
                        <a:t>Siswanto</a:t>
                      </a:r>
                      <a:r>
                        <a:rPr lang="en-IN" sz="1500" dirty="0" smtClean="0">
                          <a:effectLst/>
                          <a:latin typeface="Calibri" panose="020F0502020204030204" pitchFamily="34" charset="0"/>
                          <a:ea typeface="Calibri" panose="020F0502020204030204" pitchFamily="34" charset="0"/>
                          <a:cs typeface="Arial" panose="020B0604020202020204" pitchFamily="34" charset="0"/>
                        </a:rPr>
                        <a:t>,</a:t>
                      </a:r>
                      <a:r>
                        <a:rPr lang="en-IN" sz="1500" baseline="0" dirty="0" smtClean="0">
                          <a:effectLst/>
                          <a:latin typeface="Calibri" panose="020F0502020204030204" pitchFamily="34" charset="0"/>
                          <a:ea typeface="Calibri" panose="020F0502020204030204" pitchFamily="34" charset="0"/>
                          <a:cs typeface="Arial" panose="020B0604020202020204" pitchFamily="34" charset="0"/>
                        </a:rPr>
                        <a:t> J., et al. (2025)</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Deep Learning Based LSTM Model for Predicting the Number of Passengers for Public Transport Bus Operators-</a:t>
                      </a:r>
                      <a:r>
                        <a:rPr lang="en-GB" sz="1600" i="0" baseline="0" dirty="0" smtClean="0"/>
                        <a:t> D</a:t>
                      </a:r>
                      <a:r>
                        <a:rPr lang="en-GB" sz="1600" i="0" dirty="0" smtClean="0"/>
                        <a:t>evelop LSTM</a:t>
                      </a:r>
                      <a:r>
                        <a:rPr lang="en-GB" sz="1600" i="0" baseline="0" dirty="0" smtClean="0"/>
                        <a:t> </a:t>
                      </a:r>
                      <a:r>
                        <a:rPr lang="en-GB" sz="1600" i="0" dirty="0" smtClean="0"/>
                        <a:t>model to</a:t>
                      </a:r>
                      <a:r>
                        <a:rPr lang="en-GB" sz="1600" i="0" baseline="0" dirty="0" smtClean="0"/>
                        <a:t> </a:t>
                      </a:r>
                      <a:r>
                        <a:rPr lang="en-GB" sz="1600" i="0" dirty="0" smtClean="0"/>
                        <a:t>predict future bus passenger counts.</a:t>
                      </a:r>
                      <a:endParaRPr lang="en-GB" sz="16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Time-series historical ridership data</a:t>
                      </a:r>
                      <a:r>
                        <a:rPr lang="en-GB" sz="1600" baseline="0" dirty="0" smtClean="0"/>
                        <a:t> collected</a:t>
                      </a:r>
                      <a:r>
                        <a:rPr lang="en-GB" sz="1600" dirty="0" smtClean="0"/>
                        <a:t>. Data pre-processing, feature selection and LSTM network training are performed with tuned parameters</a:t>
                      </a:r>
                      <a:r>
                        <a:rPr lang="en-GB" sz="1600" baseline="0" dirty="0" smtClean="0"/>
                        <a:t> </a:t>
                      </a:r>
                      <a:r>
                        <a:rPr lang="en-GB" sz="1600" dirty="0" smtClean="0"/>
                        <a:t>and evaluated with MSLE, MAPE, and SMAPE.</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LSTM model performed well with optimized parameters, producing 12-month future predictions for each operator’s ridership. </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b="0" dirty="0" smtClean="0"/>
                        <a:t>Time-series LSTM modelling </a:t>
                      </a:r>
                      <a:r>
                        <a:rPr lang="en-GB" sz="1600" dirty="0" smtClean="0"/>
                        <a:t>can extract demand patterns and forecast passenger numbers.</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1218908606"/>
                  </a:ext>
                </a:extLst>
              </a:tr>
            </a:tbl>
          </a:graphicData>
        </a:graphic>
      </p:graphicFrame>
      <p:sp>
        <p:nvSpPr>
          <p:cNvPr id="8"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15254762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9</a:t>
            </a:r>
            <a:endParaRPr sz="1400" dirty="0">
              <a:latin typeface="+mj-lt"/>
              <a:cs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948722985"/>
              </p:ext>
            </p:extLst>
          </p:nvPr>
        </p:nvGraphicFramePr>
        <p:xfrm>
          <a:off x="553652" y="1004603"/>
          <a:ext cx="11275101" cy="5334871"/>
        </p:xfrm>
        <a:graphic>
          <a:graphicData uri="http://schemas.openxmlformats.org/drawingml/2006/table">
            <a:tbl>
              <a:tblPr firstRow="1" firstCol="1" bandRow="1">
                <a:tableStyleId>{5940675A-B579-460E-94D1-54222C63F5DA}</a:tableStyleId>
              </a:tblPr>
              <a:tblGrid>
                <a:gridCol w="2087034">
                  <a:extLst>
                    <a:ext uri="{9D8B030D-6E8A-4147-A177-3AD203B41FA5}">
                      <a16:colId xmlns:a16="http://schemas.microsoft.com/office/drawing/2014/main" val="3629784145"/>
                    </a:ext>
                  </a:extLst>
                </a:gridCol>
                <a:gridCol w="2210520">
                  <a:extLst>
                    <a:ext uri="{9D8B030D-6E8A-4147-A177-3AD203B41FA5}">
                      <a16:colId xmlns:a16="http://schemas.microsoft.com/office/drawing/2014/main" val="1539078260"/>
                    </a:ext>
                  </a:extLst>
                </a:gridCol>
                <a:gridCol w="2576531">
                  <a:extLst>
                    <a:ext uri="{9D8B030D-6E8A-4147-A177-3AD203B41FA5}">
                      <a16:colId xmlns:a16="http://schemas.microsoft.com/office/drawing/2014/main" val="1973663002"/>
                    </a:ext>
                  </a:extLst>
                </a:gridCol>
                <a:gridCol w="2199395">
                  <a:extLst>
                    <a:ext uri="{9D8B030D-6E8A-4147-A177-3AD203B41FA5}">
                      <a16:colId xmlns:a16="http://schemas.microsoft.com/office/drawing/2014/main" val="81220232"/>
                    </a:ext>
                  </a:extLst>
                </a:gridCol>
                <a:gridCol w="2201621">
                  <a:extLst>
                    <a:ext uri="{9D8B030D-6E8A-4147-A177-3AD203B41FA5}">
                      <a16:colId xmlns:a16="http://schemas.microsoft.com/office/drawing/2014/main" val="3573202863"/>
                    </a:ext>
                  </a:extLst>
                </a:gridCol>
              </a:tblGrid>
              <a:tr h="945751">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56754656"/>
                  </a:ext>
                </a:extLst>
              </a:tr>
              <a:tr h="2160780">
                <a:tc>
                  <a:txBody>
                    <a:bodyPr/>
                    <a:lstStyle/>
                    <a:p>
                      <a:pPr>
                        <a:lnSpc>
                          <a:spcPct val="107000"/>
                        </a:lnSpc>
                        <a:spcAft>
                          <a:spcPts val="0"/>
                        </a:spcAft>
                      </a:pPr>
                      <a:r>
                        <a:rPr lang="en-US" sz="1500" kern="1200" dirty="0" smtClean="0">
                          <a:solidFill>
                            <a:schemeClr val="tx1"/>
                          </a:solidFill>
                          <a:effectLst/>
                          <a:latin typeface="+mn-lt"/>
                          <a:ea typeface="+mn-ea"/>
                          <a:cs typeface="+mn-cs"/>
                          <a:hlinkClick r:id="rId4"/>
                        </a:rPr>
                        <a:t>[13]. </a:t>
                      </a:r>
                      <a:r>
                        <a:rPr lang="en-US" sz="1500" kern="1200" dirty="0" err="1" smtClean="0">
                          <a:solidFill>
                            <a:schemeClr val="tx1"/>
                          </a:solidFill>
                          <a:effectLst/>
                          <a:latin typeface="+mn-lt"/>
                          <a:ea typeface="+mn-ea"/>
                          <a:cs typeface="+mn-cs"/>
                        </a:rPr>
                        <a:t>Drisilda</a:t>
                      </a:r>
                      <a:r>
                        <a:rPr lang="en-US" sz="1500" kern="1200" dirty="0" smtClean="0">
                          <a:solidFill>
                            <a:schemeClr val="tx1"/>
                          </a:solidFill>
                          <a:effectLst/>
                          <a:latin typeface="+mn-lt"/>
                          <a:ea typeface="+mn-ea"/>
                          <a:cs typeface="+mn-cs"/>
                        </a:rPr>
                        <a:t>,</a:t>
                      </a:r>
                      <a:r>
                        <a:rPr lang="en-US" sz="1500" kern="1200" baseline="0" dirty="0" smtClean="0">
                          <a:solidFill>
                            <a:schemeClr val="tx1"/>
                          </a:solidFill>
                          <a:effectLst/>
                          <a:latin typeface="+mn-lt"/>
                          <a:ea typeface="+mn-ea"/>
                          <a:cs typeface="+mn-cs"/>
                        </a:rPr>
                        <a:t> S.</a:t>
                      </a:r>
                      <a:r>
                        <a:rPr lang="en-US" sz="1500" kern="1200" dirty="0" smtClean="0">
                          <a:solidFill>
                            <a:schemeClr val="tx1"/>
                          </a:solidFill>
                          <a:effectLst/>
                          <a:latin typeface="+mn-lt"/>
                          <a:ea typeface="+mn-ea"/>
                          <a:cs typeface="+mn-cs"/>
                        </a:rPr>
                        <a:t>, et al. (2025).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Machine Learning-Based Public Transit Ridership Forecasting System for BMTC-Develop</a:t>
                      </a:r>
                      <a:r>
                        <a:rPr lang="en-GB" sz="1600" i="0" baseline="0" dirty="0" smtClean="0"/>
                        <a:t> ML</a:t>
                      </a:r>
                      <a:r>
                        <a:rPr lang="en-GB" sz="1600" i="0" dirty="0" smtClean="0"/>
                        <a:t> system to forecast hourly ridership at BMTC bus stops using historical transit data.</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Six months of historical ridership data from selected BMTC routes were analysed using a SARIMAX seasonal time-series model. The system captured daily and weekly seasonality and was deployed with an interactive forecasting interface.</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SARIMAX achieved a mean absolute error of 18.92 passengers and a root mean squared error of 23.45, and supported real-time interactive visualization with route-level filtering. </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b="0" dirty="0" smtClean="0"/>
                        <a:t>Seasonal time-series models </a:t>
                      </a:r>
                      <a:r>
                        <a:rPr lang="en-GB" sz="1600" dirty="0" smtClean="0"/>
                        <a:t>can predict ridership levels with reasonable accuracy using historic schedule data</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1008732"/>
                  </a:ext>
                </a:extLst>
              </a:tr>
              <a:tr h="2119516">
                <a:tc>
                  <a:txBody>
                    <a:bodyPr/>
                    <a:lstStyle/>
                    <a:p>
                      <a:pPr>
                        <a:lnSpc>
                          <a:spcPct val="107000"/>
                        </a:lnSpc>
                        <a:spcAft>
                          <a:spcPts val="0"/>
                        </a:spcAft>
                      </a:pPr>
                      <a:r>
                        <a:rPr lang="en-US" sz="1500" kern="1200" dirty="0" smtClean="0">
                          <a:solidFill>
                            <a:schemeClr val="tx1"/>
                          </a:solidFill>
                          <a:effectLst/>
                          <a:latin typeface="+mn-lt"/>
                          <a:ea typeface="+mn-ea"/>
                          <a:cs typeface="+mn-cs"/>
                          <a:hlinkClick r:id="rId5"/>
                        </a:rPr>
                        <a:t>[14]. </a:t>
                      </a:r>
                      <a:r>
                        <a:rPr lang="en-US" sz="1500" kern="1200" dirty="0" smtClean="0">
                          <a:solidFill>
                            <a:schemeClr val="tx1"/>
                          </a:solidFill>
                          <a:effectLst/>
                          <a:latin typeface="+mn-lt"/>
                          <a:ea typeface="+mn-ea"/>
                          <a:cs typeface="+mn-cs"/>
                        </a:rPr>
                        <a:t>NNS Amir, et al. (2025).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Ridership Prediction for Bus Rapid Transit Using Multi-Feature Machine Learning Approaches-Predict bus ridership levels by integrating operational, temporal, and contextual features.</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Employed supervised ML trained on historical bus ridership data combined with time-based and route-level features. Multiple algorithms were evaluated and compared to identify the most accurate predictive framework for BRT systems.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Models</a:t>
                      </a:r>
                      <a:r>
                        <a:rPr lang="en-GB" sz="1600" baseline="0" dirty="0" smtClean="0"/>
                        <a:t> with</a:t>
                      </a:r>
                      <a:r>
                        <a:rPr lang="en-GB" sz="1600" dirty="0" smtClean="0"/>
                        <a:t> explanatory features significantly improved ridership prediction accuracy compared to baseline statistical methods. Clear peak-hour demand variations and route-specific crowding trends.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b="0" dirty="0" smtClean="0"/>
                        <a:t>Supports feature-based crowd estimation</a:t>
                      </a:r>
                      <a:r>
                        <a:rPr lang="en-GB" sz="1600" dirty="0" smtClean="0"/>
                        <a:t>, showing that even without real-time sensing, time, route, and service characteristics can meaningfully explain passenger demand patterns.</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1218908606"/>
                  </a:ext>
                </a:extLst>
              </a:tr>
            </a:tbl>
          </a:graphicData>
        </a:graphic>
      </p:graphicFrame>
      <p:sp>
        <p:nvSpPr>
          <p:cNvPr id="8"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32618796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10</a:t>
            </a:r>
            <a:endParaRPr sz="1400" dirty="0">
              <a:latin typeface="+mj-lt"/>
              <a:cs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3382883351"/>
              </p:ext>
            </p:extLst>
          </p:nvPr>
        </p:nvGraphicFramePr>
        <p:xfrm>
          <a:off x="553652" y="992143"/>
          <a:ext cx="11275101" cy="5578711"/>
        </p:xfrm>
        <a:graphic>
          <a:graphicData uri="http://schemas.openxmlformats.org/drawingml/2006/table">
            <a:tbl>
              <a:tblPr firstRow="1" firstCol="1" bandRow="1">
                <a:tableStyleId>{5940675A-B579-460E-94D1-54222C63F5DA}</a:tableStyleId>
              </a:tblPr>
              <a:tblGrid>
                <a:gridCol w="2087034">
                  <a:extLst>
                    <a:ext uri="{9D8B030D-6E8A-4147-A177-3AD203B41FA5}">
                      <a16:colId xmlns:a16="http://schemas.microsoft.com/office/drawing/2014/main" val="3629784145"/>
                    </a:ext>
                  </a:extLst>
                </a:gridCol>
                <a:gridCol w="2210520">
                  <a:extLst>
                    <a:ext uri="{9D8B030D-6E8A-4147-A177-3AD203B41FA5}">
                      <a16:colId xmlns:a16="http://schemas.microsoft.com/office/drawing/2014/main" val="1539078260"/>
                    </a:ext>
                  </a:extLst>
                </a:gridCol>
                <a:gridCol w="2576531">
                  <a:extLst>
                    <a:ext uri="{9D8B030D-6E8A-4147-A177-3AD203B41FA5}">
                      <a16:colId xmlns:a16="http://schemas.microsoft.com/office/drawing/2014/main" val="1973663002"/>
                    </a:ext>
                  </a:extLst>
                </a:gridCol>
                <a:gridCol w="2199395">
                  <a:extLst>
                    <a:ext uri="{9D8B030D-6E8A-4147-A177-3AD203B41FA5}">
                      <a16:colId xmlns:a16="http://schemas.microsoft.com/office/drawing/2014/main" val="81220232"/>
                    </a:ext>
                  </a:extLst>
                </a:gridCol>
                <a:gridCol w="2201621">
                  <a:extLst>
                    <a:ext uri="{9D8B030D-6E8A-4147-A177-3AD203B41FA5}">
                      <a16:colId xmlns:a16="http://schemas.microsoft.com/office/drawing/2014/main" val="3573202863"/>
                    </a:ext>
                  </a:extLst>
                </a:gridCol>
              </a:tblGrid>
              <a:tr h="945751">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56754656"/>
                  </a:ext>
                </a:extLst>
              </a:tr>
              <a:tr h="2160780">
                <a:tc>
                  <a:txBody>
                    <a:bodyPr/>
                    <a:lstStyle/>
                    <a:p>
                      <a:pPr>
                        <a:lnSpc>
                          <a:spcPct val="107000"/>
                        </a:lnSpc>
                        <a:spcAft>
                          <a:spcPts val="0"/>
                        </a:spcAft>
                      </a:pPr>
                      <a:r>
                        <a:rPr lang="en-US" sz="1500" kern="1200" dirty="0" smtClean="0">
                          <a:solidFill>
                            <a:schemeClr val="tx1"/>
                          </a:solidFill>
                          <a:effectLst/>
                          <a:latin typeface="+mn-lt"/>
                          <a:ea typeface="+mn-ea"/>
                          <a:cs typeface="+mn-cs"/>
                          <a:hlinkClick r:id="rId4"/>
                        </a:rPr>
                        <a:t>[15]. </a:t>
                      </a:r>
                      <a:r>
                        <a:rPr lang="en-US" sz="1500" kern="1200" dirty="0" err="1" smtClean="0">
                          <a:solidFill>
                            <a:schemeClr val="tx1"/>
                          </a:solidFill>
                          <a:effectLst/>
                          <a:latin typeface="+mn-lt"/>
                          <a:ea typeface="+mn-ea"/>
                          <a:cs typeface="+mn-cs"/>
                        </a:rPr>
                        <a:t>Movaghar</a:t>
                      </a:r>
                      <a:r>
                        <a:rPr lang="en-US" sz="1500" kern="1200" dirty="0" smtClean="0">
                          <a:solidFill>
                            <a:schemeClr val="tx1"/>
                          </a:solidFill>
                          <a:effectLst/>
                          <a:latin typeface="+mn-lt"/>
                          <a:ea typeface="+mn-ea"/>
                          <a:cs typeface="+mn-cs"/>
                        </a:rPr>
                        <a:t>, M., et al. (2025).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A Machine Learning Framework for Estimating Bus Ridership Loss During Network Disruptions-Estimate changes in bus ridership during disruptions or external events using ML.</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Used historical ridership data and applied regression-based and tree-based machine learning models to quantify ridership deviations under different scenarios. Temporal patterns and route-level characteristics were included to model demand sensitivity.</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ML models effectively captured ridership fluctuations caused by disruptions, with improved performance over traditional models</a:t>
                      </a:r>
                      <a:r>
                        <a:rPr lang="en-GB" sz="1600" baseline="0" dirty="0" smtClean="0"/>
                        <a:t> and gave</a:t>
                      </a:r>
                      <a:r>
                        <a:rPr lang="en-GB" sz="1600" dirty="0" smtClean="0"/>
                        <a:t> interpretable insights into how demand varies across routes and time periods.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Highlights the </a:t>
                      </a:r>
                      <a:r>
                        <a:rPr lang="en-GB" sz="1600" b="0" dirty="0" smtClean="0"/>
                        <a:t>sensitivity of ridership to time-based and contextual factors</a:t>
                      </a:r>
                      <a:r>
                        <a:rPr lang="en-GB" sz="1600" dirty="0" smtClean="0"/>
                        <a:t>, reinforcing that scheduled service characteristics and temporal segmentation (like time-slot framework) can be used to infer crowd risk levels.</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1008732"/>
                  </a:ext>
                </a:extLst>
              </a:tr>
              <a:tr h="2119516">
                <a:tc>
                  <a:txBody>
                    <a:bodyPr/>
                    <a:lstStyle/>
                    <a:p>
                      <a:pPr>
                        <a:lnSpc>
                          <a:spcPct val="107000"/>
                        </a:lnSpc>
                        <a:spcAft>
                          <a:spcPts val="0"/>
                        </a:spcAft>
                      </a:pPr>
                      <a:r>
                        <a:rPr lang="en-US" sz="1500" kern="1200" dirty="0" smtClean="0">
                          <a:solidFill>
                            <a:schemeClr val="tx1"/>
                          </a:solidFill>
                          <a:effectLst/>
                          <a:latin typeface="+mn-lt"/>
                          <a:ea typeface="+mn-ea"/>
                          <a:cs typeface="+mn-cs"/>
                          <a:hlinkClick r:id="rId5"/>
                        </a:rPr>
                        <a:t>[16]. </a:t>
                      </a:r>
                      <a:r>
                        <a:rPr lang="en-US" sz="1500" kern="1200" dirty="0" smtClean="0">
                          <a:solidFill>
                            <a:schemeClr val="tx1"/>
                          </a:solidFill>
                          <a:effectLst/>
                          <a:latin typeface="+mn-lt"/>
                          <a:ea typeface="+mn-ea"/>
                          <a:cs typeface="+mn-cs"/>
                        </a:rPr>
                        <a:t>Zeb, M. S., et al. (2024).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Forecasting Public Transport Ridership During Disruptive Periods Using LSTM Models-Analyse and forecast public transport ridership using deep learning techniques.</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It</a:t>
                      </a:r>
                      <a:r>
                        <a:rPr lang="en-GB" sz="1600" baseline="0" dirty="0" smtClean="0"/>
                        <a:t> used </a:t>
                      </a:r>
                      <a:r>
                        <a:rPr lang="en-GB" sz="1600" dirty="0" smtClean="0"/>
                        <a:t>historical public transport ridership data and applied LSTM neural networks to capture temporal dependencies. The model performance was evaluated across pre-disruption, disruption, and recovery phases.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The LSTM model</a:t>
                      </a:r>
                      <a:r>
                        <a:rPr lang="en-GB" sz="1600" baseline="0" dirty="0" smtClean="0"/>
                        <a:t> </a:t>
                      </a:r>
                      <a:r>
                        <a:rPr lang="en-GB" sz="1600" dirty="0" smtClean="0"/>
                        <a:t>captured sharp declines and gradual recovery trends in ridership, outperforming traditional forecasting models during periods of high uncertainty. </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Importance of </a:t>
                      </a:r>
                      <a:r>
                        <a:rPr lang="en-GB" sz="1600" b="0" dirty="0" smtClean="0"/>
                        <a:t>time-based segmentation and temporal trends </a:t>
                      </a:r>
                      <a:r>
                        <a:rPr lang="en-GB" sz="1600" dirty="0" smtClean="0"/>
                        <a:t>in understanding passenger behaviour.</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1218908606"/>
                  </a:ext>
                </a:extLst>
              </a:tr>
            </a:tbl>
          </a:graphicData>
        </a:graphic>
      </p:graphicFrame>
      <p:sp>
        <p:nvSpPr>
          <p:cNvPr id="8"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33930256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11</a:t>
            </a:r>
            <a:endParaRPr sz="1400" dirty="0">
              <a:latin typeface="+mj-lt"/>
              <a:cs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1501539831"/>
              </p:ext>
            </p:extLst>
          </p:nvPr>
        </p:nvGraphicFramePr>
        <p:xfrm>
          <a:off x="553652" y="980012"/>
          <a:ext cx="11275101" cy="5578711"/>
        </p:xfrm>
        <a:graphic>
          <a:graphicData uri="http://schemas.openxmlformats.org/drawingml/2006/table">
            <a:tbl>
              <a:tblPr firstRow="1" firstCol="1" bandRow="1">
                <a:tableStyleId>{5940675A-B579-460E-94D1-54222C63F5DA}</a:tableStyleId>
              </a:tblPr>
              <a:tblGrid>
                <a:gridCol w="2087034">
                  <a:extLst>
                    <a:ext uri="{9D8B030D-6E8A-4147-A177-3AD203B41FA5}">
                      <a16:colId xmlns:a16="http://schemas.microsoft.com/office/drawing/2014/main" val="3629784145"/>
                    </a:ext>
                  </a:extLst>
                </a:gridCol>
                <a:gridCol w="2210520">
                  <a:extLst>
                    <a:ext uri="{9D8B030D-6E8A-4147-A177-3AD203B41FA5}">
                      <a16:colId xmlns:a16="http://schemas.microsoft.com/office/drawing/2014/main" val="1539078260"/>
                    </a:ext>
                  </a:extLst>
                </a:gridCol>
                <a:gridCol w="2576531">
                  <a:extLst>
                    <a:ext uri="{9D8B030D-6E8A-4147-A177-3AD203B41FA5}">
                      <a16:colId xmlns:a16="http://schemas.microsoft.com/office/drawing/2014/main" val="1973663002"/>
                    </a:ext>
                  </a:extLst>
                </a:gridCol>
                <a:gridCol w="2199395">
                  <a:extLst>
                    <a:ext uri="{9D8B030D-6E8A-4147-A177-3AD203B41FA5}">
                      <a16:colId xmlns:a16="http://schemas.microsoft.com/office/drawing/2014/main" val="81220232"/>
                    </a:ext>
                  </a:extLst>
                </a:gridCol>
                <a:gridCol w="2201621">
                  <a:extLst>
                    <a:ext uri="{9D8B030D-6E8A-4147-A177-3AD203B41FA5}">
                      <a16:colId xmlns:a16="http://schemas.microsoft.com/office/drawing/2014/main" val="3573202863"/>
                    </a:ext>
                  </a:extLst>
                </a:gridCol>
              </a:tblGrid>
              <a:tr h="945751">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56754656"/>
                  </a:ext>
                </a:extLst>
              </a:tr>
              <a:tr h="2160780">
                <a:tc>
                  <a:txBody>
                    <a:bodyPr/>
                    <a:lstStyle/>
                    <a:p>
                      <a:pPr>
                        <a:lnSpc>
                          <a:spcPct val="107000"/>
                        </a:lnSpc>
                        <a:spcAft>
                          <a:spcPts val="0"/>
                        </a:spcAft>
                      </a:pPr>
                      <a:r>
                        <a:rPr lang="en-US" sz="1500" kern="1200" dirty="0" smtClean="0">
                          <a:solidFill>
                            <a:schemeClr val="tx1"/>
                          </a:solidFill>
                          <a:effectLst/>
                          <a:latin typeface="+mn-lt"/>
                          <a:ea typeface="+mn-ea"/>
                          <a:cs typeface="+mn-cs"/>
                          <a:hlinkClick r:id="rId4"/>
                        </a:rPr>
                        <a:t>[17]. </a:t>
                      </a:r>
                      <a:r>
                        <a:rPr lang="en-US" sz="1500" kern="1200" dirty="0" err="1" smtClean="0">
                          <a:solidFill>
                            <a:schemeClr val="tx1"/>
                          </a:solidFill>
                          <a:effectLst/>
                          <a:latin typeface="+mn-lt"/>
                          <a:ea typeface="+mn-ea"/>
                          <a:cs typeface="+mn-cs"/>
                        </a:rPr>
                        <a:t>Akgüngör</a:t>
                      </a:r>
                      <a:r>
                        <a:rPr lang="en-US" sz="1500" kern="1200" dirty="0" smtClean="0">
                          <a:solidFill>
                            <a:schemeClr val="tx1"/>
                          </a:solidFill>
                          <a:effectLst/>
                          <a:latin typeface="+mn-lt"/>
                          <a:ea typeface="+mn-ea"/>
                          <a:cs typeface="+mn-cs"/>
                        </a:rPr>
                        <a:t>, A. P., et al. (2025).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Comparison of LSTM and NARX Models for Short-Term Passenger Flow Prediction-Compare</a:t>
                      </a:r>
                      <a:r>
                        <a:rPr lang="en-GB" sz="1600" i="0" baseline="0" dirty="0" smtClean="0"/>
                        <a:t> </a:t>
                      </a:r>
                      <a:r>
                        <a:rPr lang="en-GB" sz="1600" i="0" dirty="0" smtClean="0"/>
                        <a:t>deep learning and nonlinear autoregressive models in predicting short-term passenger flows.</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Applied LSTM and NARX to historical passenger flow data, incorporating temporal lags and trend features. Model accuracy was evaluated using standard error metrics to identify strengths and limitations of each approach.</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LSTM models captured nonlinear and peak-hour passenger flow patterns, while NARX models were effective for stable demand periods. </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b="0" dirty="0" smtClean="0"/>
                        <a:t>Passenger demand varies significantly across time periods,</a:t>
                      </a:r>
                      <a:r>
                        <a:rPr lang="en-GB" sz="1600" b="0" baseline="0" dirty="0" smtClean="0"/>
                        <a:t> validating </a:t>
                      </a:r>
                      <a:r>
                        <a:rPr lang="en-GB" sz="1600" dirty="0" smtClean="0"/>
                        <a:t>decision to structure analysis around departure times and defined time slots for crowd risk estimation and travel recommendations.</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1008732"/>
                  </a:ext>
                </a:extLst>
              </a:tr>
              <a:tr h="2119516">
                <a:tc>
                  <a:txBody>
                    <a:bodyPr/>
                    <a:lstStyle/>
                    <a:p>
                      <a:pPr>
                        <a:lnSpc>
                          <a:spcPct val="107000"/>
                        </a:lnSpc>
                        <a:spcAft>
                          <a:spcPts val="0"/>
                        </a:spcAft>
                      </a:pPr>
                      <a:r>
                        <a:rPr lang="en-US" sz="1500" kern="1200" dirty="0" smtClean="0">
                          <a:solidFill>
                            <a:schemeClr val="tx1"/>
                          </a:solidFill>
                          <a:effectLst/>
                          <a:latin typeface="+mn-lt"/>
                          <a:ea typeface="+mn-ea"/>
                          <a:cs typeface="+mn-cs"/>
                          <a:hlinkClick r:id="rId5"/>
                        </a:rPr>
                        <a:t>[18].</a:t>
                      </a:r>
                      <a:r>
                        <a:rPr lang="en-US" sz="1500" kern="1200" baseline="0" dirty="0" smtClean="0">
                          <a:solidFill>
                            <a:schemeClr val="tx1"/>
                          </a:solidFill>
                          <a:effectLst/>
                          <a:latin typeface="+mn-lt"/>
                          <a:ea typeface="+mn-ea"/>
                          <a:cs typeface="+mn-cs"/>
                          <a:hlinkClick r:id="rId5"/>
                        </a:rPr>
                        <a:t> </a:t>
                      </a:r>
                      <a:r>
                        <a:rPr lang="en-US" sz="1500" kern="1200" dirty="0" err="1" smtClean="0">
                          <a:solidFill>
                            <a:schemeClr val="tx1"/>
                          </a:solidFill>
                          <a:effectLst/>
                          <a:latin typeface="+mn-lt"/>
                          <a:ea typeface="+mn-ea"/>
                          <a:cs typeface="+mn-cs"/>
                        </a:rPr>
                        <a:t>Torrepadula</a:t>
                      </a:r>
                      <a:r>
                        <a:rPr lang="en-US" sz="1500" kern="1200" dirty="0" smtClean="0">
                          <a:solidFill>
                            <a:schemeClr val="tx1"/>
                          </a:solidFill>
                          <a:effectLst/>
                          <a:latin typeface="+mn-lt"/>
                          <a:ea typeface="+mn-ea"/>
                          <a:cs typeface="+mn-cs"/>
                        </a:rPr>
                        <a:t>, F. R. di., et al. (2024).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A Survey of Machine Learning Methods for Public Transport Demand Forecasting-Review and synthesise recent machine learning approaches.</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Conducted a structured literature review of ML-based demand forecasting studies, comparing traditional statistical methods with machine learning and deep learning models across different transport modes and data types.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ML</a:t>
                      </a:r>
                      <a:r>
                        <a:rPr lang="en-GB" sz="1600" baseline="0" dirty="0" smtClean="0"/>
                        <a:t> </a:t>
                      </a:r>
                      <a:r>
                        <a:rPr lang="en-GB" sz="1600" dirty="0" smtClean="0"/>
                        <a:t>models</a:t>
                      </a:r>
                      <a:r>
                        <a:rPr lang="en-GB" sz="1600" baseline="0" dirty="0" smtClean="0"/>
                        <a:t> </a:t>
                      </a:r>
                      <a:r>
                        <a:rPr lang="en-GB" sz="1600" dirty="0" smtClean="0"/>
                        <a:t>outperform classical approaches when sufficient structured data is available, for capturing non-linear temporal patterns. </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b="0" dirty="0" smtClean="0"/>
                        <a:t>Theoretical grounding </a:t>
                      </a:r>
                      <a:r>
                        <a:rPr lang="en-GB" sz="1600" dirty="0" smtClean="0"/>
                        <a:t>by showing that time-based and route-based features are widely used for demand estimation, supporting timetable-driven crowd estimation framework using secondary data.</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1218908606"/>
                  </a:ext>
                </a:extLst>
              </a:tr>
            </a:tbl>
          </a:graphicData>
        </a:graphic>
      </p:graphicFrame>
      <p:sp>
        <p:nvSpPr>
          <p:cNvPr id="8"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8872538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12</a:t>
            </a:r>
            <a:endParaRPr sz="1400" dirty="0">
              <a:latin typeface="+mj-lt"/>
              <a:cs typeface="Calibri"/>
            </a:endParaRPr>
          </a:p>
        </p:txBody>
      </p:sp>
      <p:graphicFrame>
        <p:nvGraphicFramePr>
          <p:cNvPr id="6" name="Table 5"/>
          <p:cNvGraphicFramePr>
            <a:graphicFrameLocks noGrp="1"/>
          </p:cNvGraphicFramePr>
          <p:nvPr>
            <p:extLst>
              <p:ext uri="{D42A27DB-BD31-4B8C-83A1-F6EECF244321}">
                <p14:modId xmlns:p14="http://schemas.microsoft.com/office/powerpoint/2010/main" val="4054621532"/>
              </p:ext>
            </p:extLst>
          </p:nvPr>
        </p:nvGraphicFramePr>
        <p:xfrm>
          <a:off x="553652" y="1004603"/>
          <a:ext cx="11275101" cy="5413561"/>
        </p:xfrm>
        <a:graphic>
          <a:graphicData uri="http://schemas.openxmlformats.org/drawingml/2006/table">
            <a:tbl>
              <a:tblPr firstRow="1" firstCol="1" bandRow="1">
                <a:tableStyleId>{5940675A-B579-460E-94D1-54222C63F5DA}</a:tableStyleId>
              </a:tblPr>
              <a:tblGrid>
                <a:gridCol w="2087034">
                  <a:extLst>
                    <a:ext uri="{9D8B030D-6E8A-4147-A177-3AD203B41FA5}">
                      <a16:colId xmlns:a16="http://schemas.microsoft.com/office/drawing/2014/main" val="3629784145"/>
                    </a:ext>
                  </a:extLst>
                </a:gridCol>
                <a:gridCol w="2210520">
                  <a:extLst>
                    <a:ext uri="{9D8B030D-6E8A-4147-A177-3AD203B41FA5}">
                      <a16:colId xmlns:a16="http://schemas.microsoft.com/office/drawing/2014/main" val="1539078260"/>
                    </a:ext>
                  </a:extLst>
                </a:gridCol>
                <a:gridCol w="2576531">
                  <a:extLst>
                    <a:ext uri="{9D8B030D-6E8A-4147-A177-3AD203B41FA5}">
                      <a16:colId xmlns:a16="http://schemas.microsoft.com/office/drawing/2014/main" val="1973663002"/>
                    </a:ext>
                  </a:extLst>
                </a:gridCol>
                <a:gridCol w="2199395">
                  <a:extLst>
                    <a:ext uri="{9D8B030D-6E8A-4147-A177-3AD203B41FA5}">
                      <a16:colId xmlns:a16="http://schemas.microsoft.com/office/drawing/2014/main" val="81220232"/>
                    </a:ext>
                  </a:extLst>
                </a:gridCol>
                <a:gridCol w="2201621">
                  <a:extLst>
                    <a:ext uri="{9D8B030D-6E8A-4147-A177-3AD203B41FA5}">
                      <a16:colId xmlns:a16="http://schemas.microsoft.com/office/drawing/2014/main" val="3573202863"/>
                    </a:ext>
                  </a:extLst>
                </a:gridCol>
              </a:tblGrid>
              <a:tr h="945751">
                <a:tc>
                  <a:txBody>
                    <a:bodyPr/>
                    <a:lstStyle/>
                    <a:p>
                      <a:pPr algn="ctr">
                        <a:lnSpc>
                          <a:spcPct val="107000"/>
                        </a:lnSpc>
                        <a:spcAft>
                          <a:spcPts val="0"/>
                        </a:spcAft>
                      </a:pPr>
                      <a:r>
                        <a:rPr lang="en-IN" sz="1800" b="1">
                          <a:effectLst/>
                        </a:rPr>
                        <a:t>Author &amp; Journal Details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Titles of Articles &amp; Objectives</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Methodology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Outcomes of the Study</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gn="ctr">
                        <a:lnSpc>
                          <a:spcPct val="107000"/>
                        </a:lnSpc>
                        <a:spcAft>
                          <a:spcPts val="0"/>
                        </a:spcAft>
                      </a:pPr>
                      <a:r>
                        <a:rPr lang="en-IN" sz="1800" b="1">
                          <a:effectLst/>
                        </a:rPr>
                        <a:t>Relevance of Article to work</a:t>
                      </a:r>
                      <a:endParaRPr lang="en-GB" sz="1050" b="1">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56754656"/>
                  </a:ext>
                </a:extLst>
              </a:tr>
              <a:tr h="2160780">
                <a:tc>
                  <a:txBody>
                    <a:bodyPr/>
                    <a:lstStyle/>
                    <a:p>
                      <a:pPr>
                        <a:lnSpc>
                          <a:spcPct val="107000"/>
                        </a:lnSpc>
                        <a:spcAft>
                          <a:spcPts val="0"/>
                        </a:spcAft>
                      </a:pPr>
                      <a:r>
                        <a:rPr lang="en-US" sz="1500" kern="1200" dirty="0" smtClean="0">
                          <a:solidFill>
                            <a:schemeClr val="tx1"/>
                          </a:solidFill>
                          <a:effectLst/>
                          <a:latin typeface="+mn-lt"/>
                          <a:ea typeface="+mn-ea"/>
                          <a:cs typeface="+mn-cs"/>
                          <a:hlinkClick r:id="rId4"/>
                        </a:rPr>
                        <a:t>[19]. </a:t>
                      </a:r>
                      <a:r>
                        <a:rPr lang="en-US" sz="1500" kern="1200" dirty="0" err="1" smtClean="0">
                          <a:solidFill>
                            <a:schemeClr val="tx1"/>
                          </a:solidFill>
                          <a:effectLst/>
                          <a:latin typeface="+mn-lt"/>
                          <a:ea typeface="+mn-ea"/>
                          <a:cs typeface="+mn-cs"/>
                        </a:rPr>
                        <a:t>Ke</a:t>
                      </a:r>
                      <a:r>
                        <a:rPr lang="en-US" sz="1500" kern="1200" dirty="0" smtClean="0">
                          <a:solidFill>
                            <a:schemeClr val="tx1"/>
                          </a:solidFill>
                          <a:effectLst/>
                          <a:latin typeface="+mn-lt"/>
                          <a:ea typeface="+mn-ea"/>
                          <a:cs typeface="+mn-cs"/>
                        </a:rPr>
                        <a:t>, L.,</a:t>
                      </a:r>
                      <a:r>
                        <a:rPr lang="en-US" sz="1500" kern="1200" baseline="0" dirty="0" smtClean="0">
                          <a:solidFill>
                            <a:schemeClr val="tx1"/>
                          </a:solidFill>
                          <a:effectLst/>
                          <a:latin typeface="+mn-lt"/>
                          <a:ea typeface="+mn-ea"/>
                          <a:cs typeface="+mn-cs"/>
                        </a:rPr>
                        <a:t> </a:t>
                      </a:r>
                      <a:r>
                        <a:rPr lang="en-US" sz="1500" kern="1200" dirty="0" smtClean="0">
                          <a:solidFill>
                            <a:schemeClr val="tx1"/>
                          </a:solidFill>
                          <a:effectLst/>
                          <a:latin typeface="+mn-lt"/>
                          <a:ea typeface="+mn-ea"/>
                          <a:cs typeface="+mn-cs"/>
                        </a:rPr>
                        <a:t>et</a:t>
                      </a:r>
                      <a:r>
                        <a:rPr lang="en-US" sz="1500" kern="1200" baseline="0" dirty="0" smtClean="0">
                          <a:solidFill>
                            <a:schemeClr val="tx1"/>
                          </a:solidFill>
                          <a:effectLst/>
                          <a:latin typeface="+mn-lt"/>
                          <a:ea typeface="+mn-ea"/>
                          <a:cs typeface="+mn-cs"/>
                        </a:rPr>
                        <a:t> al.</a:t>
                      </a:r>
                      <a:r>
                        <a:rPr lang="en-US" sz="1500" kern="1200" dirty="0" smtClean="0">
                          <a:solidFill>
                            <a:schemeClr val="tx1"/>
                          </a:solidFill>
                          <a:effectLst/>
                          <a:latin typeface="+mn-lt"/>
                          <a:ea typeface="+mn-ea"/>
                          <a:cs typeface="+mn-cs"/>
                        </a:rPr>
                        <a:t> (2025).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err="1" smtClean="0"/>
                        <a:t>UrbanBus</a:t>
                      </a:r>
                      <a:r>
                        <a:rPr lang="en-GB" sz="1600" i="0" dirty="0" smtClean="0"/>
                        <a:t>: A Fine-Grained Dataset for Bus Ridership Analysis and Forecasting-Introduce a large-scale, fine-grained dataset to support bus ridership analysis, forecasting, and pattern discovery.</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Compiled and processed millions of bus ridership records containing route, stop, and temporal attributes, and demonstrated how such data can be used for forecasting and analytical tasks.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Revealed strong daily and weekly ridership cycles, peak-hour congestion patterns, and route-specific demand variations, enabling more precise demand analysis.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Conceptually supports </a:t>
                      </a:r>
                      <a:r>
                        <a:rPr lang="en-GB" sz="1600" b="0" dirty="0" smtClean="0"/>
                        <a:t>time-slot-based crowd pattern analysis</a:t>
                      </a:r>
                      <a:r>
                        <a:rPr lang="en-GB" sz="1600" dirty="0" smtClean="0"/>
                        <a:t>, showing that structured temporal information alone can reveal meaningful crowd trends.</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61008732"/>
                  </a:ext>
                </a:extLst>
              </a:tr>
              <a:tr h="2119516">
                <a:tc>
                  <a:txBody>
                    <a:bodyPr/>
                    <a:lstStyle/>
                    <a:p>
                      <a:pPr>
                        <a:lnSpc>
                          <a:spcPct val="107000"/>
                        </a:lnSpc>
                        <a:spcAft>
                          <a:spcPts val="0"/>
                        </a:spcAft>
                      </a:pPr>
                      <a:r>
                        <a:rPr lang="en-US" sz="1500" kern="1200" dirty="0" smtClean="0">
                          <a:solidFill>
                            <a:schemeClr val="tx1"/>
                          </a:solidFill>
                          <a:effectLst/>
                          <a:latin typeface="+mn-lt"/>
                          <a:ea typeface="+mn-ea"/>
                          <a:cs typeface="+mn-cs"/>
                          <a:hlinkClick r:id="rId5"/>
                        </a:rPr>
                        <a:t>[20].</a:t>
                      </a:r>
                      <a:r>
                        <a:rPr lang="en-US" sz="1500" kern="1200" baseline="0" dirty="0" smtClean="0">
                          <a:solidFill>
                            <a:schemeClr val="tx1"/>
                          </a:solidFill>
                          <a:effectLst/>
                          <a:latin typeface="+mn-lt"/>
                          <a:ea typeface="+mn-ea"/>
                          <a:cs typeface="+mn-cs"/>
                          <a:hlinkClick r:id="rId5"/>
                        </a:rPr>
                        <a:t> </a:t>
                      </a:r>
                      <a:r>
                        <a:rPr lang="en-US" sz="1500" kern="1200" dirty="0" smtClean="0">
                          <a:solidFill>
                            <a:schemeClr val="tx1"/>
                          </a:solidFill>
                          <a:effectLst/>
                          <a:latin typeface="+mn-lt"/>
                          <a:ea typeface="+mn-ea"/>
                          <a:cs typeface="+mn-cs"/>
                        </a:rPr>
                        <a:t>Yamamura, T., et al. (2023). </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pPr>
                        <a:lnSpc>
                          <a:spcPct val="107000"/>
                        </a:lnSpc>
                        <a:spcAft>
                          <a:spcPts val="0"/>
                        </a:spcAft>
                      </a:pPr>
                      <a:r>
                        <a:rPr lang="en-GB" sz="1600" i="0" dirty="0" smtClean="0"/>
                        <a:t>Bus Ridership Prediction Using Multiple LSTM Models with Trend Features-Improve bus ridership forecasting accuracy by combining</a:t>
                      </a:r>
                      <a:r>
                        <a:rPr lang="en-GB" sz="1600" i="0" baseline="0" dirty="0" smtClean="0"/>
                        <a:t> </a:t>
                      </a:r>
                      <a:r>
                        <a:rPr lang="en-GB" sz="1600" i="0" dirty="0" smtClean="0"/>
                        <a:t>LSTM models with trend and seasonality features.</a:t>
                      </a:r>
                      <a:endParaRPr lang="en-GB" sz="1500" i="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tc>
                  <a:txBody>
                    <a:bodyPr/>
                    <a:lstStyle/>
                    <a:p>
                      <a:r>
                        <a:rPr lang="en-GB" sz="1600" dirty="0" smtClean="0"/>
                        <a:t>Applied</a:t>
                      </a:r>
                      <a:r>
                        <a:rPr lang="en-GB" sz="1600" baseline="0" dirty="0" smtClean="0"/>
                        <a:t> </a:t>
                      </a:r>
                      <a:r>
                        <a:rPr lang="en-GB" sz="1600" dirty="0" smtClean="0"/>
                        <a:t>Long Short-Term Memory (LSTM) models to historical bus ridership time-series data, incorporating trend and seasonal decomposition to enhance prediction stability.</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Improved prediction accuracy over single-model baselines and effectively captured peak and off-peak ridership variations.</a:t>
                      </a:r>
                      <a:endParaRPr lang="en-GB" sz="1500" dirty="0">
                        <a:effectLst/>
                        <a:latin typeface="Calibri" panose="020F0502020204030204" pitchFamily="34" charset="0"/>
                        <a:ea typeface="Times New Roman" panose="02020603050405020304" pitchFamily="18" charset="0"/>
                        <a:cs typeface="Arial" panose="020B0604020202020204" pitchFamily="34" charset="0"/>
                      </a:endParaRPr>
                    </a:p>
                  </a:txBody>
                  <a:tcPr marL="61334" marR="61334" marT="0" marB="0"/>
                </a:tc>
                <a:tc>
                  <a:txBody>
                    <a:bodyPr/>
                    <a:lstStyle/>
                    <a:p>
                      <a:r>
                        <a:rPr lang="en-GB" sz="1600" dirty="0" smtClean="0"/>
                        <a:t>Importance of </a:t>
                      </a:r>
                      <a:r>
                        <a:rPr lang="en-GB" sz="1600" b="0" i="0" dirty="0" smtClean="0"/>
                        <a:t>temporal segmentation and trend-aware analysis</a:t>
                      </a:r>
                      <a:r>
                        <a:rPr lang="en-GB" sz="1600" dirty="0" smtClean="0"/>
                        <a:t>, aligning with use of defined time slots to estimate relative crowd levels and recommend suitable travel timings.</a:t>
                      </a:r>
                      <a:endParaRPr lang="en-GB" sz="1500" dirty="0">
                        <a:effectLst/>
                        <a:latin typeface="Calibri" panose="020F0502020204030204" pitchFamily="34" charset="0"/>
                        <a:ea typeface="Calibri" panose="020F0502020204030204" pitchFamily="34" charset="0"/>
                        <a:cs typeface="Arial" panose="020B0604020202020204" pitchFamily="34" charset="0"/>
                      </a:endParaRPr>
                    </a:p>
                  </a:txBody>
                  <a:tcPr marL="61334" marR="61334" marT="0" marB="0"/>
                </a:tc>
                <a:extLst>
                  <a:ext uri="{0D108BD9-81ED-4DB2-BD59-A6C34878D82A}">
                    <a16:rowId xmlns:a16="http://schemas.microsoft.com/office/drawing/2014/main" val="1218908606"/>
                  </a:ext>
                </a:extLst>
              </a:tr>
            </a:tbl>
          </a:graphicData>
        </a:graphic>
      </p:graphicFrame>
      <p:sp>
        <p:nvSpPr>
          <p:cNvPr id="8"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Literature Survey</a:t>
            </a:r>
            <a:endParaRPr lang="en-IN" sz="3200" b="1" spc="-10" dirty="0">
              <a:latin typeface="+mn-lt"/>
            </a:endParaRPr>
          </a:p>
        </p:txBody>
      </p:sp>
    </p:spTree>
    <p:extLst>
      <p:ext uri="{BB962C8B-B14F-4D97-AF65-F5344CB8AC3E}">
        <p14:creationId xmlns:p14="http://schemas.microsoft.com/office/powerpoint/2010/main" val="36371793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Problem Statement</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1"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13</a:t>
            </a:r>
            <a:endParaRPr sz="1400" dirty="0">
              <a:latin typeface="+mj-lt"/>
              <a:cs typeface="Calibri"/>
            </a:endParaRPr>
          </a:p>
        </p:txBody>
      </p:sp>
      <p:sp>
        <p:nvSpPr>
          <p:cNvPr id="7" name="Rectangle 2"/>
          <p:cNvSpPr>
            <a:spLocks noChangeArrowheads="1"/>
          </p:cNvSpPr>
          <p:nvPr/>
        </p:nvSpPr>
        <p:spPr bwMode="auto">
          <a:xfrm>
            <a:off x="238759" y="996940"/>
            <a:ext cx="1182875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GB" sz="2800" dirty="0"/>
              <a:t>People using KSRTC buses depend on schedules to plan their journey. Though these give clear information about the route and the timings, they do not give the safest time periods or the crowd levels. As a result, people have to struggle with peak-hour congestion and crowded travel times. </a:t>
            </a:r>
            <a:endParaRPr lang="en-GB" sz="2800" dirty="0" smtClean="0"/>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dirty="0"/>
              <a:t>Simultaneously, detailed passenger count data, real-time systems etc. are not publicly available, creating a gap between the required information for travel planning and the data accessible for analysis. </a:t>
            </a:r>
            <a:endParaRPr lang="en-GB" sz="2800" dirty="0" smtClean="0"/>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dirty="0" smtClean="0"/>
              <a:t>There </a:t>
            </a:r>
            <a:r>
              <a:rPr lang="en-GB" sz="2800" dirty="0"/>
              <a:t>is a need for an approach where publicly available timetable data can be used to estimate the crowd levels and support time-based travel recommendations for KSRTC bus services in Mangalore.  </a:t>
            </a:r>
          </a:p>
        </p:txBody>
      </p:sp>
      <p:sp>
        <p:nvSpPr>
          <p:cNvPr id="13"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7260536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1134374" y="254534"/>
            <a:ext cx="12963127"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Social Relevance and Uniqueness of the Work</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5" name="Rectangle 4"/>
          <p:cNvSpPr/>
          <p:nvPr/>
        </p:nvSpPr>
        <p:spPr>
          <a:xfrm>
            <a:off x="281912" y="1103792"/>
            <a:ext cx="11546841" cy="5262979"/>
          </a:xfrm>
          <a:prstGeom prst="rect">
            <a:avLst/>
          </a:prstGeom>
        </p:spPr>
        <p:txBody>
          <a:bodyPr wrap="square">
            <a:spAutoFit/>
          </a:bodyPr>
          <a:lstStyle/>
          <a:p>
            <a:pPr marL="342900" indent="-342900">
              <a:buFont typeface="Arial" panose="020B0604020202020204" pitchFamily="34" charset="0"/>
              <a:buChar char="•"/>
            </a:pPr>
            <a:r>
              <a:rPr lang="en-GB" sz="2400" dirty="0"/>
              <a:t>Public transport plays an important role in improving mobility, reducing traffic congestion, and ensuring access to daily services. However, overcrowding in buses often lead to discomfort and safety concerns. </a:t>
            </a:r>
            <a:endParaRPr lang="en-GB" sz="2400" dirty="0" smtClean="0"/>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smtClean="0"/>
              <a:t>This </a:t>
            </a:r>
            <a:r>
              <a:rPr lang="en-GB" sz="2400" dirty="0"/>
              <a:t>research is socially relevant as it focuses on understanding and predicting bus passenger patterns using data-driven approaches, which can support better planning, improved service quality, and enhanced commuter experience</a:t>
            </a:r>
            <a:r>
              <a:rPr lang="en-GB" sz="2400" dirty="0" smtClean="0"/>
              <a:t>.</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The uniqueness of this work lies in its timetable-driven and population-aware approach to understand crowd patterns. This research uses secondary data, making it low-cost, transparent, and suitable. By linking scheduled bus timings with district-level population and urbanisation indicators, the study provides a practical framework that can be easily adopted by transport authorities, researchers, and media platforms without privacy or operational concerns.</a:t>
            </a:r>
          </a:p>
        </p:txBody>
      </p:sp>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1"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14</a:t>
            </a:r>
            <a:endParaRPr sz="1400" dirty="0">
              <a:latin typeface="+mj-lt"/>
              <a:cs typeface="Calibri"/>
            </a:endParaRPr>
          </a:p>
        </p:txBody>
      </p:sp>
      <p:sp>
        <p:nvSpPr>
          <p:cNvPr id="12"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1141971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238759"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Aim, Objective and Hypothesis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1"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15</a:t>
            </a:r>
            <a:endParaRPr sz="1400" dirty="0">
              <a:latin typeface="+mj-lt"/>
              <a:cs typeface="Calibri"/>
            </a:endParaRPr>
          </a:p>
        </p:txBody>
      </p:sp>
      <p:sp>
        <p:nvSpPr>
          <p:cNvPr id="7" name="Rectangle 2"/>
          <p:cNvSpPr>
            <a:spLocks noChangeArrowheads="1"/>
          </p:cNvSpPr>
          <p:nvPr/>
        </p:nvSpPr>
        <p:spPr bwMode="auto">
          <a:xfrm>
            <a:off x="363247" y="1394525"/>
            <a:ext cx="11828753"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smtClean="0"/>
              <a:t>Aim</a:t>
            </a:r>
          </a:p>
          <a:p>
            <a:r>
              <a:rPr lang="en-GB" sz="2000" dirty="0"/>
              <a:t>To analyse KSRTC Mangalore bus timetables to estimate route-wise crowd levels and recommend optimal travel time slots for passengers, enabling them to avoid peak-hour congestion and make informed travel decisions.</a:t>
            </a:r>
          </a:p>
          <a:p>
            <a:endParaRPr lang="en-IN" sz="2000" dirty="0" smtClean="0"/>
          </a:p>
          <a:p>
            <a:r>
              <a:rPr lang="en-IN" sz="2000" dirty="0" smtClean="0"/>
              <a:t>Objective</a:t>
            </a:r>
          </a:p>
          <a:p>
            <a:r>
              <a:rPr lang="en-GB" sz="2000" dirty="0"/>
              <a:t>a) To structure KSRTC Mangalore bus timetable data in Microsoft Excel, taking origin, destination, service type, via place, and departure times.</a:t>
            </a:r>
          </a:p>
          <a:p>
            <a:r>
              <a:rPr lang="en-GB" sz="2000" dirty="0"/>
              <a:t>b) To classify departure times into predefined time slots and integrate district-level population and urbanisation indicators to estimate relative crowd levels.</a:t>
            </a:r>
          </a:p>
          <a:p>
            <a:r>
              <a:rPr lang="en-GB" sz="2000" dirty="0"/>
              <a:t>c) To develop a framework to assign overcrowding risk levels to different routes and time slots based on structured secondary data.</a:t>
            </a:r>
          </a:p>
          <a:p>
            <a:r>
              <a:rPr lang="en-GB" sz="2000" dirty="0"/>
              <a:t>d) To create a Tableau-based dashboard to visualise estimated crowd levels and recommend less congested travel time slots for passengers.</a:t>
            </a:r>
          </a:p>
          <a:p>
            <a:r>
              <a:rPr lang="en-GB" sz="2000" dirty="0"/>
              <a:t>e) To provide insights that are practical, transparent, and reproducible using publicly available data without depending on real-time measurements or sensitive operational information.</a:t>
            </a:r>
          </a:p>
          <a:p>
            <a:endParaRPr lang="en-GB" sz="2800" dirty="0"/>
          </a:p>
        </p:txBody>
      </p:sp>
      <p:sp>
        <p:nvSpPr>
          <p:cNvPr id="13"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40363779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2"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4"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16</a:t>
            </a:r>
            <a:endParaRPr sz="1400" dirty="0">
              <a:latin typeface="+mj-lt"/>
              <a:cs typeface="Calibri"/>
            </a:endParaRPr>
          </a:p>
        </p:txBody>
      </p:sp>
      <p:sp>
        <p:nvSpPr>
          <p:cNvPr id="15" name="Rectangle 14"/>
          <p:cNvSpPr/>
          <p:nvPr/>
        </p:nvSpPr>
        <p:spPr>
          <a:xfrm>
            <a:off x="423860" y="1355334"/>
            <a:ext cx="11417936" cy="3970318"/>
          </a:xfrm>
          <a:prstGeom prst="rect">
            <a:avLst/>
          </a:prstGeom>
        </p:spPr>
        <p:txBody>
          <a:bodyPr wrap="square">
            <a:spAutoFit/>
          </a:bodyPr>
          <a:lstStyle/>
          <a:p>
            <a:r>
              <a:rPr lang="en-GB" sz="2800" dirty="0" smtClean="0"/>
              <a:t>Hypothesis</a:t>
            </a:r>
          </a:p>
          <a:p>
            <a:endParaRPr lang="en-GB" sz="2800" dirty="0"/>
          </a:p>
          <a:p>
            <a:r>
              <a:rPr lang="en-GB" sz="2800" dirty="0"/>
              <a:t>H₀ (Null Hypothesis): There is no significant variation in crowd levels across different KSRTC bus routes and time slots in Mangalore</a:t>
            </a:r>
            <a:r>
              <a:rPr lang="en-GB" sz="2800" dirty="0" smtClean="0"/>
              <a:t>.</a:t>
            </a:r>
          </a:p>
          <a:p>
            <a:endParaRPr lang="en-GB" sz="2800" dirty="0"/>
          </a:p>
          <a:p>
            <a:r>
              <a:rPr lang="en-GB" sz="2800" dirty="0"/>
              <a:t>H₁ (Alternative Hypothesis): Crowd levels vary across different bus routes and time slots, and structured timetable data combined with population and urbanisation indicators can identify comparatively less crowded travel periods.</a:t>
            </a:r>
            <a:endParaRPr lang="en-GB" sz="2800" dirty="0" smtClean="0"/>
          </a:p>
        </p:txBody>
      </p:sp>
      <p:sp>
        <p:nvSpPr>
          <p:cNvPr id="9"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238759"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Aim, Objective and Hypothesis</a:t>
            </a:r>
            <a:endParaRPr lang="en-IN" sz="3200" b="1" spc="-10" dirty="0">
              <a:latin typeface="+mn-lt"/>
            </a:endParaRPr>
          </a:p>
        </p:txBody>
      </p:sp>
    </p:spTree>
    <p:extLst>
      <p:ext uri="{BB962C8B-B14F-4D97-AF65-F5344CB8AC3E}">
        <p14:creationId xmlns:p14="http://schemas.microsoft.com/office/powerpoint/2010/main" val="21542004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2"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4"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17</a:t>
            </a:r>
            <a:endParaRPr sz="1400" dirty="0">
              <a:latin typeface="+mj-lt"/>
              <a:cs typeface="Calibri"/>
            </a:endParaRPr>
          </a:p>
        </p:txBody>
      </p:sp>
      <p:sp>
        <p:nvSpPr>
          <p:cNvPr id="15" name="Rectangle 14"/>
          <p:cNvSpPr/>
          <p:nvPr/>
        </p:nvSpPr>
        <p:spPr>
          <a:xfrm>
            <a:off x="529877" y="1739647"/>
            <a:ext cx="11417936" cy="2677656"/>
          </a:xfrm>
          <a:prstGeom prst="rect">
            <a:avLst/>
          </a:prstGeom>
        </p:spPr>
        <p:txBody>
          <a:bodyPr wrap="square">
            <a:spAutoFit/>
          </a:bodyPr>
          <a:lstStyle/>
          <a:p>
            <a:r>
              <a:rPr lang="en-IN" sz="2800" dirty="0" smtClean="0"/>
              <a:t>Sample Size</a:t>
            </a:r>
            <a:endParaRPr lang="en-GB" sz="2800" dirty="0" smtClean="0"/>
          </a:p>
          <a:p>
            <a:endParaRPr lang="en-GB" sz="2800" dirty="0"/>
          </a:p>
          <a:p>
            <a:r>
              <a:rPr lang="en-GB" sz="2800" dirty="0"/>
              <a:t>The research considers </a:t>
            </a:r>
            <a:r>
              <a:rPr lang="en-GB" sz="2800" b="1" dirty="0"/>
              <a:t>all KSRTC Mangalore bus routes</a:t>
            </a:r>
            <a:r>
              <a:rPr lang="en-GB" sz="2800" dirty="0"/>
              <a:t> listed in the official timetable, including both intra city, inter-state and inter-district services. Since the study uses </a:t>
            </a:r>
            <a:r>
              <a:rPr lang="en-GB" sz="2800" b="1" dirty="0"/>
              <a:t>secondary data only</a:t>
            </a:r>
            <a:r>
              <a:rPr lang="en-GB" sz="2800" dirty="0"/>
              <a:t>, every available route in the timetable is treated as part of the sample.</a:t>
            </a:r>
          </a:p>
        </p:txBody>
      </p:sp>
      <p:sp>
        <p:nvSpPr>
          <p:cNvPr id="9"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Methodology</a:t>
            </a:r>
            <a:endParaRPr lang="en-IN" sz="3200" b="1" spc="-10" dirty="0">
              <a:latin typeface="+mn-lt"/>
            </a:endParaRPr>
          </a:p>
        </p:txBody>
      </p:sp>
    </p:spTree>
    <p:extLst>
      <p:ext uri="{BB962C8B-B14F-4D97-AF65-F5344CB8AC3E}">
        <p14:creationId xmlns:p14="http://schemas.microsoft.com/office/powerpoint/2010/main" val="42499662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2"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4"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18</a:t>
            </a:r>
            <a:endParaRPr sz="1400" dirty="0">
              <a:latin typeface="+mj-lt"/>
              <a:cs typeface="Calibri"/>
            </a:endParaRPr>
          </a:p>
        </p:txBody>
      </p:sp>
      <p:sp>
        <p:nvSpPr>
          <p:cNvPr id="15" name="Rectangle 14"/>
          <p:cNvSpPr/>
          <p:nvPr/>
        </p:nvSpPr>
        <p:spPr>
          <a:xfrm>
            <a:off x="556382" y="1010775"/>
            <a:ext cx="11417936" cy="5262979"/>
          </a:xfrm>
          <a:prstGeom prst="rect">
            <a:avLst/>
          </a:prstGeom>
        </p:spPr>
        <p:txBody>
          <a:bodyPr wrap="square">
            <a:spAutoFit/>
          </a:bodyPr>
          <a:lstStyle/>
          <a:p>
            <a:r>
              <a:rPr lang="en-GB" sz="2800" dirty="0" smtClean="0"/>
              <a:t>Procedure </a:t>
            </a:r>
            <a:r>
              <a:rPr lang="en-GB" sz="2800" dirty="0"/>
              <a:t>for data </a:t>
            </a:r>
            <a:r>
              <a:rPr lang="en-GB" sz="2800" dirty="0" smtClean="0"/>
              <a:t>collection</a:t>
            </a:r>
          </a:p>
          <a:p>
            <a:endParaRPr lang="en-GB" sz="2800" dirty="0"/>
          </a:p>
          <a:p>
            <a:r>
              <a:rPr lang="en-GB" sz="2800" dirty="0"/>
              <a:t>a) KSRTC Mangalore bus timetables will be collected from </a:t>
            </a:r>
            <a:r>
              <a:rPr lang="en-GB" sz="2800" b="1" dirty="0"/>
              <a:t>official sources</a:t>
            </a:r>
            <a:r>
              <a:rPr lang="en-GB" sz="2800" dirty="0"/>
              <a:t>, including bus stand notice boards, KSRTC website, and publicly available PDF schedules.</a:t>
            </a:r>
          </a:p>
          <a:p>
            <a:r>
              <a:rPr lang="en-GB" sz="2800" dirty="0"/>
              <a:t>b) Timetable data will be </a:t>
            </a:r>
            <a:r>
              <a:rPr lang="en-GB" sz="2800" b="1" dirty="0"/>
              <a:t>structured in Microsoft Excel</a:t>
            </a:r>
            <a:r>
              <a:rPr lang="en-GB" sz="2800" dirty="0"/>
              <a:t>, capturing the following fields: From, To, Service Type, Via Place, Departure Time.</a:t>
            </a:r>
          </a:p>
          <a:p>
            <a:r>
              <a:rPr lang="en-GB" sz="2800" dirty="0"/>
              <a:t>c) Departure times will be grouped into </a:t>
            </a:r>
            <a:r>
              <a:rPr lang="en-GB" sz="2800" b="1" dirty="0"/>
              <a:t>predefined time slots</a:t>
            </a:r>
            <a:r>
              <a:rPr lang="en-GB" sz="2800" dirty="0"/>
              <a:t> to reflect different periods of daily travel demand in 24-hour format.</a:t>
            </a:r>
          </a:p>
          <a:p>
            <a:r>
              <a:rPr lang="en-GB" sz="2800" dirty="0"/>
              <a:t>d) District-level </a:t>
            </a:r>
            <a:r>
              <a:rPr lang="en-GB" sz="2800" b="1" dirty="0"/>
              <a:t>population data (in millions) and urbanisation levels</a:t>
            </a:r>
            <a:r>
              <a:rPr lang="en-GB" sz="2800" dirty="0"/>
              <a:t> will be incorporated from official government statistics and mapped to routes based on service coverage.</a:t>
            </a:r>
          </a:p>
        </p:txBody>
      </p:sp>
      <p:sp>
        <p:nvSpPr>
          <p:cNvPr id="9"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Methodology</a:t>
            </a:r>
            <a:endParaRPr lang="en-IN" sz="3200" b="1" spc="-10" dirty="0">
              <a:latin typeface="+mn-lt"/>
            </a:endParaRPr>
          </a:p>
        </p:txBody>
      </p:sp>
    </p:spTree>
    <p:extLst>
      <p:ext uri="{BB962C8B-B14F-4D97-AF65-F5344CB8AC3E}">
        <p14:creationId xmlns:p14="http://schemas.microsoft.com/office/powerpoint/2010/main" val="41599825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2"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4"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19</a:t>
            </a:r>
            <a:endParaRPr sz="1400" dirty="0">
              <a:latin typeface="+mj-lt"/>
              <a:cs typeface="Calibri"/>
            </a:endParaRPr>
          </a:p>
        </p:txBody>
      </p:sp>
      <p:sp>
        <p:nvSpPr>
          <p:cNvPr id="15" name="Rectangle 14"/>
          <p:cNvSpPr/>
          <p:nvPr/>
        </p:nvSpPr>
        <p:spPr>
          <a:xfrm>
            <a:off x="556382" y="870898"/>
            <a:ext cx="11417936" cy="5632311"/>
          </a:xfrm>
          <a:prstGeom prst="rect">
            <a:avLst/>
          </a:prstGeom>
        </p:spPr>
        <p:txBody>
          <a:bodyPr wrap="square">
            <a:spAutoFit/>
          </a:bodyPr>
          <a:lstStyle/>
          <a:p>
            <a:r>
              <a:rPr lang="en-GB" sz="2400" dirty="0" smtClean="0"/>
              <a:t>Sources </a:t>
            </a:r>
            <a:r>
              <a:rPr lang="en-GB" sz="2400" dirty="0"/>
              <a:t>and </a:t>
            </a:r>
            <a:r>
              <a:rPr lang="en-GB" sz="2400" dirty="0" smtClean="0"/>
              <a:t>Tools</a:t>
            </a:r>
          </a:p>
          <a:p>
            <a:endParaRPr lang="en-GB" sz="2400" dirty="0"/>
          </a:p>
          <a:p>
            <a:r>
              <a:rPr lang="en-GB" sz="2400" dirty="0"/>
              <a:t>Primary </a:t>
            </a:r>
            <a:r>
              <a:rPr lang="en-GB" sz="2400" dirty="0" smtClean="0"/>
              <a:t>Data: </a:t>
            </a:r>
            <a:r>
              <a:rPr lang="en-GB" sz="2400" dirty="0"/>
              <a:t>Not applicable (no field observations or real-time measurements</a:t>
            </a:r>
            <a:r>
              <a:rPr lang="en-GB" sz="2400" dirty="0" smtClean="0"/>
              <a:t>).</a:t>
            </a:r>
          </a:p>
          <a:p>
            <a:endParaRPr lang="en-GB" sz="2400" dirty="0"/>
          </a:p>
          <a:p>
            <a:r>
              <a:rPr lang="en-GB" sz="2400" dirty="0"/>
              <a:t>Secondary </a:t>
            </a:r>
            <a:r>
              <a:rPr lang="en-GB" sz="2400" dirty="0" smtClean="0"/>
              <a:t>Data:</a:t>
            </a:r>
            <a:endParaRPr lang="en-GB" sz="2400" dirty="0"/>
          </a:p>
          <a:p>
            <a:r>
              <a:rPr lang="en-GB" sz="2400" dirty="0"/>
              <a:t>a) KSRTC Mangalore official timetables (bus stand notices, PDF schedules, or website)</a:t>
            </a:r>
          </a:p>
          <a:p>
            <a:r>
              <a:rPr lang="en-GB" sz="2400" dirty="0"/>
              <a:t>b) Government census and urbanisation data for population indicators</a:t>
            </a:r>
            <a:r>
              <a:rPr lang="en-GB" sz="2400" dirty="0" smtClean="0"/>
              <a:t>.</a:t>
            </a:r>
          </a:p>
          <a:p>
            <a:endParaRPr lang="en-GB" sz="2400" dirty="0"/>
          </a:p>
          <a:p>
            <a:r>
              <a:rPr lang="en-GB" sz="2400" b="1" dirty="0"/>
              <a:t>Microsoft Excel:</a:t>
            </a:r>
            <a:r>
              <a:rPr lang="en-GB" sz="2400" dirty="0"/>
              <a:t> For structuring data, categorisation, and initial calculations</a:t>
            </a:r>
            <a:r>
              <a:rPr lang="en-GB" sz="2400" dirty="0" smtClean="0"/>
              <a:t>.</a:t>
            </a:r>
          </a:p>
          <a:p>
            <a:endParaRPr lang="en-GB" sz="2400" dirty="0"/>
          </a:p>
          <a:p>
            <a:r>
              <a:rPr lang="en-GB" sz="2400" b="1" dirty="0"/>
              <a:t>Python (Pandas, </a:t>
            </a:r>
            <a:r>
              <a:rPr lang="en-GB" sz="2400" b="1" dirty="0" err="1"/>
              <a:t>NumPy</a:t>
            </a:r>
            <a:r>
              <a:rPr lang="en-GB" sz="2400" b="1" dirty="0"/>
              <a:t>, optionally </a:t>
            </a:r>
            <a:r>
              <a:rPr lang="en-GB" sz="2400" b="1" dirty="0" err="1"/>
              <a:t>scikit</a:t>
            </a:r>
            <a:r>
              <a:rPr lang="en-GB" sz="2400" b="1" dirty="0"/>
              <a:t>-learn):</a:t>
            </a:r>
            <a:r>
              <a:rPr lang="en-GB" sz="2400" dirty="0"/>
              <a:t> For data cleaning, feature engineering, and classification of crowd risk levels</a:t>
            </a:r>
            <a:r>
              <a:rPr lang="en-GB" sz="2400" dirty="0" smtClean="0"/>
              <a:t>.</a:t>
            </a:r>
          </a:p>
          <a:p>
            <a:endParaRPr lang="en-GB" sz="2400" dirty="0"/>
          </a:p>
          <a:p>
            <a:r>
              <a:rPr lang="en-GB" sz="2400" b="1" dirty="0"/>
              <a:t>Tableau:</a:t>
            </a:r>
            <a:r>
              <a:rPr lang="en-GB" sz="2400" dirty="0"/>
              <a:t> For creating an interactive dashboard that visualises route-wise crowd levels and recommends suitable travel time slots.</a:t>
            </a:r>
          </a:p>
        </p:txBody>
      </p:sp>
      <p:sp>
        <p:nvSpPr>
          <p:cNvPr id="9"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Methodology</a:t>
            </a:r>
            <a:endParaRPr lang="en-IN" sz="3200" b="1" spc="-10" dirty="0">
              <a:latin typeface="+mn-lt"/>
            </a:endParaRPr>
          </a:p>
        </p:txBody>
      </p:sp>
    </p:spTree>
    <p:extLst>
      <p:ext uri="{BB962C8B-B14F-4D97-AF65-F5344CB8AC3E}">
        <p14:creationId xmlns:p14="http://schemas.microsoft.com/office/powerpoint/2010/main" val="10105160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33933"/>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References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8"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0"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20</a:t>
            </a:r>
            <a:endParaRPr sz="1400" dirty="0">
              <a:latin typeface="+mj-lt"/>
              <a:cs typeface="Calibri"/>
            </a:endParaRPr>
          </a:p>
        </p:txBody>
      </p:sp>
      <p:sp>
        <p:nvSpPr>
          <p:cNvPr id="11"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2" name="Rectangle 11"/>
          <p:cNvSpPr/>
          <p:nvPr/>
        </p:nvSpPr>
        <p:spPr>
          <a:xfrm>
            <a:off x="357433" y="1127456"/>
            <a:ext cx="11834567" cy="5756512"/>
          </a:xfrm>
          <a:prstGeom prst="rect">
            <a:avLst/>
          </a:prstGeom>
        </p:spPr>
        <p:txBody>
          <a:bodyPr wrap="square">
            <a:spAutoFit/>
          </a:bodyPr>
          <a:lstStyle/>
          <a:p>
            <a:pPr>
              <a:lnSpc>
                <a:spcPct val="107000"/>
              </a:lnSpc>
            </a:pPr>
            <a:r>
              <a:rPr lang="en-IN" sz="2400" dirty="0" smtClean="0"/>
              <a:t>[1]. Basha</a:t>
            </a:r>
            <a:r>
              <a:rPr lang="en-IN" sz="2400" dirty="0"/>
              <a:t>, SK., </a:t>
            </a:r>
            <a:r>
              <a:rPr lang="en-IN" sz="2400" dirty="0" smtClean="0"/>
              <a:t>et al. (2025)</a:t>
            </a:r>
            <a:r>
              <a:rPr lang="en-GB" sz="2400" dirty="0" smtClean="0">
                <a:latin typeface="Calibri" panose="020F0502020204030204" pitchFamily="34" charset="0"/>
                <a:ea typeface="Calibri" panose="020F0502020204030204" pitchFamily="34" charset="0"/>
                <a:cs typeface="Arial" panose="020B0604020202020204" pitchFamily="34" charset="0"/>
              </a:rPr>
              <a:t>. </a:t>
            </a:r>
            <a:r>
              <a:rPr lang="en-GB" sz="2400" dirty="0"/>
              <a:t>AI-Driven Bus Boarding Demand Prediction for Real-Time Public Transport Optimization</a:t>
            </a:r>
            <a:r>
              <a:rPr lang="en-IN" sz="2400" dirty="0" smtClean="0"/>
              <a:t>. </a:t>
            </a:r>
            <a:r>
              <a:rPr lang="en-IN" sz="2400" dirty="0" smtClean="0">
                <a:hlinkClick r:id="rId4"/>
              </a:rPr>
              <a:t>https://doi.org/10.62643/ijerst.v21.n3(1).pp1405-1414</a:t>
            </a:r>
            <a:r>
              <a:rPr lang="en-IN" sz="2400" dirty="0" smtClean="0"/>
              <a:t> </a:t>
            </a:r>
          </a:p>
          <a:p>
            <a:pPr>
              <a:lnSpc>
                <a:spcPct val="107000"/>
              </a:lnSpc>
            </a:pPr>
            <a:r>
              <a:rPr lang="en-GB" sz="2400" dirty="0" smtClean="0"/>
              <a:t>[2]. Shrivastava</a:t>
            </a:r>
            <a:r>
              <a:rPr lang="en-GB" sz="2400" dirty="0"/>
              <a:t>, A., </a:t>
            </a:r>
            <a:r>
              <a:rPr lang="en-GB" sz="2400" dirty="0" smtClean="0"/>
              <a:t>et al. (2024)</a:t>
            </a:r>
            <a:r>
              <a:rPr lang="en-GB" sz="2400" dirty="0" smtClean="0">
                <a:latin typeface="Calibri" panose="020F0502020204030204" pitchFamily="34" charset="0"/>
                <a:ea typeface="Calibri" panose="020F0502020204030204" pitchFamily="34" charset="0"/>
                <a:cs typeface="Arial" panose="020B0604020202020204" pitchFamily="34" charset="0"/>
              </a:rPr>
              <a:t>. </a:t>
            </a:r>
            <a:r>
              <a:rPr lang="en-GB" sz="2400" dirty="0"/>
              <a:t>Deep-Learning-Based Model for Prediction of Crowding in a Public Transit </a:t>
            </a:r>
            <a:r>
              <a:rPr lang="en-GB" sz="2400" dirty="0" smtClean="0"/>
              <a:t>System. </a:t>
            </a:r>
            <a:r>
              <a:rPr lang="en-GB" sz="2400" dirty="0" smtClean="0">
                <a:hlinkClick r:id="rId5"/>
              </a:rPr>
              <a:t>https</a:t>
            </a:r>
            <a:r>
              <a:rPr lang="en-GB" sz="2400" dirty="0">
                <a:hlinkClick r:id="rId5"/>
              </a:rPr>
              <a:t>://</a:t>
            </a:r>
            <a:r>
              <a:rPr lang="en-GB" sz="2400" dirty="0" smtClean="0">
                <a:hlinkClick r:id="rId5"/>
              </a:rPr>
              <a:t>doi.org/10.1007/s12469-024-00360-z</a:t>
            </a:r>
            <a:endParaRPr lang="en-GB" sz="2400" dirty="0" smtClean="0"/>
          </a:p>
          <a:p>
            <a:pPr>
              <a:lnSpc>
                <a:spcPct val="107000"/>
              </a:lnSpc>
            </a:pPr>
            <a:r>
              <a:rPr lang="sv-SE" sz="2400" dirty="0" smtClean="0"/>
              <a:t>[3]. V </a:t>
            </a:r>
            <a:r>
              <a:rPr lang="sv-SE" sz="2400" dirty="0"/>
              <a:t>S, D</a:t>
            </a:r>
            <a:r>
              <a:rPr lang="sv-SE" sz="2400" dirty="0" smtClean="0"/>
              <a:t>., et al. </a:t>
            </a:r>
            <a:r>
              <a:rPr lang="sv-SE" sz="2400" dirty="0"/>
              <a:t>(</a:t>
            </a:r>
            <a:r>
              <a:rPr lang="sv-SE" sz="2400" dirty="0" smtClean="0"/>
              <a:t>2022). </a:t>
            </a:r>
            <a:r>
              <a:rPr lang="en-GB" sz="2400" dirty="0"/>
              <a:t>Crowd Density Estimation and Location Prediction in Public Transport System. </a:t>
            </a:r>
            <a:r>
              <a:rPr lang="en-GB" sz="2400" dirty="0" smtClean="0">
                <a:hlinkClick r:id="rId6"/>
              </a:rPr>
              <a:t>https</a:t>
            </a:r>
            <a:r>
              <a:rPr lang="en-GB" sz="2400" dirty="0">
                <a:hlinkClick r:id="rId6"/>
              </a:rPr>
              <a:t>://</a:t>
            </a:r>
            <a:r>
              <a:rPr lang="en-GB" sz="2400" dirty="0" smtClean="0">
                <a:hlinkClick r:id="rId6"/>
              </a:rPr>
              <a:t>www.ijert.org/crowd-density-estimation-and-location-prediction-in-public-transport-system</a:t>
            </a:r>
            <a:endParaRPr lang="en-GB" sz="2400" dirty="0" smtClean="0"/>
          </a:p>
          <a:p>
            <a:pPr>
              <a:lnSpc>
                <a:spcPct val="107000"/>
              </a:lnSpc>
            </a:pPr>
            <a:r>
              <a:rPr lang="en-GB" sz="2400" dirty="0" smtClean="0"/>
              <a:t>[4]. Hsu</a:t>
            </a:r>
            <a:r>
              <a:rPr lang="en-GB" sz="2400" dirty="0"/>
              <a:t>, </a:t>
            </a:r>
            <a:r>
              <a:rPr lang="en-GB" sz="2400" dirty="0" smtClean="0"/>
              <a:t>W. Y., et al. (2020). Estimation </a:t>
            </a:r>
            <a:r>
              <a:rPr lang="en-GB" sz="2400" dirty="0"/>
              <a:t>of the Number of Passengers in a Bus Using Deep Learning- </a:t>
            </a:r>
            <a:endParaRPr lang="en-GB" sz="2400" dirty="0" smtClean="0"/>
          </a:p>
          <a:p>
            <a:pPr>
              <a:lnSpc>
                <a:spcPct val="107000"/>
              </a:lnSpc>
            </a:pPr>
            <a:r>
              <a:rPr lang="en-GB" sz="2400" dirty="0" smtClean="0">
                <a:hlinkClick r:id="rId7"/>
              </a:rPr>
              <a:t>https</a:t>
            </a:r>
            <a:r>
              <a:rPr lang="en-GB" sz="2400" dirty="0">
                <a:hlinkClick r:id="rId7"/>
              </a:rPr>
              <a:t>://</a:t>
            </a:r>
            <a:r>
              <a:rPr lang="en-GB" sz="2400" dirty="0" smtClean="0">
                <a:hlinkClick r:id="rId7"/>
              </a:rPr>
              <a:t>doi.org/10.3390/s20082178</a:t>
            </a:r>
            <a:endParaRPr lang="en-GB" sz="2400" dirty="0" smtClean="0"/>
          </a:p>
          <a:p>
            <a:pPr>
              <a:lnSpc>
                <a:spcPct val="107000"/>
              </a:lnSpc>
            </a:pPr>
            <a:r>
              <a:rPr lang="en-IN" sz="2400" dirty="0" smtClean="0"/>
              <a:t>[5]. Marques</a:t>
            </a:r>
            <a:r>
              <a:rPr lang="en-IN" sz="2400" dirty="0"/>
              <a:t>, S., </a:t>
            </a:r>
            <a:r>
              <a:rPr lang="en-IN" sz="2400" dirty="0" smtClean="0"/>
              <a:t>et al. (2022)</a:t>
            </a:r>
            <a:r>
              <a:rPr lang="en-GB" sz="2400" dirty="0" smtClean="0">
                <a:latin typeface="Calibri" panose="020F0502020204030204" pitchFamily="34" charset="0"/>
                <a:ea typeface="Calibri" panose="020F0502020204030204" pitchFamily="34" charset="0"/>
                <a:cs typeface="Arial" panose="020B0604020202020204" pitchFamily="34" charset="0"/>
              </a:rPr>
              <a:t>. </a:t>
            </a:r>
            <a:r>
              <a:rPr lang="en-GB" sz="2400" dirty="0"/>
              <a:t>Transit Ridership Modelling at the Bus Stop Level: Comparison of Approaches Focusing on Count and Spatially Dependent </a:t>
            </a:r>
            <a:r>
              <a:rPr lang="en-GB" sz="2400" dirty="0" smtClean="0"/>
              <a:t>Data. </a:t>
            </a:r>
            <a:r>
              <a:rPr lang="en-GB" sz="2400" dirty="0" smtClean="0">
                <a:hlinkClick r:id="rId8"/>
              </a:rPr>
              <a:t>https</a:t>
            </a:r>
            <a:r>
              <a:rPr lang="en-GB" sz="2400" dirty="0">
                <a:hlinkClick r:id="rId8"/>
              </a:rPr>
              <a:t>://</a:t>
            </a:r>
            <a:r>
              <a:rPr lang="en-GB" sz="2400" dirty="0" smtClean="0">
                <a:hlinkClick r:id="rId8"/>
              </a:rPr>
              <a:t>doi.org/10.1007/s12061-022-09482-y</a:t>
            </a:r>
            <a:r>
              <a:rPr lang="en-GB" sz="2400" dirty="0" smtClean="0"/>
              <a:t> </a:t>
            </a:r>
            <a:endParaRPr lang="en-GB" sz="2400" dirty="0" smtClean="0">
              <a:latin typeface="Calibri" panose="020F0502020204030204" pitchFamily="34" charset="0"/>
              <a:ea typeface="Calibri" panose="020F0502020204030204" pitchFamily="34" charset="0"/>
              <a:cs typeface="Arial" panose="020B0604020202020204" pitchFamily="34" charset="0"/>
            </a:endParaRPr>
          </a:p>
          <a:p>
            <a:pPr>
              <a:lnSpc>
                <a:spcPct val="107000"/>
              </a:lnSpc>
            </a:pPr>
            <a:endParaRPr lang="en-GB" sz="1600" dirty="0" smtClean="0"/>
          </a:p>
          <a:p>
            <a:pPr>
              <a:lnSpc>
                <a:spcPct val="107000"/>
              </a:lnSpc>
            </a:pPr>
            <a:endParaRPr lang="en-GB" sz="16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311662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p:cNvSpPr txBox="1">
            <a:spLocks/>
          </p:cNvSpPr>
          <p:nvPr/>
        </p:nvSpPr>
        <p:spPr>
          <a:xfrm>
            <a:off x="832386" y="233933"/>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References</a:t>
            </a:r>
            <a:endParaRPr lang="en-IN" sz="3200" b="1" spc="-10" dirty="0">
              <a:latin typeface="+mn-lt"/>
            </a:endParaRPr>
          </a:p>
        </p:txBody>
      </p:sp>
      <p:pic>
        <p:nvPicPr>
          <p:cNvPr id="3" name="object 7"/>
          <p:cNvPicPr/>
          <p:nvPr/>
        </p:nvPicPr>
        <p:blipFill>
          <a:blip r:embed="rId3" cstate="print"/>
          <a:stretch>
            <a:fillRect/>
          </a:stretch>
        </p:blipFill>
        <p:spPr>
          <a:xfrm>
            <a:off x="238759" y="148241"/>
            <a:ext cx="812800" cy="808153"/>
          </a:xfrm>
          <a:prstGeom prst="rect">
            <a:avLst/>
          </a:prstGeom>
        </p:spPr>
      </p:pic>
      <p:pic>
        <p:nvPicPr>
          <p:cNvPr id="4" name="object 8"/>
          <p:cNvPicPr/>
          <p:nvPr/>
        </p:nvPicPr>
        <p:blipFill>
          <a:blip r:embed="rId4" cstate="print"/>
          <a:stretch>
            <a:fillRect/>
          </a:stretch>
        </p:blipFill>
        <p:spPr>
          <a:xfrm>
            <a:off x="11128813" y="145942"/>
            <a:ext cx="699940" cy="697423"/>
          </a:xfrm>
          <a:prstGeom prst="rect">
            <a:avLst/>
          </a:prstGeom>
        </p:spPr>
      </p:pic>
      <p:sp>
        <p:nvSpPr>
          <p:cNvPr id="8"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0"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21</a:t>
            </a:r>
            <a:endParaRPr sz="1400" dirty="0">
              <a:latin typeface="+mj-lt"/>
              <a:cs typeface="Calibri"/>
            </a:endParaRPr>
          </a:p>
        </p:txBody>
      </p:sp>
      <p:sp>
        <p:nvSpPr>
          <p:cNvPr id="11" name="Rectangle 10"/>
          <p:cNvSpPr/>
          <p:nvPr/>
        </p:nvSpPr>
        <p:spPr>
          <a:xfrm>
            <a:off x="498280" y="1205053"/>
            <a:ext cx="11489635" cy="4834400"/>
          </a:xfrm>
          <a:prstGeom prst="rect">
            <a:avLst/>
          </a:prstGeom>
        </p:spPr>
        <p:txBody>
          <a:bodyPr wrap="square">
            <a:spAutoFit/>
          </a:bodyPr>
          <a:lstStyle/>
          <a:p>
            <a:pPr>
              <a:lnSpc>
                <a:spcPct val="107000"/>
              </a:lnSpc>
            </a:pPr>
            <a:r>
              <a:rPr lang="en-IN" sz="2400" dirty="0" smtClean="0"/>
              <a:t>[6]. </a:t>
            </a:r>
            <a:r>
              <a:rPr lang="en-IN" sz="2400" dirty="0" err="1" smtClean="0"/>
              <a:t>Pronello</a:t>
            </a:r>
            <a:r>
              <a:rPr lang="en-IN" sz="2400" dirty="0"/>
              <a:t>, </a:t>
            </a:r>
            <a:r>
              <a:rPr lang="en-IN" sz="2400" dirty="0" smtClean="0"/>
              <a:t>C., et al. (2024). </a:t>
            </a:r>
            <a:r>
              <a:rPr lang="en-GB" sz="2400" dirty="0"/>
              <a:t>A Low-Cost Automatic People-Counting System at Bus Stops Using Wi-Fi Probe Requests and Deep </a:t>
            </a:r>
            <a:r>
              <a:rPr lang="en-GB" sz="2400" dirty="0" smtClean="0"/>
              <a:t>Learning. </a:t>
            </a:r>
            <a:r>
              <a:rPr lang="en-IN" sz="2400" dirty="0">
                <a:hlinkClick r:id="rId5"/>
              </a:rPr>
              <a:t>https://</a:t>
            </a:r>
            <a:r>
              <a:rPr lang="en-IN" sz="2400" dirty="0" smtClean="0">
                <a:hlinkClick r:id="rId5"/>
              </a:rPr>
              <a:t>doi.org/10.1007/s12469-023-00349-0</a:t>
            </a:r>
            <a:endParaRPr lang="en-IN" sz="2400" dirty="0" smtClean="0"/>
          </a:p>
          <a:p>
            <a:pPr>
              <a:lnSpc>
                <a:spcPct val="107000"/>
              </a:lnSpc>
            </a:pPr>
            <a:r>
              <a:rPr lang="en-GB" sz="2400" dirty="0" smtClean="0"/>
              <a:t>[7]. </a:t>
            </a:r>
            <a:r>
              <a:rPr lang="en-GB" sz="2400" dirty="0" err="1" smtClean="0"/>
              <a:t>Talusan</a:t>
            </a:r>
            <a:r>
              <a:rPr lang="en-GB" sz="2400" dirty="0"/>
              <a:t>, JP</a:t>
            </a:r>
            <a:r>
              <a:rPr lang="en-GB" sz="2400" dirty="0" smtClean="0"/>
              <a:t>., et al. (2022)</a:t>
            </a:r>
            <a:r>
              <a:rPr lang="en-GB" sz="2400" dirty="0" smtClean="0">
                <a:latin typeface="Calibri" panose="020F0502020204030204" pitchFamily="34" charset="0"/>
                <a:ea typeface="Calibri" panose="020F0502020204030204" pitchFamily="34" charset="0"/>
                <a:cs typeface="Arial" panose="020B0604020202020204" pitchFamily="34" charset="0"/>
              </a:rPr>
              <a:t>. </a:t>
            </a:r>
            <a:r>
              <a:rPr lang="en-GB" sz="2400" dirty="0"/>
              <a:t>On Designing Day Ahead and Same Day Ridership Level Prediction Models Using Noisy APC </a:t>
            </a:r>
            <a:r>
              <a:rPr lang="en-GB" sz="2400" dirty="0" smtClean="0"/>
              <a:t>Data. </a:t>
            </a:r>
            <a:r>
              <a:rPr lang="en-IN" sz="2400" dirty="0" smtClean="0">
                <a:hlinkClick r:id="rId6"/>
              </a:rPr>
              <a:t>https</a:t>
            </a:r>
            <a:r>
              <a:rPr lang="en-IN" sz="2400" dirty="0">
                <a:hlinkClick r:id="rId6"/>
              </a:rPr>
              <a:t>://</a:t>
            </a:r>
            <a:r>
              <a:rPr lang="en-IN" sz="2400" dirty="0" smtClean="0">
                <a:hlinkClick r:id="rId6"/>
              </a:rPr>
              <a:t>arxiv.org/pdf/2210.04989</a:t>
            </a:r>
            <a:r>
              <a:rPr lang="en-IN" sz="2400" dirty="0" smtClean="0"/>
              <a:t> </a:t>
            </a:r>
          </a:p>
          <a:p>
            <a:pPr>
              <a:lnSpc>
                <a:spcPct val="107000"/>
              </a:lnSpc>
            </a:pPr>
            <a:r>
              <a:rPr lang="en-GB" sz="2400" dirty="0" smtClean="0"/>
              <a:t>[8]. </a:t>
            </a:r>
            <a:r>
              <a:rPr lang="en-GB" sz="2400" dirty="0" err="1" smtClean="0"/>
              <a:t>Martí</a:t>
            </a:r>
            <a:r>
              <a:rPr lang="en-GB" sz="2400" dirty="0"/>
              <a:t>, P., et al. (2024). Bus ridership prediction and scenario analysis through ML and multi-agent simulations. </a:t>
            </a:r>
            <a:r>
              <a:rPr lang="en-GB" sz="2400" dirty="0">
                <a:hlinkClick r:id="rId7"/>
              </a:rPr>
              <a:t>https://</a:t>
            </a:r>
            <a:r>
              <a:rPr lang="en-GB" sz="2400" dirty="0" smtClean="0">
                <a:hlinkClick r:id="rId7"/>
              </a:rPr>
              <a:t>doi.org/10.14201/adcaij.31866</a:t>
            </a:r>
            <a:r>
              <a:rPr lang="en-GB" sz="2400" dirty="0" smtClean="0"/>
              <a:t> </a:t>
            </a:r>
          </a:p>
          <a:p>
            <a:pPr>
              <a:lnSpc>
                <a:spcPct val="107000"/>
              </a:lnSpc>
            </a:pPr>
            <a:r>
              <a:rPr lang="en-GB" sz="2400" dirty="0" smtClean="0"/>
              <a:t>[9]. </a:t>
            </a:r>
            <a:r>
              <a:rPr lang="en-GB" sz="2400" dirty="0" err="1" smtClean="0"/>
              <a:t>Fontes</a:t>
            </a:r>
            <a:r>
              <a:rPr lang="en-GB" sz="2400" dirty="0"/>
              <a:t>, T., et al. (2020). Deep learning neural networks for bus passenger demand prediction with weather effects. </a:t>
            </a:r>
            <a:r>
              <a:rPr lang="en-GB" sz="2400" dirty="0">
                <a:hlinkClick r:id="rId8"/>
              </a:rPr>
              <a:t>https://</a:t>
            </a:r>
            <a:r>
              <a:rPr lang="en-GB" sz="2400" dirty="0" smtClean="0">
                <a:hlinkClick r:id="rId8"/>
              </a:rPr>
              <a:t>reference-global.com/2/v2/download/article/10.2478/ttj-2020-0020.pdf</a:t>
            </a:r>
            <a:endParaRPr lang="en-GB" sz="2400" dirty="0" smtClean="0"/>
          </a:p>
          <a:p>
            <a:pPr>
              <a:lnSpc>
                <a:spcPct val="107000"/>
              </a:lnSpc>
            </a:pPr>
            <a:r>
              <a:rPr lang="en-GB" sz="2400" dirty="0" smtClean="0"/>
              <a:t>[10]. </a:t>
            </a:r>
            <a:r>
              <a:rPr lang="en-GB" sz="2400" dirty="0" err="1" smtClean="0"/>
              <a:t>Farahmand</a:t>
            </a:r>
            <a:r>
              <a:rPr lang="en-GB" sz="2400" dirty="0"/>
              <a:t>, ZH., et al. (2023). LSTM-based bus ridership forecasting with weather and special events. </a:t>
            </a:r>
            <a:r>
              <a:rPr lang="en-GB" sz="2400" dirty="0">
                <a:hlinkClick r:id="rId9"/>
              </a:rPr>
              <a:t>https://</a:t>
            </a:r>
            <a:r>
              <a:rPr lang="en-GB" sz="2400" dirty="0" smtClean="0">
                <a:hlinkClick r:id="rId9"/>
              </a:rPr>
              <a:t>doi.org/10.1016/j.trip.2023.100833</a:t>
            </a:r>
            <a:r>
              <a:rPr lang="en-GB" sz="2400" dirty="0" smtClean="0"/>
              <a:t> </a:t>
            </a:r>
            <a:endParaRPr lang="en-IN" sz="2400" dirty="0" smtClean="0"/>
          </a:p>
        </p:txBody>
      </p:sp>
      <p:sp>
        <p:nvSpPr>
          <p:cNvPr id="12"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167783848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33933"/>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References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8"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0"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22</a:t>
            </a:r>
            <a:endParaRPr sz="1400" dirty="0">
              <a:latin typeface="+mj-lt"/>
              <a:cs typeface="Calibri"/>
            </a:endParaRPr>
          </a:p>
        </p:txBody>
      </p:sp>
      <p:sp>
        <p:nvSpPr>
          <p:cNvPr id="11" name="Rectangle 10"/>
          <p:cNvSpPr/>
          <p:nvPr/>
        </p:nvSpPr>
        <p:spPr>
          <a:xfrm>
            <a:off x="498280" y="1284566"/>
            <a:ext cx="11489635" cy="4439229"/>
          </a:xfrm>
          <a:prstGeom prst="rect">
            <a:avLst/>
          </a:prstGeom>
        </p:spPr>
        <p:txBody>
          <a:bodyPr wrap="square">
            <a:spAutoFit/>
          </a:bodyPr>
          <a:lstStyle/>
          <a:p>
            <a:pPr>
              <a:lnSpc>
                <a:spcPct val="107000"/>
              </a:lnSpc>
            </a:pPr>
            <a:r>
              <a:rPr lang="en-IN" sz="2400" dirty="0" smtClean="0"/>
              <a:t>[11]. Yusuf</a:t>
            </a:r>
            <a:r>
              <a:rPr lang="en-IN" sz="2400" dirty="0"/>
              <a:t>, O., et al. (2025). Horizon-agnostic modelling for stop-level passenger counts using machine learning. </a:t>
            </a:r>
            <a:r>
              <a:rPr lang="en-IN" sz="2400" dirty="0">
                <a:hlinkClick r:id="rId4"/>
              </a:rPr>
              <a:t>https://</a:t>
            </a:r>
            <a:r>
              <a:rPr lang="en-IN" sz="2400" dirty="0" smtClean="0">
                <a:hlinkClick r:id="rId4"/>
              </a:rPr>
              <a:t>doi.org/10.1007/s11116-025-10689-4</a:t>
            </a:r>
            <a:r>
              <a:rPr lang="en-IN" sz="2400" dirty="0" smtClean="0"/>
              <a:t> </a:t>
            </a:r>
            <a:endParaRPr lang="en-IN" sz="2400" dirty="0"/>
          </a:p>
          <a:p>
            <a:pPr>
              <a:lnSpc>
                <a:spcPct val="107000"/>
              </a:lnSpc>
            </a:pPr>
            <a:r>
              <a:rPr lang="en-IN" sz="2400" dirty="0" smtClean="0"/>
              <a:t>[12]. </a:t>
            </a:r>
            <a:r>
              <a:rPr lang="en-IN" sz="2400" dirty="0" err="1" smtClean="0"/>
              <a:t>Siswanto</a:t>
            </a:r>
            <a:r>
              <a:rPr lang="en-IN" sz="2400" dirty="0"/>
              <a:t>, J., et al. (2024). LSTM model for multi-operator bus passenger prediction in Auckland. </a:t>
            </a:r>
            <a:r>
              <a:rPr lang="en-IN" sz="2400" dirty="0">
                <a:hlinkClick r:id="rId5"/>
              </a:rPr>
              <a:t>https://</a:t>
            </a:r>
            <a:r>
              <a:rPr lang="en-IN" sz="2400" dirty="0" smtClean="0">
                <a:hlinkClick r:id="rId5"/>
              </a:rPr>
              <a:t>doi.org/10.15575/join.v9i1.1245</a:t>
            </a:r>
            <a:r>
              <a:rPr lang="en-IN" sz="2400" dirty="0" smtClean="0"/>
              <a:t> </a:t>
            </a:r>
          </a:p>
          <a:p>
            <a:pPr>
              <a:lnSpc>
                <a:spcPct val="107000"/>
              </a:lnSpc>
            </a:pPr>
            <a:r>
              <a:rPr lang="en-IN" sz="2400" dirty="0" smtClean="0"/>
              <a:t>[13]. </a:t>
            </a:r>
            <a:r>
              <a:rPr lang="en-IN" sz="2400" dirty="0" err="1" smtClean="0"/>
              <a:t>Drisilda</a:t>
            </a:r>
            <a:r>
              <a:rPr lang="en-IN" sz="2400" dirty="0" smtClean="0"/>
              <a:t>, S., </a:t>
            </a:r>
            <a:r>
              <a:rPr lang="en-IN" sz="2400" dirty="0"/>
              <a:t>et al. (2025). Machine learning-based public transit ridership forecasting system for BMTC. </a:t>
            </a:r>
            <a:r>
              <a:rPr lang="en-IN" sz="2400" dirty="0">
                <a:hlinkClick r:id="rId6"/>
              </a:rPr>
              <a:t>https://ijsrem.com/download/machine-learning-based-public-transit-ridership-forecasting-system</a:t>
            </a:r>
            <a:r>
              <a:rPr lang="en-IN" sz="2400" dirty="0" smtClean="0">
                <a:hlinkClick r:id="rId6"/>
              </a:rPr>
              <a:t>/</a:t>
            </a:r>
            <a:r>
              <a:rPr lang="en-IN" sz="2400" dirty="0" smtClean="0"/>
              <a:t> </a:t>
            </a:r>
            <a:endParaRPr lang="en-IN" sz="2400" dirty="0"/>
          </a:p>
          <a:p>
            <a:pPr>
              <a:lnSpc>
                <a:spcPct val="107000"/>
              </a:lnSpc>
            </a:pPr>
            <a:r>
              <a:rPr lang="en-IN" sz="2400" dirty="0" smtClean="0"/>
              <a:t>[14]. Amir</a:t>
            </a:r>
            <a:r>
              <a:rPr lang="en-IN" sz="2400" dirty="0"/>
              <a:t>, NNS., et al. (2025). Ridership prediction for rapid bus services using multi-feature approaches. </a:t>
            </a:r>
            <a:r>
              <a:rPr lang="en-IN" sz="2400" dirty="0">
                <a:hlinkClick r:id="rId7"/>
              </a:rPr>
              <a:t>https://</a:t>
            </a:r>
            <a:r>
              <a:rPr lang="en-IN" sz="2400" dirty="0" smtClean="0">
                <a:hlinkClick r:id="rId7"/>
              </a:rPr>
              <a:t>doi.org/10.21837/pm.v23i39.1913</a:t>
            </a:r>
            <a:endParaRPr lang="en-IN" sz="2400" dirty="0" smtClean="0"/>
          </a:p>
          <a:p>
            <a:pPr>
              <a:lnSpc>
                <a:spcPct val="107000"/>
              </a:lnSpc>
            </a:pPr>
            <a:r>
              <a:rPr lang="en-IN" sz="2400" dirty="0" smtClean="0"/>
              <a:t>[15]. </a:t>
            </a:r>
            <a:r>
              <a:rPr lang="en-IN" sz="2400" dirty="0" err="1" smtClean="0"/>
              <a:t>Movaghar</a:t>
            </a:r>
            <a:r>
              <a:rPr lang="en-IN" sz="2400" dirty="0"/>
              <a:t>, M., et al. (2025). Machine learning framework to estimate ridership loss in bus network during external events. </a:t>
            </a:r>
            <a:r>
              <a:rPr lang="en-IN" sz="2400" dirty="0">
                <a:hlinkClick r:id="rId8"/>
              </a:rPr>
              <a:t>https://</a:t>
            </a:r>
            <a:r>
              <a:rPr lang="en-IN" sz="2400" dirty="0" smtClean="0">
                <a:hlinkClick r:id="rId8"/>
              </a:rPr>
              <a:t>doi.org/10.1186/s12544-025-00722-z</a:t>
            </a:r>
            <a:r>
              <a:rPr lang="en-IN" sz="2400" dirty="0" smtClean="0"/>
              <a:t> </a:t>
            </a:r>
          </a:p>
        </p:txBody>
      </p:sp>
      <p:sp>
        <p:nvSpPr>
          <p:cNvPr id="12"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41826801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33933"/>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References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8"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22/01/2026</a:t>
            </a:r>
            <a:endParaRPr sz="1400" dirty="0">
              <a:latin typeface="+mj-lt"/>
              <a:cs typeface="Calibri"/>
            </a:endParaRPr>
          </a:p>
        </p:txBody>
      </p:sp>
      <p:sp>
        <p:nvSpPr>
          <p:cNvPr id="10"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23</a:t>
            </a:r>
            <a:endParaRPr sz="1400" dirty="0">
              <a:latin typeface="+mj-lt"/>
              <a:cs typeface="Calibri"/>
            </a:endParaRPr>
          </a:p>
        </p:txBody>
      </p:sp>
      <p:sp>
        <p:nvSpPr>
          <p:cNvPr id="11" name="Rectangle 10"/>
          <p:cNvSpPr/>
          <p:nvPr/>
        </p:nvSpPr>
        <p:spPr>
          <a:xfrm>
            <a:off x="498280" y="1284566"/>
            <a:ext cx="11489635" cy="4044056"/>
          </a:xfrm>
          <a:prstGeom prst="rect">
            <a:avLst/>
          </a:prstGeom>
        </p:spPr>
        <p:txBody>
          <a:bodyPr wrap="square">
            <a:spAutoFit/>
          </a:bodyPr>
          <a:lstStyle/>
          <a:p>
            <a:pPr>
              <a:lnSpc>
                <a:spcPct val="107000"/>
              </a:lnSpc>
            </a:pPr>
            <a:r>
              <a:rPr lang="en-GB" sz="2400" dirty="0" smtClean="0"/>
              <a:t>[16]. Zeb</a:t>
            </a:r>
            <a:r>
              <a:rPr lang="en-GB" sz="2400" dirty="0"/>
              <a:t>, MS., et al. (2024). LSTM models for forecasting public transit ridership amidst COVID-19 conditions. </a:t>
            </a:r>
            <a:r>
              <a:rPr lang="en-GB" sz="2400" dirty="0">
                <a:hlinkClick r:id="rId4"/>
              </a:rPr>
              <a:t>https://</a:t>
            </a:r>
            <a:r>
              <a:rPr lang="en-GB" sz="2400" dirty="0" smtClean="0">
                <a:hlinkClick r:id="rId4"/>
              </a:rPr>
              <a:t>doi.org/10.1007/s12469-024-00368-5</a:t>
            </a:r>
            <a:r>
              <a:rPr lang="en-GB" sz="2400" dirty="0" smtClean="0"/>
              <a:t> </a:t>
            </a:r>
            <a:endParaRPr lang="en-GB" sz="2400" dirty="0"/>
          </a:p>
          <a:p>
            <a:pPr>
              <a:lnSpc>
                <a:spcPct val="107000"/>
              </a:lnSpc>
            </a:pPr>
            <a:r>
              <a:rPr lang="en-GB" sz="2400" dirty="0" smtClean="0"/>
              <a:t>[17]. </a:t>
            </a:r>
            <a:r>
              <a:rPr lang="en-GB" sz="2400" dirty="0" err="1" smtClean="0"/>
              <a:t>Akgüngör</a:t>
            </a:r>
            <a:r>
              <a:rPr lang="en-GB" sz="2400" dirty="0"/>
              <a:t>, </a:t>
            </a:r>
            <a:r>
              <a:rPr lang="en-GB" sz="2400" dirty="0" smtClean="0"/>
              <a:t>A.P., et al. </a:t>
            </a:r>
            <a:r>
              <a:rPr lang="en-GB" sz="2400" dirty="0"/>
              <a:t>(2025). Comparing LSTM and NARX models for short-term passenger flow prediction. </a:t>
            </a:r>
            <a:r>
              <a:rPr lang="en-GB" sz="2400" dirty="0">
                <a:hlinkClick r:id="rId5"/>
              </a:rPr>
              <a:t>https://</a:t>
            </a:r>
            <a:r>
              <a:rPr lang="en-GB" sz="2400" dirty="0" smtClean="0">
                <a:hlinkClick r:id="rId5"/>
              </a:rPr>
              <a:t>doi.org/10.3390/app15116260</a:t>
            </a:r>
            <a:r>
              <a:rPr lang="en-GB" sz="2400" dirty="0" smtClean="0"/>
              <a:t> </a:t>
            </a:r>
            <a:endParaRPr lang="en-GB" sz="2400" dirty="0"/>
          </a:p>
          <a:p>
            <a:pPr>
              <a:lnSpc>
                <a:spcPct val="107000"/>
              </a:lnSpc>
            </a:pPr>
            <a:r>
              <a:rPr lang="en-GB" sz="2400" dirty="0" smtClean="0"/>
              <a:t>[18]. </a:t>
            </a:r>
            <a:r>
              <a:rPr lang="en-GB" sz="2400" dirty="0" err="1" smtClean="0"/>
              <a:t>Torrepadula</a:t>
            </a:r>
            <a:r>
              <a:rPr lang="en-GB" sz="2400" dirty="0"/>
              <a:t>, </a:t>
            </a:r>
            <a:r>
              <a:rPr lang="en-GB" sz="2400" dirty="0" smtClean="0"/>
              <a:t>F.R</a:t>
            </a:r>
            <a:r>
              <a:rPr lang="en-GB" sz="2400" dirty="0"/>
              <a:t>. di</a:t>
            </a:r>
            <a:r>
              <a:rPr lang="en-GB" sz="2400" dirty="0" smtClean="0"/>
              <a:t>., et al. </a:t>
            </a:r>
            <a:r>
              <a:rPr lang="en-GB" sz="2400" dirty="0"/>
              <a:t>(2024). Survey of machine learning methods for public transport demand forecasting. </a:t>
            </a:r>
            <a:r>
              <a:rPr lang="en-GB" sz="2400" dirty="0">
                <a:hlinkClick r:id="rId6"/>
              </a:rPr>
              <a:t>https://</a:t>
            </a:r>
            <a:r>
              <a:rPr lang="en-GB" sz="2400" dirty="0" smtClean="0">
                <a:hlinkClick r:id="rId6"/>
              </a:rPr>
              <a:t>doi.org/10.1016/j.engappai.2024.109166</a:t>
            </a:r>
            <a:r>
              <a:rPr lang="en-GB" sz="2400" dirty="0" smtClean="0"/>
              <a:t> </a:t>
            </a:r>
            <a:endParaRPr lang="en-GB" sz="2400" dirty="0"/>
          </a:p>
          <a:p>
            <a:pPr>
              <a:lnSpc>
                <a:spcPct val="107000"/>
              </a:lnSpc>
            </a:pPr>
            <a:r>
              <a:rPr lang="en-GB" sz="2400" dirty="0" smtClean="0"/>
              <a:t>[19]. </a:t>
            </a:r>
            <a:r>
              <a:rPr lang="en-GB" sz="2400" dirty="0" err="1" smtClean="0"/>
              <a:t>Ke</a:t>
            </a:r>
            <a:r>
              <a:rPr lang="en-GB" sz="2400" dirty="0"/>
              <a:t>, L</a:t>
            </a:r>
            <a:r>
              <a:rPr lang="en-GB" sz="2400" dirty="0" smtClean="0"/>
              <a:t>., et al. </a:t>
            </a:r>
            <a:r>
              <a:rPr lang="en-GB" sz="2400" dirty="0"/>
              <a:t>(2025). </a:t>
            </a:r>
            <a:r>
              <a:rPr lang="en-GB" sz="2400" dirty="0" err="1"/>
              <a:t>UrbanBus</a:t>
            </a:r>
            <a:r>
              <a:rPr lang="en-GB" sz="2400" dirty="0"/>
              <a:t>: A fine-grained dataset for bus ridership analysis and forecasting. </a:t>
            </a:r>
            <a:r>
              <a:rPr lang="en-GB" sz="2400" dirty="0">
                <a:hlinkClick r:id="rId7"/>
              </a:rPr>
              <a:t>https://</a:t>
            </a:r>
            <a:r>
              <a:rPr lang="en-GB" sz="2400" dirty="0" smtClean="0">
                <a:hlinkClick r:id="rId7"/>
              </a:rPr>
              <a:t>academic.oup.com/iti/article/doi/10.1093/iti/liae019/7917135</a:t>
            </a:r>
            <a:r>
              <a:rPr lang="en-GB" sz="2400" dirty="0" smtClean="0"/>
              <a:t> </a:t>
            </a:r>
            <a:endParaRPr lang="en-GB" sz="2400" dirty="0"/>
          </a:p>
          <a:p>
            <a:pPr>
              <a:lnSpc>
                <a:spcPct val="107000"/>
              </a:lnSpc>
            </a:pPr>
            <a:r>
              <a:rPr lang="en-GB" sz="2400" dirty="0" smtClean="0"/>
              <a:t>[20]. Yamamura</a:t>
            </a:r>
            <a:r>
              <a:rPr lang="en-GB" sz="2400" dirty="0"/>
              <a:t>, T</a:t>
            </a:r>
            <a:r>
              <a:rPr lang="en-GB" sz="2400" dirty="0" smtClean="0"/>
              <a:t>., et al. </a:t>
            </a:r>
            <a:r>
              <a:rPr lang="en-GB" sz="2400" dirty="0"/>
              <a:t>(2023). Bus ridership prediction with multiple LSTM models and trend features. </a:t>
            </a:r>
            <a:r>
              <a:rPr lang="en-GB" sz="2400" dirty="0">
                <a:hlinkClick r:id="rId8"/>
              </a:rPr>
              <a:t>https://</a:t>
            </a:r>
            <a:r>
              <a:rPr lang="en-GB" sz="2400" dirty="0" smtClean="0">
                <a:hlinkClick r:id="rId8"/>
              </a:rPr>
              <a:t>arxiv.org/pdf/2304.08233.pdf</a:t>
            </a:r>
            <a:r>
              <a:rPr lang="en-GB" sz="2400" dirty="0" smtClean="0"/>
              <a:t> </a:t>
            </a:r>
            <a:endParaRPr lang="en-IN" sz="2400" dirty="0" smtClean="0"/>
          </a:p>
        </p:txBody>
      </p:sp>
      <p:sp>
        <p:nvSpPr>
          <p:cNvPr id="12"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9429011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8759" y="148241"/>
            <a:ext cx="812800" cy="808153"/>
          </a:xfrm>
          <a:prstGeom prst="rect">
            <a:avLst/>
          </a:prstGeom>
        </p:spPr>
      </p:pic>
      <p:pic>
        <p:nvPicPr>
          <p:cNvPr id="3" name="object 3"/>
          <p:cNvPicPr/>
          <p:nvPr/>
        </p:nvPicPr>
        <p:blipFill>
          <a:blip r:embed="rId3" cstate="print"/>
          <a:stretch>
            <a:fillRect/>
          </a:stretch>
        </p:blipFill>
        <p:spPr>
          <a:xfrm>
            <a:off x="11142995" y="154023"/>
            <a:ext cx="702226" cy="693104"/>
          </a:xfrm>
          <a:prstGeom prst="rect">
            <a:avLst/>
          </a:prstGeom>
        </p:spPr>
      </p:pic>
      <p:sp>
        <p:nvSpPr>
          <p:cNvPr id="5" name="object 5"/>
          <p:cNvSpPr txBox="1"/>
          <p:nvPr/>
        </p:nvSpPr>
        <p:spPr>
          <a:xfrm>
            <a:off x="5036720" y="3066343"/>
            <a:ext cx="2159211" cy="504625"/>
          </a:xfrm>
          <a:prstGeom prst="rect">
            <a:avLst/>
          </a:prstGeom>
        </p:spPr>
        <p:txBody>
          <a:bodyPr vert="horz" wrap="square" lIns="0" tIns="12065" rIns="0" bIns="0" rtlCol="0">
            <a:spAutoFit/>
          </a:bodyPr>
          <a:lstStyle/>
          <a:p>
            <a:pPr marL="12700">
              <a:lnSpc>
                <a:spcPct val="100000"/>
              </a:lnSpc>
              <a:spcBef>
                <a:spcPts val="95"/>
              </a:spcBef>
            </a:pPr>
            <a:r>
              <a:rPr lang="en-IN" sz="3200" b="1" dirty="0" smtClean="0">
                <a:latin typeface="Calibri"/>
                <a:cs typeface="Calibri"/>
              </a:rPr>
              <a:t>THANK YOU</a:t>
            </a:r>
            <a:endParaRPr sz="3200" dirty="0">
              <a:latin typeface="Calibri"/>
              <a:cs typeface="Calibri"/>
            </a:endParaRPr>
          </a:p>
        </p:txBody>
      </p:sp>
    </p:spTree>
    <p:extLst>
      <p:ext uri="{BB962C8B-B14F-4D97-AF65-F5344CB8AC3E}">
        <p14:creationId xmlns:p14="http://schemas.microsoft.com/office/powerpoint/2010/main" val="16195011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14763</TotalTime>
  <Words>4211</Words>
  <Application>Microsoft Office PowerPoint</Application>
  <PresentationFormat>Widescreen</PresentationFormat>
  <Paragraphs>334</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Arial MT</vt:lpstr>
      <vt:lpstr>Calibri</vt:lpstr>
      <vt:lpstr>Calibri Light</vt:lpstr>
      <vt:lpstr>Times New Roman</vt:lpstr>
      <vt:lpstr>Office Theme</vt:lpstr>
      <vt:lpstr>MCA RESEARCH PAPER PRESENTATION - 2025</vt:lpstr>
      <vt:lpstr>               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MCA/ MSc SYNOPSIS PRESENTATION - 2025</dc:title>
  <dc:creator>Leander Chris</dc:creator>
  <cp:lastModifiedBy>Leander Chris</cp:lastModifiedBy>
  <cp:revision>95</cp:revision>
  <dcterms:created xsi:type="dcterms:W3CDTF">2025-11-30T08:07:38Z</dcterms:created>
  <dcterms:modified xsi:type="dcterms:W3CDTF">2026-01-29T16:00:57Z</dcterms:modified>
</cp:coreProperties>
</file>