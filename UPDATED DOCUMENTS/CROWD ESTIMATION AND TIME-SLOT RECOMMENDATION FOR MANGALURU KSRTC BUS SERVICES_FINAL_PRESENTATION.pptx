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88" r:id="rId5"/>
    <p:sldId id="285" r:id="rId6"/>
    <p:sldId id="286" r:id="rId7"/>
    <p:sldId id="289" r:id="rId8"/>
    <p:sldId id="290" r:id="rId9"/>
    <p:sldId id="291" r:id="rId10"/>
    <p:sldId id="292" r:id="rId11"/>
    <p:sldId id="293" r:id="rId12"/>
    <p:sldId id="287" r:id="rId13"/>
    <p:sldId id="294" r:id="rId14"/>
    <p:sldId id="295" r:id="rId15"/>
    <p:sldId id="296" r:id="rId16"/>
    <p:sldId id="298" r:id="rId17"/>
    <p:sldId id="297" r:id="rId18"/>
    <p:sldId id="299" r:id="rId19"/>
    <p:sldId id="300" r:id="rId20"/>
    <p:sldId id="301" r:id="rId21"/>
    <p:sldId id="30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86716" autoAdjust="0"/>
  </p:normalViewPr>
  <p:slideViewPr>
    <p:cSldViewPr snapToGrid="0">
      <p:cViewPr varScale="1">
        <p:scale>
          <a:sx n="63" d="100"/>
          <a:sy n="63" d="100"/>
        </p:scale>
        <p:origin x="102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14/06/2026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5858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14/06/2026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126363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A9D86B8-5BBD-482F-BB2C-BA82F343B285}" type="datetimeFigureOut">
              <a:rPr lang="en-GB" smtClean="0"/>
              <a:t>14/06/2026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333582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FA9D86B8-5BBD-482F-BB2C-BA82F343B285}" type="datetimeFigureOut">
              <a:rPr lang="en-GB" smtClean="0"/>
              <a:t>14/06/2026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869683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FA9D86B8-5BBD-482F-BB2C-BA82F343B285}" type="datetimeFigureOut">
              <a:rPr lang="en-GB" smtClean="0"/>
              <a:t>14/06/2026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904780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FA9D86B8-5BBD-482F-BB2C-BA82F343B285}" type="datetimeFigureOut">
              <a:rPr lang="en-GB" smtClean="0"/>
              <a:t>14/06/2026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305845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9D86B8-5BBD-482F-BB2C-BA82F343B285}" type="datetimeFigureOut">
              <a:rPr lang="en-GB" smtClean="0"/>
              <a:t>14/06/2026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2738598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9D86B8-5BBD-482F-BB2C-BA82F343B285}" type="datetimeFigureOut">
              <a:rPr lang="en-GB" smtClean="0"/>
              <a:t>14/06/2026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1100312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FA9D86B8-5BBD-482F-BB2C-BA82F343B285}" type="datetimeFigureOut">
              <a:rPr lang="en-GB" smtClean="0"/>
              <a:t>14/06/2026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3268375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14/06/2026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9273922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FA9D86B8-5BBD-482F-BB2C-BA82F343B285}" type="datetimeFigureOut">
              <a:rPr lang="en-GB" smtClean="0"/>
              <a:t>14/06/2026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4AC44C2-9B3C-4E4E-993F-BFA2953E6DD5}" type="slidenum">
              <a:rPr lang="en-GB" smtClean="0"/>
              <a:t>‹#›</a:t>
            </a:fld>
            <a:endParaRPr lang="en-GB"/>
          </a:p>
        </p:txBody>
      </p:sp>
    </p:spTree>
    <p:extLst>
      <p:ext uri="{BB962C8B-B14F-4D97-AF65-F5344CB8AC3E}">
        <p14:creationId xmlns:p14="http://schemas.microsoft.com/office/powerpoint/2010/main" val="21235730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9D86B8-5BBD-482F-BB2C-BA82F343B285}" type="datetimeFigureOut">
              <a:rPr lang="en-GB" smtClean="0"/>
              <a:t>14/06/2026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AC44C2-9B3C-4E4E-993F-BFA2953E6DD5}" type="slidenum">
              <a:rPr lang="en-GB" smtClean="0"/>
              <a:t>‹#›</a:t>
            </a:fld>
            <a:endParaRPr lang="en-GB"/>
          </a:p>
        </p:txBody>
      </p:sp>
    </p:spTree>
    <p:extLst>
      <p:ext uri="{BB962C8B-B14F-4D97-AF65-F5344CB8AC3E}">
        <p14:creationId xmlns:p14="http://schemas.microsoft.com/office/powerpoint/2010/main" val="210426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hyperlink" Target="https://doi.org/10.1007/s12061-022-09482-y" TargetMode="External"/><Relationship Id="rId3" Type="http://schemas.openxmlformats.org/officeDocument/2006/relationships/image" Target="../media/image3.png"/><Relationship Id="rId7" Type="http://schemas.openxmlformats.org/officeDocument/2006/relationships/hyperlink" Target="https://doi.org/10.3390/s20082178"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www.ijert.org/crowd-density-estimation-and-location-prediction-in-public-transport-system" TargetMode="External"/><Relationship Id="rId5" Type="http://schemas.openxmlformats.org/officeDocument/2006/relationships/hyperlink" Target="https://doi.org/10.1007/s12469-024-00360-z" TargetMode="External"/><Relationship Id="rId4" Type="http://schemas.openxmlformats.org/officeDocument/2006/relationships/hyperlink" Target="https://doi.org/10.62643/ijerst.v21.n3(1).pp1405-1414"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doi.org/10.1016/j.trip.2023.100833" TargetMode="External"/><Relationship Id="rId3" Type="http://schemas.openxmlformats.org/officeDocument/2006/relationships/image" Target="../media/image3.png"/><Relationship Id="rId7" Type="http://schemas.openxmlformats.org/officeDocument/2006/relationships/hyperlink" Target="https://reference-global.com/2/v2/download/article/10.2478/ttj-2020-0020.pdf"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doi.org/10.14201/adcaij.31866" TargetMode="External"/><Relationship Id="rId5" Type="http://schemas.openxmlformats.org/officeDocument/2006/relationships/hyperlink" Target="https://arxiv.org/pdf/2210.04989" TargetMode="External"/><Relationship Id="rId4" Type="http://schemas.openxmlformats.org/officeDocument/2006/relationships/hyperlink" Target="https://doi.org/10.1007/s12469-023-00349-0"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doi.org/10.1186/s12544-025-00722-z" TargetMode="External"/><Relationship Id="rId3" Type="http://schemas.openxmlformats.org/officeDocument/2006/relationships/image" Target="../media/image3.png"/><Relationship Id="rId7" Type="http://schemas.openxmlformats.org/officeDocument/2006/relationships/hyperlink" Target="https://doi.org/10.21837/pm.v23i39.1913"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ijsrem.com/download/machine-learning-based-public-transit-ridership-forecasting-system/" TargetMode="External"/><Relationship Id="rId5" Type="http://schemas.openxmlformats.org/officeDocument/2006/relationships/hyperlink" Target="https://doi.org/10.15575/join.v9i1.1245" TargetMode="External"/><Relationship Id="rId4" Type="http://schemas.openxmlformats.org/officeDocument/2006/relationships/hyperlink" Target="https://doi.org/10.1007/s11116-025-10689-4" TargetMode="External"/></Relationships>
</file>

<file path=ppt/slides/_rels/slide21.xml.rels><?xml version="1.0" encoding="UTF-8" standalone="yes"?>
<Relationships xmlns="http://schemas.openxmlformats.org/package/2006/relationships"><Relationship Id="rId8" Type="http://schemas.openxmlformats.org/officeDocument/2006/relationships/hyperlink" Target="https://arxiv.org/pdf/2304.08233.pdf" TargetMode="External"/><Relationship Id="rId3" Type="http://schemas.openxmlformats.org/officeDocument/2006/relationships/image" Target="../media/image3.png"/><Relationship Id="rId7" Type="http://schemas.openxmlformats.org/officeDocument/2006/relationships/hyperlink" Target="https://academic.oup.com/iti/article/doi/10.1093/iti/liae019/7917135"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https://doi.org/10.1016/j.engappai.2024.109166" TargetMode="External"/><Relationship Id="rId5" Type="http://schemas.openxmlformats.org/officeDocument/2006/relationships/hyperlink" Target="https://doi.org/10.3390/app15116260" TargetMode="External"/><Relationship Id="rId4" Type="http://schemas.openxmlformats.org/officeDocument/2006/relationships/hyperlink" Target="https://doi.org/10.1007/s12469-024-00368-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38759" y="148241"/>
            <a:ext cx="812800" cy="808153"/>
          </a:xfrm>
          <a:prstGeom prst="rect">
            <a:avLst/>
          </a:prstGeom>
        </p:spPr>
      </p:pic>
      <p:pic>
        <p:nvPicPr>
          <p:cNvPr id="3" name="object 3"/>
          <p:cNvPicPr/>
          <p:nvPr/>
        </p:nvPicPr>
        <p:blipFill>
          <a:blip r:embed="rId3" cstate="print"/>
          <a:stretch>
            <a:fillRect/>
          </a:stretch>
        </p:blipFill>
        <p:spPr>
          <a:xfrm>
            <a:off x="11142995" y="154023"/>
            <a:ext cx="702226" cy="693104"/>
          </a:xfrm>
          <a:prstGeom prst="rect">
            <a:avLst/>
          </a:prstGeom>
        </p:spPr>
      </p:pic>
      <p:sp>
        <p:nvSpPr>
          <p:cNvPr id="5" name="object 5"/>
          <p:cNvSpPr txBox="1"/>
          <p:nvPr/>
        </p:nvSpPr>
        <p:spPr>
          <a:xfrm>
            <a:off x="1329621" y="1714621"/>
            <a:ext cx="10227562" cy="997068"/>
          </a:xfrm>
          <a:prstGeom prst="rect">
            <a:avLst/>
          </a:prstGeom>
        </p:spPr>
        <p:txBody>
          <a:bodyPr vert="horz" wrap="square" lIns="0" tIns="12065" rIns="0" bIns="0" rtlCol="0">
            <a:spAutoFit/>
          </a:bodyPr>
          <a:lstStyle/>
          <a:p>
            <a:pPr marL="12700" algn="ctr">
              <a:lnSpc>
                <a:spcPct val="100000"/>
              </a:lnSpc>
              <a:spcBef>
                <a:spcPts val="95"/>
              </a:spcBef>
            </a:pPr>
            <a:r>
              <a:rPr lang="en-GB" sz="3200" b="1" dirty="0" smtClean="0"/>
              <a:t>CROWD ESTIMATION AND TIME-SLOT RECOMMENDATION FOR MANGALORE KSRTC BUS SERVICES</a:t>
            </a:r>
            <a:endParaRPr lang="en-GB" sz="3200" b="1" dirty="0">
              <a:latin typeface="Calibri"/>
              <a:cs typeface="Calibri"/>
            </a:endParaRPr>
          </a:p>
        </p:txBody>
      </p:sp>
      <p:sp>
        <p:nvSpPr>
          <p:cNvPr id="6" name="object 6"/>
          <p:cNvSpPr txBox="1"/>
          <p:nvPr/>
        </p:nvSpPr>
        <p:spPr>
          <a:xfrm>
            <a:off x="238759" y="3157659"/>
            <a:ext cx="5592198" cy="3054682"/>
          </a:xfrm>
          <a:prstGeom prst="rect">
            <a:avLst/>
          </a:prstGeom>
        </p:spPr>
        <p:txBody>
          <a:bodyPr vert="horz" wrap="square" lIns="0" tIns="12700" rIns="0" bIns="0" rtlCol="0">
            <a:spAutoFit/>
          </a:bodyPr>
          <a:lstStyle/>
          <a:p>
            <a:pPr marL="1177290" marR="1162685" algn="ctr">
              <a:lnSpc>
                <a:spcPct val="100000"/>
              </a:lnSpc>
              <a:spcBef>
                <a:spcPts val="100"/>
              </a:spcBef>
            </a:pPr>
            <a:r>
              <a:rPr lang="en-IN" sz="2800" b="1" dirty="0" smtClean="0">
                <a:latin typeface="Calibri"/>
                <a:cs typeface="Calibri"/>
              </a:rPr>
              <a:t>Leander Chris Dsouza</a:t>
            </a:r>
            <a:r>
              <a:rPr sz="2800" b="1" spc="-20" dirty="0" smtClean="0">
                <a:latin typeface="Calibri"/>
                <a:cs typeface="Calibri"/>
              </a:rPr>
              <a:t> </a:t>
            </a:r>
            <a:endParaRPr lang="en-IN" sz="2800" b="1" spc="-20" dirty="0" smtClean="0">
              <a:latin typeface="Calibri"/>
              <a:cs typeface="Calibri"/>
            </a:endParaRPr>
          </a:p>
          <a:p>
            <a:pPr marL="1177290" marR="1162685" algn="ctr">
              <a:lnSpc>
                <a:spcPct val="100000"/>
              </a:lnSpc>
              <a:spcBef>
                <a:spcPts val="100"/>
              </a:spcBef>
            </a:pPr>
            <a:r>
              <a:rPr lang="en-IN" sz="2800" dirty="0" smtClean="0">
                <a:latin typeface="Calibri"/>
                <a:cs typeface="Calibri"/>
              </a:rPr>
              <a:t>24MCA306</a:t>
            </a:r>
          </a:p>
          <a:p>
            <a:pPr marL="1177290" marR="1162685" algn="ctr">
              <a:lnSpc>
                <a:spcPct val="100000"/>
              </a:lnSpc>
              <a:spcBef>
                <a:spcPts val="100"/>
              </a:spcBef>
            </a:pPr>
            <a:r>
              <a:rPr sz="2800" spc="-10" dirty="0" smtClean="0">
                <a:latin typeface="Calibri"/>
                <a:cs typeface="Calibri"/>
              </a:rPr>
              <a:t>MCA</a:t>
            </a:r>
            <a:r>
              <a:rPr lang="en-IN" sz="2800" spc="-10" dirty="0" smtClean="0">
                <a:latin typeface="Calibri"/>
                <a:cs typeface="Calibri"/>
              </a:rPr>
              <a:t> (Data Science with minor in Big Data Analytics)</a:t>
            </a:r>
            <a:endParaRPr sz="2800" dirty="0">
              <a:latin typeface="Calibri"/>
              <a:cs typeface="Calibri"/>
            </a:endParaRPr>
          </a:p>
          <a:p>
            <a:pPr marL="12700" marR="5080" algn="ctr">
              <a:lnSpc>
                <a:spcPct val="100000"/>
              </a:lnSpc>
              <a:spcBef>
                <a:spcPts val="5"/>
              </a:spcBef>
            </a:pPr>
            <a:r>
              <a:rPr sz="2800" dirty="0">
                <a:latin typeface="Calibri"/>
                <a:cs typeface="Calibri"/>
              </a:rPr>
              <a:t>Department</a:t>
            </a:r>
            <a:r>
              <a:rPr sz="2800" spc="-10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Computer</a:t>
            </a:r>
            <a:r>
              <a:rPr sz="2800" spc="-90" dirty="0">
                <a:latin typeface="Calibri"/>
                <a:cs typeface="Calibri"/>
              </a:rPr>
              <a:t> </a:t>
            </a:r>
            <a:r>
              <a:rPr sz="2800" spc="-10" dirty="0">
                <a:latin typeface="Calibri"/>
                <a:cs typeface="Calibri"/>
              </a:rPr>
              <a:t>Science </a:t>
            </a:r>
            <a:r>
              <a:rPr sz="2800" dirty="0">
                <a:latin typeface="Calibri"/>
                <a:cs typeface="Calibri"/>
              </a:rPr>
              <a:t>YIASCM,</a:t>
            </a:r>
            <a:r>
              <a:rPr sz="2800" spc="-35" dirty="0">
                <a:latin typeface="Calibri"/>
                <a:cs typeface="Calibri"/>
              </a:rPr>
              <a:t> </a:t>
            </a:r>
            <a:r>
              <a:rPr sz="2800" spc="-10" dirty="0">
                <a:latin typeface="Calibri"/>
                <a:cs typeface="Calibri"/>
              </a:rPr>
              <a:t>Balmatta</a:t>
            </a:r>
            <a:endParaRPr sz="2800" dirty="0">
              <a:latin typeface="Calibri"/>
              <a:cs typeface="Calibri"/>
            </a:endParaRPr>
          </a:p>
        </p:txBody>
      </p:sp>
      <p:sp>
        <p:nvSpPr>
          <p:cNvPr id="7" name="object 7"/>
          <p:cNvSpPr txBox="1"/>
          <p:nvPr/>
        </p:nvSpPr>
        <p:spPr>
          <a:xfrm>
            <a:off x="7275443" y="3157659"/>
            <a:ext cx="4569778" cy="1736373"/>
          </a:xfrm>
          <a:prstGeom prst="rect">
            <a:avLst/>
          </a:prstGeom>
        </p:spPr>
        <p:txBody>
          <a:bodyPr vert="horz" wrap="square" lIns="0" tIns="12700" rIns="0" bIns="0" rtlCol="0">
            <a:spAutoFit/>
          </a:bodyPr>
          <a:lstStyle/>
          <a:p>
            <a:pPr marL="5715" algn="ctr">
              <a:lnSpc>
                <a:spcPct val="100000"/>
              </a:lnSpc>
              <a:spcBef>
                <a:spcPts val="100"/>
              </a:spcBef>
            </a:pPr>
            <a:r>
              <a:rPr lang="en-IN" sz="2800" b="1" dirty="0" smtClean="0">
                <a:latin typeface="Calibri"/>
                <a:cs typeface="Calibri"/>
              </a:rPr>
              <a:t>Ms. Sindhu Sandesh</a:t>
            </a:r>
            <a:endParaRPr sz="2800" dirty="0">
              <a:latin typeface="Calibri"/>
              <a:cs typeface="Calibri"/>
            </a:endParaRPr>
          </a:p>
          <a:p>
            <a:pPr marL="838200" marR="828675" algn="ctr">
              <a:lnSpc>
                <a:spcPct val="100000"/>
              </a:lnSpc>
            </a:pPr>
            <a:r>
              <a:rPr lang="en-IN" sz="2800" spc="-10" dirty="0" smtClean="0">
                <a:latin typeface="Calibri"/>
                <a:cs typeface="Calibri"/>
              </a:rPr>
              <a:t>Assistant Professor</a:t>
            </a:r>
            <a:endParaRPr sz="2800" dirty="0">
              <a:latin typeface="Calibri"/>
              <a:cs typeface="Calibri"/>
            </a:endParaRPr>
          </a:p>
          <a:p>
            <a:pPr marL="12700" marR="5080" algn="ctr">
              <a:lnSpc>
                <a:spcPct val="100000"/>
              </a:lnSpc>
              <a:spcBef>
                <a:spcPts val="5"/>
              </a:spcBef>
            </a:pPr>
            <a:r>
              <a:rPr sz="2800" dirty="0">
                <a:latin typeface="Calibri"/>
                <a:cs typeface="Calibri"/>
              </a:rPr>
              <a:t>Department</a:t>
            </a:r>
            <a:r>
              <a:rPr sz="2800" spc="-100" dirty="0">
                <a:latin typeface="Calibri"/>
                <a:cs typeface="Calibri"/>
              </a:rPr>
              <a:t> </a:t>
            </a:r>
            <a:r>
              <a:rPr sz="2800" dirty="0">
                <a:latin typeface="Calibri"/>
                <a:cs typeface="Calibri"/>
              </a:rPr>
              <a:t>of</a:t>
            </a:r>
            <a:r>
              <a:rPr sz="2800" spc="-30" dirty="0">
                <a:latin typeface="Calibri"/>
                <a:cs typeface="Calibri"/>
              </a:rPr>
              <a:t> </a:t>
            </a:r>
            <a:r>
              <a:rPr sz="2800" dirty="0">
                <a:latin typeface="Calibri"/>
                <a:cs typeface="Calibri"/>
              </a:rPr>
              <a:t>Computer</a:t>
            </a:r>
            <a:r>
              <a:rPr sz="2800" spc="-90" dirty="0">
                <a:latin typeface="Calibri"/>
                <a:cs typeface="Calibri"/>
              </a:rPr>
              <a:t> </a:t>
            </a:r>
            <a:r>
              <a:rPr sz="2800" spc="-10" dirty="0">
                <a:latin typeface="Calibri"/>
                <a:cs typeface="Calibri"/>
              </a:rPr>
              <a:t>Science </a:t>
            </a:r>
            <a:r>
              <a:rPr sz="2800" dirty="0">
                <a:latin typeface="Calibri"/>
                <a:cs typeface="Calibri"/>
              </a:rPr>
              <a:t>YIASCM,</a:t>
            </a:r>
            <a:r>
              <a:rPr sz="2800" spc="-20" dirty="0">
                <a:latin typeface="Calibri"/>
                <a:cs typeface="Calibri"/>
              </a:rPr>
              <a:t> </a:t>
            </a:r>
            <a:r>
              <a:rPr sz="2800" spc="-10" dirty="0">
                <a:latin typeface="Calibri"/>
                <a:cs typeface="Calibri"/>
              </a:rPr>
              <a:t>Balmatta</a:t>
            </a:r>
            <a:endParaRPr sz="2800" dirty="0">
              <a:latin typeface="Calibri"/>
              <a:cs typeface="Calibri"/>
            </a:endParaRPr>
          </a:p>
        </p:txBody>
      </p:sp>
    </p:spTree>
    <p:extLst>
      <p:ext uri="{BB962C8B-B14F-4D97-AF65-F5344CB8AC3E}">
        <p14:creationId xmlns:p14="http://schemas.microsoft.com/office/powerpoint/2010/main" val="37736257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35877"/>
            <a:ext cx="10515600" cy="584057"/>
          </a:xfrm>
          <a:prstGeom prst="rect">
            <a:avLst/>
          </a:prstGeom>
        </p:spPr>
        <p:txBody>
          <a:bodyPr vert="horz" wrap="square" lIns="0" tIns="90728" rIns="0" bIns="0" rtlCol="0">
            <a:spAutoFit/>
          </a:bodyPr>
          <a:lstStyle/>
          <a:p>
            <a:pPr marL="3463925">
              <a:lnSpc>
                <a:spcPct val="100000"/>
              </a:lnSpc>
              <a:spcBef>
                <a:spcPts val="90"/>
              </a:spcBef>
            </a:pPr>
            <a:r>
              <a:rPr lang="en-IN" sz="3200" b="1" spc="-10" dirty="0" smtClean="0">
                <a:latin typeface="+mn-lt"/>
              </a:rPr>
              <a:t>               </a:t>
            </a:r>
            <a:r>
              <a:rPr sz="3200" b="1" spc="-10" dirty="0" smtClean="0">
                <a:latin typeface="+mn-lt"/>
              </a:rPr>
              <a:t>Index</a:t>
            </a:r>
            <a:endParaRPr sz="3200" b="1" spc="-10" dirty="0">
              <a:latin typeface="+mn-lt"/>
            </a:endParaRPr>
          </a:p>
        </p:txBody>
      </p:sp>
      <p:sp>
        <p:nvSpPr>
          <p:cNvPr id="3" name="object 3"/>
          <p:cNvSpPr txBox="1">
            <a:spLocks noGrp="1"/>
          </p:cNvSpPr>
          <p:nvPr>
            <p:ph type="body" idx="1"/>
          </p:nvPr>
        </p:nvSpPr>
        <p:spPr>
          <a:xfrm>
            <a:off x="1051559" y="1257496"/>
            <a:ext cx="10515600" cy="5050741"/>
          </a:xfrm>
          <a:prstGeom prst="rect">
            <a:avLst/>
          </a:prstGeom>
        </p:spPr>
        <p:txBody>
          <a:bodyPr vert="horz" wrap="square" lIns="0" tIns="61594" rIns="0" bIns="0" rtlCol="0">
            <a:spAutoFit/>
          </a:bodyPr>
          <a:lstStyle/>
          <a:p>
            <a:pPr marL="356870" indent="-344170">
              <a:lnSpc>
                <a:spcPct val="100000"/>
              </a:lnSpc>
              <a:spcBef>
                <a:spcPts val="484"/>
              </a:spcBef>
              <a:buFont typeface="Arial MT"/>
              <a:buChar char="•"/>
              <a:tabLst>
                <a:tab pos="356870" algn="l"/>
              </a:tabLst>
            </a:pPr>
            <a:r>
              <a:rPr sz="2000" b="1" spc="-10" dirty="0" smtClean="0"/>
              <a:t>Introduction</a:t>
            </a:r>
            <a:r>
              <a:rPr lang="en-IN" sz="2000" b="1" spc="-10" dirty="0" smtClean="0"/>
              <a:t> and Background</a:t>
            </a:r>
          </a:p>
          <a:p>
            <a:pPr marL="356870" indent="-344170">
              <a:lnSpc>
                <a:spcPct val="100000"/>
              </a:lnSpc>
              <a:spcBef>
                <a:spcPts val="484"/>
              </a:spcBef>
              <a:buFont typeface="Arial MT"/>
              <a:buChar char="•"/>
              <a:tabLst>
                <a:tab pos="356870" algn="l"/>
              </a:tabLst>
            </a:pPr>
            <a:r>
              <a:rPr lang="en-IN" sz="2000" b="1" spc="-10" dirty="0" smtClean="0"/>
              <a:t>Problem Statement</a:t>
            </a:r>
            <a:endParaRPr sz="2000" b="1" spc="-10" dirty="0"/>
          </a:p>
          <a:p>
            <a:pPr marL="356870" indent="-344170">
              <a:lnSpc>
                <a:spcPct val="100000"/>
              </a:lnSpc>
              <a:spcBef>
                <a:spcPts val="390"/>
              </a:spcBef>
              <a:buFont typeface="Arial MT"/>
              <a:buChar char="•"/>
              <a:tabLst>
                <a:tab pos="356870" algn="l"/>
              </a:tabLst>
            </a:pPr>
            <a:r>
              <a:rPr lang="en-IN" sz="2000" b="1" spc="-25" dirty="0" smtClean="0"/>
              <a:t>Aim</a:t>
            </a:r>
          </a:p>
          <a:p>
            <a:pPr marL="356870" indent="-344170">
              <a:lnSpc>
                <a:spcPct val="100000"/>
              </a:lnSpc>
              <a:spcBef>
                <a:spcPts val="390"/>
              </a:spcBef>
              <a:buFont typeface="Arial MT"/>
              <a:buChar char="•"/>
              <a:tabLst>
                <a:tab pos="356870" algn="l"/>
              </a:tabLst>
            </a:pPr>
            <a:r>
              <a:rPr lang="en-IN" sz="2000" b="1" spc="-25" dirty="0" smtClean="0"/>
              <a:t>Objectives</a:t>
            </a:r>
          </a:p>
          <a:p>
            <a:pPr marL="356870" indent="-344170">
              <a:lnSpc>
                <a:spcPct val="100000"/>
              </a:lnSpc>
              <a:spcBef>
                <a:spcPts val="390"/>
              </a:spcBef>
              <a:buFont typeface="Arial MT"/>
              <a:buChar char="•"/>
              <a:tabLst>
                <a:tab pos="356870" algn="l"/>
              </a:tabLst>
            </a:pPr>
            <a:r>
              <a:rPr lang="en-IN" sz="2000" b="1" spc="-25" dirty="0" smtClean="0"/>
              <a:t>Methodology</a:t>
            </a:r>
          </a:p>
          <a:p>
            <a:pPr marL="356870" indent="-344170">
              <a:lnSpc>
                <a:spcPct val="100000"/>
              </a:lnSpc>
              <a:spcBef>
                <a:spcPts val="409"/>
              </a:spcBef>
              <a:buFont typeface="Arial MT"/>
              <a:buChar char="•"/>
              <a:tabLst>
                <a:tab pos="356870" algn="l"/>
              </a:tabLst>
            </a:pPr>
            <a:r>
              <a:rPr lang="en-IN" sz="2000" b="1" dirty="0" smtClean="0"/>
              <a:t>Dataset Implementation</a:t>
            </a:r>
          </a:p>
          <a:p>
            <a:pPr marL="356870" indent="-344170">
              <a:lnSpc>
                <a:spcPct val="100000"/>
              </a:lnSpc>
              <a:spcBef>
                <a:spcPts val="409"/>
              </a:spcBef>
              <a:buFont typeface="Arial MT"/>
              <a:buChar char="•"/>
              <a:tabLst>
                <a:tab pos="356870" algn="l"/>
              </a:tabLst>
            </a:pPr>
            <a:r>
              <a:rPr lang="en-IN" sz="2000" b="1" dirty="0" smtClean="0"/>
              <a:t>Feature Engineering and </a:t>
            </a:r>
            <a:r>
              <a:rPr lang="en-IN" sz="2000" b="1" dirty="0"/>
              <a:t>Working of Crowd Risk </a:t>
            </a:r>
            <a:r>
              <a:rPr lang="en-IN" sz="2000" b="1" dirty="0" smtClean="0"/>
              <a:t>Score</a:t>
            </a:r>
          </a:p>
          <a:p>
            <a:pPr marL="356870" indent="-344170">
              <a:lnSpc>
                <a:spcPct val="100000"/>
              </a:lnSpc>
              <a:spcBef>
                <a:spcPts val="409"/>
              </a:spcBef>
              <a:buFont typeface="Arial MT"/>
              <a:buChar char="•"/>
              <a:tabLst>
                <a:tab pos="356870" algn="l"/>
              </a:tabLst>
            </a:pPr>
            <a:r>
              <a:rPr lang="en-IN" sz="2000" b="1" dirty="0" smtClean="0"/>
              <a:t>Observation Tables</a:t>
            </a:r>
            <a:endParaRPr lang="en-IN" sz="2000" b="1" dirty="0"/>
          </a:p>
          <a:p>
            <a:pPr marL="356870" indent="-344170">
              <a:lnSpc>
                <a:spcPct val="100000"/>
              </a:lnSpc>
              <a:spcBef>
                <a:spcPts val="409"/>
              </a:spcBef>
              <a:buFont typeface="Arial MT"/>
              <a:buChar char="•"/>
              <a:tabLst>
                <a:tab pos="356870" algn="l"/>
              </a:tabLst>
            </a:pPr>
            <a:r>
              <a:rPr lang="en-IN" sz="2000" b="1" dirty="0" smtClean="0"/>
              <a:t>District Level Analysis</a:t>
            </a:r>
          </a:p>
          <a:p>
            <a:pPr marL="356870" indent="-344170">
              <a:lnSpc>
                <a:spcPct val="100000"/>
              </a:lnSpc>
              <a:spcBef>
                <a:spcPts val="409"/>
              </a:spcBef>
              <a:buFont typeface="Arial MT"/>
              <a:buChar char="•"/>
              <a:tabLst>
                <a:tab pos="356870" algn="l"/>
              </a:tabLst>
            </a:pPr>
            <a:r>
              <a:rPr lang="en-IN" sz="2000" b="1" dirty="0" smtClean="0"/>
              <a:t>Key Findings</a:t>
            </a:r>
          </a:p>
          <a:p>
            <a:pPr marL="356870" indent="-344170">
              <a:lnSpc>
                <a:spcPct val="100000"/>
              </a:lnSpc>
              <a:spcBef>
                <a:spcPts val="409"/>
              </a:spcBef>
              <a:buFont typeface="Arial MT"/>
              <a:buChar char="•"/>
              <a:tabLst>
                <a:tab pos="356870" algn="l"/>
              </a:tabLst>
            </a:pPr>
            <a:r>
              <a:rPr lang="en-IN" sz="2000" b="1" dirty="0" smtClean="0"/>
              <a:t>Limitations</a:t>
            </a:r>
          </a:p>
          <a:p>
            <a:pPr marL="356870" indent="-344170">
              <a:lnSpc>
                <a:spcPct val="100000"/>
              </a:lnSpc>
              <a:spcBef>
                <a:spcPts val="409"/>
              </a:spcBef>
              <a:buFont typeface="Arial MT"/>
              <a:buChar char="•"/>
              <a:tabLst>
                <a:tab pos="356870" algn="l"/>
              </a:tabLst>
            </a:pPr>
            <a:r>
              <a:rPr lang="en-IN" sz="2000" b="1" dirty="0" smtClean="0"/>
              <a:t>Conclusion</a:t>
            </a:r>
          </a:p>
          <a:p>
            <a:pPr marL="356870" indent="-344170">
              <a:lnSpc>
                <a:spcPct val="100000"/>
              </a:lnSpc>
              <a:spcBef>
                <a:spcPts val="409"/>
              </a:spcBef>
              <a:buFont typeface="Arial MT"/>
              <a:buChar char="•"/>
              <a:tabLst>
                <a:tab pos="356870" algn="l"/>
              </a:tabLst>
            </a:pPr>
            <a:r>
              <a:rPr lang="en-IN" sz="2000" b="1" dirty="0" smtClean="0"/>
              <a:t>Future Work </a:t>
            </a:r>
          </a:p>
          <a:p>
            <a:pPr marL="356870" indent="-344170">
              <a:lnSpc>
                <a:spcPct val="100000"/>
              </a:lnSpc>
              <a:spcBef>
                <a:spcPts val="409"/>
              </a:spcBef>
              <a:buFont typeface="Arial MT"/>
              <a:buChar char="•"/>
              <a:tabLst>
                <a:tab pos="356870" algn="l"/>
              </a:tabLst>
            </a:pPr>
            <a:r>
              <a:rPr lang="en-IN" sz="2000" b="1" dirty="0" smtClean="0"/>
              <a:t>References</a:t>
            </a:r>
          </a:p>
        </p:txBody>
      </p:sp>
      <p:pic>
        <p:nvPicPr>
          <p:cNvPr id="7" name="object 7"/>
          <p:cNvPicPr/>
          <p:nvPr/>
        </p:nvPicPr>
        <p:blipFill>
          <a:blip r:embed="rId2" cstate="print"/>
          <a:stretch>
            <a:fillRect/>
          </a:stretch>
        </p:blipFill>
        <p:spPr>
          <a:xfrm>
            <a:off x="238759" y="148241"/>
            <a:ext cx="812800" cy="808153"/>
          </a:xfrm>
          <a:prstGeom prst="rect">
            <a:avLst/>
          </a:prstGeom>
        </p:spPr>
      </p:pic>
      <p:pic>
        <p:nvPicPr>
          <p:cNvPr id="8" name="object 8"/>
          <p:cNvPicPr/>
          <p:nvPr/>
        </p:nvPicPr>
        <p:blipFill>
          <a:blip r:embed="rId3" cstate="print"/>
          <a:stretch>
            <a:fillRect/>
          </a:stretch>
        </p:blipFill>
        <p:spPr>
          <a:xfrm>
            <a:off x="11128813" y="145942"/>
            <a:ext cx="699940" cy="697423"/>
          </a:xfrm>
          <a:prstGeom prst="rect">
            <a:avLst/>
          </a:prstGeom>
        </p:spPr>
      </p:pic>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a:solidFill>
                  <a:srgbClr val="888888"/>
                </a:solidFill>
                <a:latin typeface="+mj-lt"/>
                <a:cs typeface="Calibri"/>
              </a:rPr>
              <a:t>1</a:t>
            </a:r>
            <a:endParaRPr sz="1400" dirty="0">
              <a:latin typeface="+mj-lt"/>
              <a:cs typeface="Calibri"/>
            </a:endParaRPr>
          </a:p>
        </p:txBody>
      </p:sp>
      <p:sp>
        <p:nvSpPr>
          <p:cNvPr id="12"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112103289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458469" y="1809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Introduction and Background</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5" name="Rectangle 1"/>
          <p:cNvSpPr>
            <a:spLocks noChangeArrowheads="1"/>
          </p:cNvSpPr>
          <p:nvPr/>
        </p:nvSpPr>
        <p:spPr bwMode="auto">
          <a:xfrm>
            <a:off x="139960" y="863833"/>
            <a:ext cx="11900452"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Arial" panose="020B0604020202020204" pitchFamily="34" charset="0"/>
              <a:buChar char="•"/>
            </a:pPr>
            <a:r>
              <a:rPr lang="en-GB" sz="2400" dirty="0"/>
              <a:t>Public transport plays an important role to meet the daily needs of people across any Indian cities. In Mangalore, KSRTC buses are widely used by students, office commuters, inter-district passengers etc. but there is a need to address the challenges of overcrowding during certain days especially at peak hours as it affects comfort and planning. </a:t>
            </a:r>
            <a:endParaRPr lang="en-GB" sz="2400" dirty="0" smtClean="0"/>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Most schedules do not give information about suitable travel timings or crowd levels. Also, existing studies focused only on real-time data, passenger counts, or automated systems which are not always accessible. As a result, there is a need for a simple approach that uses the publicly available data</a:t>
            </a:r>
            <a:r>
              <a:rPr lang="en-GB" sz="2400" dirty="0" smtClean="0"/>
              <a:t>.</a:t>
            </a:r>
          </a:p>
          <a:p>
            <a:pPr marL="285750" indent="-285750">
              <a:buFont typeface="Arial" panose="020B0604020202020204" pitchFamily="34" charset="0"/>
              <a:buChar char="•"/>
            </a:pPr>
            <a:endParaRPr lang="en-GB" sz="2400" dirty="0"/>
          </a:p>
          <a:p>
            <a:pPr marL="285750" indent="-285750">
              <a:buFont typeface="Arial" panose="020B0604020202020204" pitchFamily="34" charset="0"/>
              <a:buChar char="•"/>
            </a:pPr>
            <a:r>
              <a:rPr lang="en-GB" sz="2400" dirty="0"/>
              <a:t>This research uses KSRTC Mangalore bus </a:t>
            </a:r>
            <a:r>
              <a:rPr lang="en-GB" sz="2400" dirty="0" smtClean="0"/>
              <a:t>timetables </a:t>
            </a:r>
            <a:r>
              <a:rPr lang="en-GB" sz="2400" dirty="0"/>
              <a:t>and district-level indicators to analyse the </a:t>
            </a:r>
            <a:r>
              <a:rPr lang="en-GB" sz="2400" dirty="0" smtClean="0"/>
              <a:t>crowd intensity patterns</a:t>
            </a:r>
            <a:r>
              <a:rPr lang="en-GB" sz="2400" dirty="0"/>
              <a:t> </a:t>
            </a:r>
            <a:r>
              <a:rPr lang="en-GB" sz="2400" dirty="0" smtClean="0"/>
              <a:t>at peak </a:t>
            </a:r>
            <a:r>
              <a:rPr lang="en-GB" sz="2400" dirty="0"/>
              <a:t>time </a:t>
            </a:r>
            <a:r>
              <a:rPr lang="en-GB" sz="2400" dirty="0" smtClean="0"/>
              <a:t>slots where additional buses may be required. Along with that, </a:t>
            </a:r>
            <a:r>
              <a:rPr lang="en-GB" sz="2400" dirty="0"/>
              <a:t>the study identifies high and low demand time slots to support better bus allocation and reduce overcrowding.</a:t>
            </a:r>
          </a:p>
        </p:txBody>
      </p:sp>
      <p:sp>
        <p:nvSpPr>
          <p:cNvPr id="9"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1"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a:t>
            </a:r>
            <a:endParaRPr sz="1400" dirty="0">
              <a:latin typeface="+mj-lt"/>
              <a:cs typeface="Calibri"/>
            </a:endParaRPr>
          </a:p>
        </p:txBody>
      </p:sp>
      <p:sp>
        <p:nvSpPr>
          <p:cNvPr id="12"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8062234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Problem Statement</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7" name="Rectangle 2"/>
          <p:cNvSpPr>
            <a:spLocks noChangeArrowheads="1"/>
          </p:cNvSpPr>
          <p:nvPr/>
        </p:nvSpPr>
        <p:spPr bwMode="auto">
          <a:xfrm>
            <a:off x="238759" y="996940"/>
            <a:ext cx="11828753"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GB" sz="2800" dirty="0"/>
              <a:t>People using KSRTC buses depend on schedules to plan their journey. Though these give clear information about the route and the timings, they do not give the safest time periods or the crowd levels. As a result, people have to struggle with peak-hour congestion and crowded travel times. </a:t>
            </a:r>
            <a:endParaRPr lang="en-GB" sz="2800" dirty="0" smtClean="0"/>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a:t>Simultaneously, detailed passenger count data, real-time systems etc. are not publicly available, creating a gap between the required information for travel planning and the data accessible for analysis. </a:t>
            </a:r>
            <a:endParaRPr lang="en-GB" sz="2800" dirty="0" smtClean="0"/>
          </a:p>
          <a:p>
            <a:pPr marL="457200" indent="-457200">
              <a:buFont typeface="Arial" panose="020B0604020202020204" pitchFamily="34" charset="0"/>
              <a:buChar char="•"/>
            </a:pPr>
            <a:endParaRPr lang="en-GB" sz="2800" dirty="0"/>
          </a:p>
          <a:p>
            <a:pPr marL="457200" indent="-457200">
              <a:buFont typeface="Arial" panose="020B0604020202020204" pitchFamily="34" charset="0"/>
              <a:buChar char="•"/>
            </a:pPr>
            <a:r>
              <a:rPr lang="en-GB" sz="2800" dirty="0" smtClean="0"/>
              <a:t>There </a:t>
            </a:r>
            <a:r>
              <a:rPr lang="en-GB" sz="2800" dirty="0"/>
              <a:t>is a need for an approach where publicly available timetable data can be used to </a:t>
            </a:r>
            <a:r>
              <a:rPr lang="en-GB" sz="2800" dirty="0" smtClean="0"/>
              <a:t>find busy time slots where additional buses may be required and to support better bus frequency planning based on demand patterns.</a:t>
            </a:r>
            <a:endParaRPr lang="en-GB" sz="2800" dirty="0"/>
          </a:p>
        </p:txBody>
      </p:sp>
      <p:sp>
        <p:nvSpPr>
          <p:cNvPr id="10"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2"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3</a:t>
            </a:r>
            <a:endParaRPr sz="1400" dirty="0">
              <a:latin typeface="+mj-lt"/>
              <a:cs typeface="Calibri"/>
            </a:endParaRPr>
          </a:p>
        </p:txBody>
      </p:sp>
      <p:sp>
        <p:nvSpPr>
          <p:cNvPr id="14"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28496219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963183" y="202624"/>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Aim</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5" name="Rectangle 4"/>
          <p:cNvSpPr/>
          <p:nvPr/>
        </p:nvSpPr>
        <p:spPr>
          <a:xfrm>
            <a:off x="508522" y="2569756"/>
            <a:ext cx="11424921" cy="1384995"/>
          </a:xfrm>
          <a:prstGeom prst="rect">
            <a:avLst/>
          </a:prstGeom>
        </p:spPr>
        <p:txBody>
          <a:bodyPr wrap="square">
            <a:spAutoFit/>
          </a:bodyPr>
          <a:lstStyle/>
          <a:p>
            <a:r>
              <a:rPr lang="en-GB" sz="2800" dirty="0"/>
              <a:t>To analyse KSRTC Mangalore bus timetables to estimate route-wise crowd intensity levels and identify high and low demand time slots for effective bus allocation and improved management of peak-hour congestion.</a:t>
            </a:r>
          </a:p>
        </p:txBody>
      </p:sp>
      <p:sp>
        <p:nvSpPr>
          <p:cNvPr id="6"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7"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4</a:t>
            </a:r>
            <a:endParaRPr sz="1400" dirty="0">
              <a:latin typeface="+mj-lt"/>
              <a:cs typeface="Calibri"/>
            </a:endParaRPr>
          </a:p>
        </p:txBody>
      </p:sp>
      <p:sp>
        <p:nvSpPr>
          <p:cNvPr id="8"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4082481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2014330" y="177116"/>
            <a:ext cx="8829041"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Objectives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5" name="Rectangle 4"/>
          <p:cNvSpPr/>
          <p:nvPr/>
        </p:nvSpPr>
        <p:spPr>
          <a:xfrm>
            <a:off x="238759" y="1263038"/>
            <a:ext cx="11709401" cy="4832092"/>
          </a:xfrm>
          <a:prstGeom prst="rect">
            <a:avLst/>
          </a:prstGeom>
        </p:spPr>
        <p:txBody>
          <a:bodyPr wrap="square">
            <a:spAutoFit/>
          </a:bodyPr>
          <a:lstStyle/>
          <a:p>
            <a:r>
              <a:rPr lang="en-GB" sz="2800" dirty="0" smtClean="0"/>
              <a:t>a</a:t>
            </a:r>
            <a:r>
              <a:rPr lang="en-GB" sz="2800" dirty="0"/>
              <a:t>) To structure KSRTC Mangalore bus timetable data in Microsoft Excel, taking origin, destination, service type, via place, and departure times.</a:t>
            </a:r>
          </a:p>
          <a:p>
            <a:r>
              <a:rPr lang="en-GB" sz="2800" dirty="0"/>
              <a:t>b) To classify departure times into predefined time slots and integrate district-level population and urbanisation indicators to estimate relative crowd levels.</a:t>
            </a:r>
          </a:p>
          <a:p>
            <a:r>
              <a:rPr lang="en-GB" sz="2800" dirty="0"/>
              <a:t>c) To develop a framework to assign overcrowding risk levels to different routes and time slots based on structured secondary data.</a:t>
            </a:r>
          </a:p>
          <a:p>
            <a:r>
              <a:rPr lang="en-GB" sz="2800" dirty="0"/>
              <a:t>d) To create a Tableau-based dashboard to visualise estimated crowd levels and identify high and low demand time slots for better bus planning</a:t>
            </a:r>
            <a:r>
              <a:rPr lang="en-GB" sz="2800" dirty="0" smtClean="0"/>
              <a:t>.</a:t>
            </a:r>
          </a:p>
          <a:p>
            <a:r>
              <a:rPr lang="en-GB" sz="2800" dirty="0" smtClean="0"/>
              <a:t>e</a:t>
            </a:r>
            <a:r>
              <a:rPr lang="en-GB" sz="2800" dirty="0"/>
              <a:t>) To ensure the analysis is practical, transparent, and reproducible using publicly available data without relying on real-time passenger tracking or sensitive operational datasets.</a:t>
            </a:r>
          </a:p>
        </p:txBody>
      </p:sp>
      <p:sp>
        <p:nvSpPr>
          <p:cNvPr id="6"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7"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5</a:t>
            </a:r>
            <a:endParaRPr sz="1400" dirty="0">
              <a:latin typeface="+mj-lt"/>
              <a:cs typeface="Calibri"/>
            </a:endParaRPr>
          </a:p>
        </p:txBody>
      </p:sp>
      <p:sp>
        <p:nvSpPr>
          <p:cNvPr id="8"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144597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529877" y="1739647"/>
            <a:ext cx="11417936" cy="2677656"/>
          </a:xfrm>
          <a:prstGeom prst="rect">
            <a:avLst/>
          </a:prstGeom>
        </p:spPr>
        <p:txBody>
          <a:bodyPr wrap="square">
            <a:spAutoFit/>
          </a:bodyPr>
          <a:lstStyle/>
          <a:p>
            <a:r>
              <a:rPr lang="en-IN" sz="2800" dirty="0" smtClean="0"/>
              <a:t>Sample Size</a:t>
            </a:r>
            <a:endParaRPr lang="en-GB" sz="2800" dirty="0" smtClean="0"/>
          </a:p>
          <a:p>
            <a:endParaRPr lang="en-GB" sz="2800" dirty="0"/>
          </a:p>
          <a:p>
            <a:r>
              <a:rPr lang="en-GB" sz="2800" dirty="0"/>
              <a:t>The research considers </a:t>
            </a:r>
            <a:r>
              <a:rPr lang="en-GB" sz="2800" b="1" dirty="0"/>
              <a:t>all KSRTC Mangalore bus routes</a:t>
            </a:r>
            <a:r>
              <a:rPr lang="en-GB" sz="2800" dirty="0"/>
              <a:t> listed in the official timetable, including both intra city, inter-state and inter-district services. Since the study uses </a:t>
            </a:r>
            <a:r>
              <a:rPr lang="en-GB" sz="2800" b="1" dirty="0"/>
              <a:t>secondary data only</a:t>
            </a:r>
            <a:r>
              <a:rPr lang="en-GB" sz="2800" dirty="0"/>
              <a:t>, every available route in the timetable is treated as part of the sample.</a:t>
            </a:r>
          </a:p>
        </p:txBody>
      </p:sp>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Methodology</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6</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8667643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556382" y="870898"/>
            <a:ext cx="11417936" cy="5632311"/>
          </a:xfrm>
          <a:prstGeom prst="rect">
            <a:avLst/>
          </a:prstGeom>
        </p:spPr>
        <p:txBody>
          <a:bodyPr wrap="square">
            <a:spAutoFit/>
          </a:bodyPr>
          <a:lstStyle/>
          <a:p>
            <a:r>
              <a:rPr lang="en-GB" sz="2400" dirty="0" smtClean="0"/>
              <a:t>Sources </a:t>
            </a:r>
            <a:r>
              <a:rPr lang="en-GB" sz="2400" dirty="0"/>
              <a:t>and </a:t>
            </a:r>
            <a:r>
              <a:rPr lang="en-GB" sz="2400" dirty="0" smtClean="0"/>
              <a:t>Tools</a:t>
            </a:r>
          </a:p>
          <a:p>
            <a:endParaRPr lang="en-GB" sz="2400" dirty="0"/>
          </a:p>
          <a:p>
            <a:r>
              <a:rPr lang="en-GB" sz="2400" dirty="0"/>
              <a:t>Primary </a:t>
            </a:r>
            <a:r>
              <a:rPr lang="en-GB" sz="2400" dirty="0" smtClean="0"/>
              <a:t>Data: </a:t>
            </a:r>
            <a:r>
              <a:rPr lang="en-GB" sz="2400" dirty="0"/>
              <a:t>Not applicable (no field observations or real-time measurements</a:t>
            </a:r>
            <a:r>
              <a:rPr lang="en-GB" sz="2400" dirty="0" smtClean="0"/>
              <a:t>).</a:t>
            </a:r>
          </a:p>
          <a:p>
            <a:endParaRPr lang="en-GB" sz="2400" dirty="0"/>
          </a:p>
          <a:p>
            <a:r>
              <a:rPr lang="en-GB" sz="2400" dirty="0"/>
              <a:t>Secondary </a:t>
            </a:r>
            <a:r>
              <a:rPr lang="en-GB" sz="2400" dirty="0" smtClean="0"/>
              <a:t>Data:</a:t>
            </a:r>
            <a:endParaRPr lang="en-GB" sz="2400" dirty="0"/>
          </a:p>
          <a:p>
            <a:r>
              <a:rPr lang="en-GB" sz="2400" dirty="0"/>
              <a:t>a) KSRTC Mangalore official timetables (bus stand notices, PDF schedules, or website)</a:t>
            </a:r>
          </a:p>
          <a:p>
            <a:r>
              <a:rPr lang="en-GB" sz="2400" dirty="0"/>
              <a:t>b) Government census and urbanisation data for population indicators</a:t>
            </a:r>
            <a:r>
              <a:rPr lang="en-GB" sz="2400" dirty="0" smtClean="0"/>
              <a:t>.</a:t>
            </a:r>
          </a:p>
          <a:p>
            <a:endParaRPr lang="en-GB" sz="2400" dirty="0"/>
          </a:p>
          <a:p>
            <a:r>
              <a:rPr lang="en-GB" sz="2400" b="1" dirty="0"/>
              <a:t>Microsoft Excel:</a:t>
            </a:r>
            <a:r>
              <a:rPr lang="en-GB" sz="2400" dirty="0"/>
              <a:t> For structuring data, categorisation, and initial calculations</a:t>
            </a:r>
            <a:r>
              <a:rPr lang="en-GB" sz="2400" dirty="0" smtClean="0"/>
              <a:t>.</a:t>
            </a:r>
          </a:p>
          <a:p>
            <a:endParaRPr lang="en-GB" sz="2400" dirty="0"/>
          </a:p>
          <a:p>
            <a:r>
              <a:rPr lang="en-GB" sz="2400" b="1" dirty="0"/>
              <a:t>Python (Pandas, </a:t>
            </a:r>
            <a:r>
              <a:rPr lang="en-GB" sz="2400" b="1" dirty="0" err="1" smtClean="0"/>
              <a:t>NumPy</a:t>
            </a:r>
            <a:r>
              <a:rPr lang="en-GB" sz="2400" b="1" dirty="0" smtClean="0"/>
              <a:t>):</a:t>
            </a:r>
            <a:r>
              <a:rPr lang="en-GB" sz="2400" dirty="0" smtClean="0"/>
              <a:t> </a:t>
            </a:r>
            <a:r>
              <a:rPr lang="en-GB" sz="2400" dirty="0"/>
              <a:t>For data cleaning, feature engineering, and classification of crowd risk levels</a:t>
            </a:r>
            <a:r>
              <a:rPr lang="en-GB" sz="2400" dirty="0" smtClean="0"/>
              <a:t>.</a:t>
            </a:r>
          </a:p>
          <a:p>
            <a:endParaRPr lang="en-GB" sz="2400" dirty="0"/>
          </a:p>
          <a:p>
            <a:r>
              <a:rPr lang="en-GB" sz="2400" b="1" dirty="0"/>
              <a:t>Tableau:</a:t>
            </a:r>
            <a:r>
              <a:rPr lang="en-GB" sz="2400" dirty="0"/>
              <a:t> For creating an interactive dashboard that visualises route-wise crowd levels and recommends suitable travel time slots.</a:t>
            </a:r>
          </a:p>
        </p:txBody>
      </p:sp>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Methodology</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7</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6653685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556382" y="1019594"/>
            <a:ext cx="11417936" cy="5262979"/>
          </a:xfrm>
          <a:prstGeom prst="rect">
            <a:avLst/>
          </a:prstGeom>
        </p:spPr>
        <p:txBody>
          <a:bodyPr wrap="square">
            <a:spAutoFit/>
          </a:bodyPr>
          <a:lstStyle/>
          <a:p>
            <a:r>
              <a:rPr lang="en-GB" sz="2400" b="1" dirty="0" smtClean="0"/>
              <a:t>KSRTC Timetable Dataset:</a:t>
            </a:r>
          </a:p>
          <a:p>
            <a:pPr marL="457200" indent="-457200">
              <a:buAutoNum type="arabicPeriod"/>
            </a:pPr>
            <a:r>
              <a:rPr lang="en-IN" sz="2400" dirty="0" smtClean="0"/>
              <a:t>Source and Destination </a:t>
            </a:r>
          </a:p>
          <a:p>
            <a:pPr marL="457200" indent="-457200">
              <a:buAutoNum type="arabicPeriod"/>
            </a:pPr>
            <a:r>
              <a:rPr lang="en-IN" sz="2400" dirty="0" smtClean="0"/>
              <a:t>Service Class</a:t>
            </a:r>
          </a:p>
          <a:p>
            <a:pPr marL="457200" indent="-457200">
              <a:buAutoNum type="arabicPeriod"/>
            </a:pPr>
            <a:r>
              <a:rPr lang="en-IN" sz="2400" dirty="0" smtClean="0"/>
              <a:t>Via Place</a:t>
            </a:r>
          </a:p>
          <a:p>
            <a:pPr marL="457200" indent="-457200">
              <a:buAutoNum type="arabicPeriod"/>
            </a:pPr>
            <a:r>
              <a:rPr lang="en-IN" sz="2400" dirty="0" smtClean="0"/>
              <a:t>Time</a:t>
            </a:r>
          </a:p>
          <a:p>
            <a:pPr marL="457200" indent="-457200">
              <a:buAutoNum type="arabicPeriod"/>
            </a:pPr>
            <a:r>
              <a:rPr lang="en-IN" sz="2400" dirty="0" smtClean="0"/>
              <a:t>Slot Label</a:t>
            </a:r>
          </a:p>
          <a:p>
            <a:pPr marL="457200" indent="-457200">
              <a:buAutoNum type="arabicPeriod"/>
            </a:pPr>
            <a:endParaRPr lang="en-IN" sz="2400" b="1" dirty="0"/>
          </a:p>
          <a:p>
            <a:r>
              <a:rPr lang="en-IN" sz="2400" b="1" dirty="0" smtClean="0"/>
              <a:t>District-Level Demographic Dataset:</a:t>
            </a:r>
          </a:p>
          <a:p>
            <a:pPr marL="457200" indent="-457200">
              <a:buAutoNum type="arabicPeriod"/>
            </a:pPr>
            <a:r>
              <a:rPr lang="en-IN" sz="2400" dirty="0" smtClean="0"/>
              <a:t>District</a:t>
            </a:r>
          </a:p>
          <a:p>
            <a:pPr marL="457200" indent="-457200">
              <a:buAutoNum type="arabicPeriod"/>
            </a:pPr>
            <a:r>
              <a:rPr lang="en-IN" sz="2400" dirty="0" smtClean="0"/>
              <a:t>State</a:t>
            </a:r>
          </a:p>
          <a:p>
            <a:pPr marL="457200" indent="-457200">
              <a:buAutoNum type="arabicPeriod"/>
            </a:pPr>
            <a:r>
              <a:rPr lang="en-IN" sz="2400" dirty="0" smtClean="0"/>
              <a:t>Population (in millions)</a:t>
            </a:r>
          </a:p>
          <a:p>
            <a:pPr marL="457200" indent="-457200">
              <a:buAutoNum type="arabicPeriod"/>
            </a:pPr>
            <a:r>
              <a:rPr lang="en-IN" sz="2400" dirty="0" smtClean="0"/>
              <a:t>Urbanisation Level</a:t>
            </a:r>
          </a:p>
          <a:p>
            <a:pPr marL="457200" indent="-457200">
              <a:buAutoNum type="arabicPeriod"/>
            </a:pPr>
            <a:r>
              <a:rPr lang="en-IN" sz="2400" dirty="0" smtClean="0"/>
              <a:t>Region Type</a:t>
            </a:r>
          </a:p>
          <a:p>
            <a:pPr marL="457200" indent="-457200">
              <a:buAutoNum type="arabicPeriod"/>
            </a:pPr>
            <a:r>
              <a:rPr lang="en-IN" sz="2400" dirty="0" smtClean="0"/>
              <a:t>Interstate Flag</a:t>
            </a:r>
            <a:endParaRPr lang="en-GB" sz="2400" dirty="0"/>
          </a:p>
        </p:txBody>
      </p:sp>
      <p:sp>
        <p:nvSpPr>
          <p:cNvPr id="10" name="object 2"/>
          <p:cNvSpPr txBox="1">
            <a:spLocks/>
          </p:cNvSpPr>
          <p:nvPr/>
        </p:nvSpPr>
        <p:spPr>
          <a:xfrm>
            <a:off x="724851" y="147257"/>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Dataset Implementation</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8</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64217785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556382" y="870898"/>
            <a:ext cx="11417936" cy="5632311"/>
          </a:xfrm>
          <a:prstGeom prst="rect">
            <a:avLst/>
          </a:prstGeom>
        </p:spPr>
        <p:txBody>
          <a:bodyPr wrap="square">
            <a:spAutoFit/>
          </a:bodyPr>
          <a:lstStyle/>
          <a:p>
            <a:r>
              <a:rPr lang="en-GB" sz="2400" dirty="0" smtClean="0"/>
              <a:t>The following features were used in </a:t>
            </a:r>
            <a:r>
              <a:rPr lang="en-GB" sz="2400" smtClean="0"/>
              <a:t>feature engineering and crowd risk scoring:</a:t>
            </a:r>
            <a:endParaRPr lang="en-GB" sz="2400" dirty="0" smtClean="0"/>
          </a:p>
          <a:p>
            <a:pPr marL="457200" indent="-457200">
              <a:buAutoNum type="arabicPeriod"/>
            </a:pPr>
            <a:r>
              <a:rPr lang="en-IN" sz="2400" b="1" smtClean="0"/>
              <a:t>Population </a:t>
            </a:r>
            <a:r>
              <a:rPr lang="en-IN" sz="2400" b="1" dirty="0" smtClean="0"/>
              <a:t>(in millions</a:t>
            </a:r>
            <a:r>
              <a:rPr lang="en-IN" sz="2400" b="1" smtClean="0"/>
              <a:t>): </a:t>
            </a:r>
            <a:r>
              <a:rPr lang="en-IN" sz="2400" smtClean="0"/>
              <a:t>It explains about destination district connected to a bus route. </a:t>
            </a:r>
            <a:r>
              <a:rPr lang="en-IN" sz="2400" dirty="0" smtClean="0"/>
              <a:t>Population helps to understand the potential of travel. High population districts represent areas with high travel potential.</a:t>
            </a:r>
          </a:p>
          <a:p>
            <a:pPr marL="457200" indent="-457200">
              <a:buAutoNum type="arabicPeriod"/>
            </a:pPr>
            <a:endParaRPr lang="en-IN" sz="2400" dirty="0" smtClean="0"/>
          </a:p>
          <a:p>
            <a:pPr marL="457200" indent="-457200">
              <a:buAutoNum type="arabicPeriod"/>
            </a:pPr>
            <a:r>
              <a:rPr lang="en-IN" sz="2400" b="1" dirty="0" smtClean="0"/>
              <a:t>Urbanisation Level Number: </a:t>
            </a:r>
            <a:r>
              <a:rPr lang="en-IN" sz="2400" dirty="0" smtClean="0"/>
              <a:t>It represents the category of development of the destination. There are five urbanisation categories with their values: Top Urban – 5, Mid Urban – 4, Semi Urban – 3, Semi Rural – 2, Mid Rural – 1, Top Rural – 0. The numerical feature was used for analysis.</a:t>
            </a:r>
          </a:p>
          <a:p>
            <a:pPr marL="457200" indent="-457200">
              <a:buAutoNum type="arabicPeriod"/>
            </a:pPr>
            <a:endParaRPr lang="en-IN" sz="2400" dirty="0" smtClean="0"/>
          </a:p>
          <a:p>
            <a:pPr marL="457200" indent="-457200">
              <a:buAutoNum type="arabicPeriod"/>
            </a:pPr>
            <a:r>
              <a:rPr lang="en-IN" sz="2400" b="1" dirty="0" smtClean="0"/>
              <a:t>Interstate Flag: </a:t>
            </a:r>
            <a:r>
              <a:rPr lang="en-IN" sz="2400" dirty="0" smtClean="0"/>
              <a:t> It represents whether the route crosses the state boundaries or not. Interstate – 1, Intrastate – 0</a:t>
            </a:r>
          </a:p>
          <a:p>
            <a:pPr marL="457200" indent="-457200">
              <a:buAutoNum type="arabicPeriod"/>
            </a:pPr>
            <a:endParaRPr lang="en-IN" sz="2400" dirty="0" smtClean="0"/>
          </a:p>
          <a:p>
            <a:pPr marL="457200" indent="-457200">
              <a:buAutoNum type="arabicPeriod"/>
            </a:pPr>
            <a:r>
              <a:rPr lang="en-IN" sz="2400" b="1" dirty="0" smtClean="0"/>
              <a:t>Time Score:</a:t>
            </a:r>
            <a:r>
              <a:rPr lang="en-IN" sz="2400" dirty="0" smtClean="0"/>
              <a:t> It represents the intensity associated with different time slots. </a:t>
            </a:r>
          </a:p>
          <a:p>
            <a:r>
              <a:rPr lang="en-IN" sz="2400" dirty="0" smtClean="0"/>
              <a:t>6AM – 10AM, 10AM – 2PM, 2PM – 6PM: 3, 6PM – 10PM: 2, 10PM – 2AM, 2AM – 6AM: 1</a:t>
            </a:r>
          </a:p>
        </p:txBody>
      </p:sp>
      <p:sp>
        <p:nvSpPr>
          <p:cNvPr id="10" name="object 2"/>
          <p:cNvSpPr txBox="1">
            <a:spLocks/>
          </p:cNvSpPr>
          <p:nvPr/>
        </p:nvSpPr>
        <p:spPr>
          <a:xfrm>
            <a:off x="-581124" y="208813"/>
            <a:ext cx="10515600" cy="460946"/>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2400" b="1" spc="-10" dirty="0" smtClean="0">
                <a:latin typeface="+mn-lt"/>
              </a:rPr>
              <a:t>Feature Engineering and Working of Crowd Risk Score</a:t>
            </a:r>
            <a:endParaRPr lang="en-IN" sz="24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9</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5728022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556382" y="898728"/>
            <a:ext cx="11417936" cy="2492990"/>
          </a:xfrm>
          <a:prstGeom prst="rect">
            <a:avLst/>
          </a:prstGeom>
        </p:spPr>
        <p:txBody>
          <a:bodyPr wrap="square">
            <a:spAutoFit/>
          </a:bodyPr>
          <a:lstStyle/>
          <a:p>
            <a:r>
              <a:rPr lang="en-IN" sz="2400" dirty="0" smtClean="0"/>
              <a:t>The below given formula is used for calculating crowd risk score:</a:t>
            </a:r>
            <a:endParaRPr lang="en-GB" sz="3600" b="1" i="1" smtClean="0"/>
          </a:p>
          <a:p>
            <a:pPr algn="ctr"/>
            <a:r>
              <a:rPr lang="en-GB" sz="3600" b="1" i="1" dirty="0" err="1" smtClean="0"/>
              <a:t>Crowd_Risk_Score</a:t>
            </a:r>
            <a:r>
              <a:rPr lang="en-GB" sz="3600" b="1" i="1" dirty="0" smtClean="0"/>
              <a:t> </a:t>
            </a:r>
            <a:r>
              <a:rPr lang="en-GB" sz="3600" b="1" i="1" dirty="0"/>
              <a:t>= </a:t>
            </a:r>
            <a:endParaRPr lang="en-GB" sz="3600" b="1" i="1" dirty="0" smtClean="0"/>
          </a:p>
          <a:p>
            <a:pPr algn="ctr"/>
            <a:r>
              <a:rPr lang="en-GB" sz="3600" b="1" i="1" dirty="0" smtClean="0"/>
              <a:t>(</a:t>
            </a:r>
            <a:r>
              <a:rPr lang="en-GB" sz="3600" b="1" i="1" dirty="0"/>
              <a:t>Population * 0.3) +  (</a:t>
            </a:r>
            <a:r>
              <a:rPr lang="en-GB" sz="3600" b="1" i="1" dirty="0" err="1"/>
              <a:t>Urban_Level_Num</a:t>
            </a:r>
            <a:r>
              <a:rPr lang="en-GB" sz="3600" b="1" i="1" dirty="0"/>
              <a:t> * 0.2) </a:t>
            </a:r>
            <a:r>
              <a:rPr lang="en-GB" sz="3600" b="1" i="1" dirty="0" smtClean="0"/>
              <a:t>+</a:t>
            </a:r>
          </a:p>
          <a:p>
            <a:pPr algn="ctr"/>
            <a:r>
              <a:rPr lang="en-GB" sz="3600" b="1" i="1" dirty="0" smtClean="0"/>
              <a:t>(</a:t>
            </a:r>
            <a:r>
              <a:rPr lang="en-GB" sz="3600" b="1" i="1" dirty="0" err="1"/>
              <a:t>Interstate_Flag</a:t>
            </a:r>
            <a:r>
              <a:rPr lang="en-GB" sz="3600" b="1" i="1" dirty="0"/>
              <a:t> *  0.2) + (Time Score * 0.3)</a:t>
            </a:r>
            <a:endParaRPr lang="en-GB" sz="3600" b="1" dirty="0"/>
          </a:p>
          <a:p>
            <a:r>
              <a:rPr lang="en-IN" sz="2400" smtClean="0"/>
              <a:t> </a:t>
            </a:r>
            <a:endParaRPr lang="en-IN" sz="2400" dirty="0" smtClean="0"/>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10</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2" name="TextBox 1"/>
          <p:cNvSpPr txBox="1"/>
          <p:nvPr/>
        </p:nvSpPr>
        <p:spPr>
          <a:xfrm>
            <a:off x="556382" y="3068292"/>
            <a:ext cx="11417936" cy="3170099"/>
          </a:xfrm>
          <a:prstGeom prst="rect">
            <a:avLst/>
          </a:prstGeom>
          <a:noFill/>
        </p:spPr>
        <p:txBody>
          <a:bodyPr wrap="square" rtlCol="0">
            <a:spAutoFit/>
          </a:bodyPr>
          <a:lstStyle/>
          <a:p>
            <a:r>
              <a:rPr lang="en-IN" sz="2000" dirty="0" smtClean="0"/>
              <a:t>Let’s take an example:</a:t>
            </a:r>
          </a:p>
          <a:p>
            <a:r>
              <a:rPr lang="en-IN" sz="2000" dirty="0" smtClean="0"/>
              <a:t>Suppose take a route “</a:t>
            </a:r>
            <a:r>
              <a:rPr lang="en-IN" sz="2000" b="1" dirty="0" err="1" smtClean="0"/>
              <a:t>Puttur</a:t>
            </a:r>
            <a:r>
              <a:rPr lang="en-IN" sz="2000" b="1" dirty="0" smtClean="0"/>
              <a:t> To Panaji </a:t>
            </a:r>
            <a:r>
              <a:rPr lang="en-IN" sz="2000" dirty="0" smtClean="0"/>
              <a:t>”. </a:t>
            </a:r>
            <a:r>
              <a:rPr lang="en-IN" sz="2000" b="1" dirty="0" smtClean="0"/>
              <a:t>“Panaji” </a:t>
            </a:r>
            <a:r>
              <a:rPr lang="en-IN" sz="2000" dirty="0" smtClean="0"/>
              <a:t>belongs to </a:t>
            </a:r>
            <a:r>
              <a:rPr lang="en-IN" sz="2000" b="1" dirty="0" smtClean="0"/>
              <a:t>“North Goa” </a:t>
            </a:r>
            <a:r>
              <a:rPr lang="en-IN" sz="2000" dirty="0" smtClean="0"/>
              <a:t>district. Population of “</a:t>
            </a:r>
            <a:r>
              <a:rPr lang="en-IN" sz="2000" b="1" dirty="0" smtClean="0"/>
              <a:t>North Goa</a:t>
            </a:r>
            <a:r>
              <a:rPr lang="en-IN" sz="2000" dirty="0" smtClean="0"/>
              <a:t>” district is taken here, i.e. </a:t>
            </a:r>
            <a:r>
              <a:rPr lang="en-IN" sz="2000" b="1" dirty="0" smtClean="0"/>
              <a:t>0.85 (in millions). </a:t>
            </a:r>
            <a:r>
              <a:rPr lang="en-IN" sz="2000" dirty="0" smtClean="0"/>
              <a:t>Next, we take </a:t>
            </a:r>
            <a:r>
              <a:rPr lang="en-IN" sz="2000" dirty="0" err="1" smtClean="0"/>
              <a:t>Urban_Level_Num</a:t>
            </a:r>
            <a:r>
              <a:rPr lang="en-IN" sz="2000" dirty="0" smtClean="0"/>
              <a:t>, i.e. </a:t>
            </a:r>
            <a:r>
              <a:rPr lang="en-IN" sz="2000" b="1" dirty="0" smtClean="0"/>
              <a:t>0</a:t>
            </a:r>
            <a:r>
              <a:rPr lang="en-IN" sz="2000" dirty="0" smtClean="0"/>
              <a:t>, followed by </a:t>
            </a:r>
            <a:r>
              <a:rPr lang="en-IN" sz="2000" dirty="0" err="1" smtClean="0"/>
              <a:t>Interstate_Flag</a:t>
            </a:r>
            <a:r>
              <a:rPr lang="en-IN" sz="2000" dirty="0" smtClean="0"/>
              <a:t>, i.e. </a:t>
            </a:r>
            <a:r>
              <a:rPr lang="en-IN" sz="2000" b="1" dirty="0" smtClean="0"/>
              <a:t>1</a:t>
            </a:r>
            <a:r>
              <a:rPr lang="en-IN" sz="2000" dirty="0" smtClean="0"/>
              <a:t> and Time Score, i.e. </a:t>
            </a:r>
            <a:r>
              <a:rPr lang="en-IN" sz="2000" b="1" dirty="0" smtClean="0"/>
              <a:t>3</a:t>
            </a:r>
            <a:r>
              <a:rPr lang="en-IN" sz="2000" dirty="0" smtClean="0"/>
              <a:t>. Using the formula, we can determine the crowd risk score: </a:t>
            </a:r>
            <a:r>
              <a:rPr lang="en-IN" sz="2000" b="1" dirty="0" smtClean="0"/>
              <a:t>(0.85*0.3) + (0*0.2) + (1*0.2) + (3*0.3) = 1.355, </a:t>
            </a:r>
            <a:r>
              <a:rPr lang="en-IN" sz="2000" dirty="0" smtClean="0"/>
              <a:t>which implies it is “</a:t>
            </a:r>
            <a:r>
              <a:rPr lang="en-IN" sz="2000" b="1" dirty="0" smtClean="0"/>
              <a:t>Low</a:t>
            </a:r>
            <a:r>
              <a:rPr lang="en-IN" sz="2000" dirty="0" smtClean="0"/>
              <a:t>”. Here, the question is not only about how many travel on the bus, it is about </a:t>
            </a:r>
            <a:r>
              <a:rPr lang="en-IN" sz="2000" b="1" dirty="0" smtClean="0"/>
              <a:t>crowd intensity score </a:t>
            </a:r>
            <a:r>
              <a:rPr lang="en-IN" sz="2000" dirty="0" smtClean="0"/>
              <a:t>on that </a:t>
            </a:r>
            <a:r>
              <a:rPr lang="en-IN" sz="2000" b="1" dirty="0" smtClean="0"/>
              <a:t>route</a:t>
            </a:r>
            <a:r>
              <a:rPr lang="en-IN" sz="2000" dirty="0" smtClean="0"/>
              <a:t> to find out whether it</a:t>
            </a:r>
            <a:r>
              <a:rPr lang="en-IN" sz="2000" b="1" dirty="0" smtClean="0"/>
              <a:t> is operating well or not at the right time slot</a:t>
            </a:r>
            <a:r>
              <a:rPr lang="en-IN" sz="2000" dirty="0" smtClean="0"/>
              <a:t>. In other words, the route operates at </a:t>
            </a:r>
            <a:r>
              <a:rPr lang="en-IN" sz="2000" b="1" dirty="0" smtClean="0"/>
              <a:t>High Frequency </a:t>
            </a:r>
            <a:r>
              <a:rPr lang="en-IN" sz="2000" dirty="0" smtClean="0"/>
              <a:t>timing but </a:t>
            </a:r>
            <a:r>
              <a:rPr lang="en-IN" sz="2000" b="1" dirty="0" smtClean="0"/>
              <a:t>low</a:t>
            </a:r>
            <a:r>
              <a:rPr lang="en-IN" sz="2000" dirty="0" smtClean="0"/>
              <a:t> crowd risk. The framework is not about </a:t>
            </a:r>
            <a:r>
              <a:rPr lang="en-IN" sz="2000" b="1" dirty="0" smtClean="0"/>
              <a:t>passenger counts or overcrowding </a:t>
            </a:r>
            <a:r>
              <a:rPr lang="en-IN" sz="2000" dirty="0" smtClean="0"/>
              <a:t>but rather </a:t>
            </a:r>
            <a:r>
              <a:rPr lang="en-IN" sz="2000" b="1" dirty="0" smtClean="0"/>
              <a:t>a decision support tool</a:t>
            </a:r>
            <a:r>
              <a:rPr lang="en-IN" sz="2000" dirty="0" smtClean="0"/>
              <a:t> to understand the </a:t>
            </a:r>
            <a:r>
              <a:rPr lang="en-IN" sz="2000" b="1" dirty="0" smtClean="0"/>
              <a:t>operation pattern</a:t>
            </a:r>
            <a:r>
              <a:rPr lang="en-IN" sz="2000" dirty="0" smtClean="0"/>
              <a:t> across </a:t>
            </a:r>
            <a:r>
              <a:rPr lang="en-IN" sz="2000" b="1" dirty="0" smtClean="0"/>
              <a:t>routes and time slots</a:t>
            </a:r>
            <a:r>
              <a:rPr lang="en-IN" sz="2000" dirty="0" smtClean="0"/>
              <a:t>. Same way, it can be done for other routes as it helps in supporting bus allocation and frequency planning decisions. </a:t>
            </a:r>
          </a:p>
        </p:txBody>
      </p:sp>
      <p:sp>
        <p:nvSpPr>
          <p:cNvPr id="12" name="object 2"/>
          <p:cNvSpPr txBox="1">
            <a:spLocks/>
          </p:cNvSpPr>
          <p:nvPr/>
        </p:nvSpPr>
        <p:spPr>
          <a:xfrm>
            <a:off x="-581124" y="208813"/>
            <a:ext cx="10515600" cy="460946"/>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2400" b="1" spc="-10" dirty="0" smtClean="0">
                <a:latin typeface="+mn-lt"/>
              </a:rPr>
              <a:t>Feature Engineering and Working of Crowd Risk Score</a:t>
            </a:r>
            <a:endParaRPr lang="en-IN" sz="2400" b="1" spc="-10" dirty="0">
              <a:latin typeface="+mn-lt"/>
            </a:endParaRPr>
          </a:p>
        </p:txBody>
      </p:sp>
    </p:spTree>
    <p:extLst>
      <p:ext uri="{BB962C8B-B14F-4D97-AF65-F5344CB8AC3E}">
        <p14:creationId xmlns:p14="http://schemas.microsoft.com/office/powerpoint/2010/main" val="3317980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0" name="object 2"/>
          <p:cNvSpPr txBox="1">
            <a:spLocks/>
          </p:cNvSpPr>
          <p:nvPr/>
        </p:nvSpPr>
        <p:spPr>
          <a:xfrm>
            <a:off x="1408677" y="147257"/>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Observation Tables</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11</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graphicFrame>
        <p:nvGraphicFramePr>
          <p:cNvPr id="2" name="Table 1"/>
          <p:cNvGraphicFramePr>
            <a:graphicFrameLocks noGrp="1"/>
          </p:cNvGraphicFramePr>
          <p:nvPr>
            <p:extLst>
              <p:ext uri="{D42A27DB-BD31-4B8C-83A1-F6EECF244321}">
                <p14:modId xmlns:p14="http://schemas.microsoft.com/office/powerpoint/2010/main" val="475740986"/>
              </p:ext>
            </p:extLst>
          </p:nvPr>
        </p:nvGraphicFramePr>
        <p:xfrm>
          <a:off x="457200" y="983601"/>
          <a:ext cx="5989320" cy="1986915"/>
        </p:xfrm>
        <a:graphic>
          <a:graphicData uri="http://schemas.openxmlformats.org/drawingml/2006/table">
            <a:tbl>
              <a:tblPr>
                <a:tableStyleId>{5940675A-B579-460E-94D1-54222C63F5DA}</a:tableStyleId>
              </a:tblPr>
              <a:tblGrid>
                <a:gridCol w="1497330">
                  <a:extLst>
                    <a:ext uri="{9D8B030D-6E8A-4147-A177-3AD203B41FA5}">
                      <a16:colId xmlns:a16="http://schemas.microsoft.com/office/drawing/2014/main" val="1787082824"/>
                    </a:ext>
                  </a:extLst>
                </a:gridCol>
                <a:gridCol w="1497330">
                  <a:extLst>
                    <a:ext uri="{9D8B030D-6E8A-4147-A177-3AD203B41FA5}">
                      <a16:colId xmlns:a16="http://schemas.microsoft.com/office/drawing/2014/main" val="2345751847"/>
                    </a:ext>
                  </a:extLst>
                </a:gridCol>
                <a:gridCol w="1497330">
                  <a:extLst>
                    <a:ext uri="{9D8B030D-6E8A-4147-A177-3AD203B41FA5}">
                      <a16:colId xmlns:a16="http://schemas.microsoft.com/office/drawing/2014/main" val="60300349"/>
                    </a:ext>
                  </a:extLst>
                </a:gridCol>
                <a:gridCol w="1497330">
                  <a:extLst>
                    <a:ext uri="{9D8B030D-6E8A-4147-A177-3AD203B41FA5}">
                      <a16:colId xmlns:a16="http://schemas.microsoft.com/office/drawing/2014/main" val="743432593"/>
                    </a:ext>
                  </a:extLst>
                </a:gridCol>
              </a:tblGrid>
              <a:tr h="269737">
                <a:tc gridSpan="4">
                  <a:txBody>
                    <a:bodyPr/>
                    <a:lstStyle/>
                    <a:p>
                      <a:pPr algn="ctr" fontAlgn="b"/>
                      <a:r>
                        <a:rPr lang="en-GB" sz="1800" b="1" u="none" strike="noStrike" dirty="0" err="1">
                          <a:effectLst/>
                        </a:rPr>
                        <a:t>Population_Millions</a:t>
                      </a:r>
                      <a:r>
                        <a:rPr lang="en-GB" sz="1800" b="1" u="none" strike="noStrike" dirty="0">
                          <a:effectLst/>
                        </a:rPr>
                        <a:t> Categorisation</a:t>
                      </a:r>
                      <a:endParaRPr lang="en-GB" sz="18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348302486"/>
                  </a:ext>
                </a:extLst>
              </a:tr>
              <a:tr h="269737">
                <a:tc>
                  <a:txBody>
                    <a:bodyPr/>
                    <a:lstStyle/>
                    <a:p>
                      <a:pPr algn="ctr" fontAlgn="b"/>
                      <a:r>
                        <a:rPr lang="en-GB" sz="1800" b="1" u="none" strike="noStrike" dirty="0">
                          <a:effectLst/>
                        </a:rPr>
                        <a:t>&gt;2.9</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Very High</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Top Urban</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5</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50790913"/>
                  </a:ext>
                </a:extLst>
              </a:tr>
              <a:tr h="269737">
                <a:tc>
                  <a:txBody>
                    <a:bodyPr/>
                    <a:lstStyle/>
                    <a:p>
                      <a:pPr algn="ctr" fontAlgn="b"/>
                      <a:r>
                        <a:rPr lang="en-GB" sz="1800" b="1" u="none" strike="noStrike" dirty="0">
                          <a:effectLst/>
                        </a:rPr>
                        <a:t>2.2-2.8</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High</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Mid Urban</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4</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743251453"/>
                  </a:ext>
                </a:extLst>
              </a:tr>
              <a:tr h="269737">
                <a:tc>
                  <a:txBody>
                    <a:bodyPr/>
                    <a:lstStyle/>
                    <a:p>
                      <a:pPr algn="ctr" fontAlgn="b"/>
                      <a:r>
                        <a:rPr lang="en-GB" sz="1800" b="1" u="none" strike="noStrike">
                          <a:effectLst/>
                        </a:rPr>
                        <a:t>2.0-2.1</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Moderate</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Semi Urban</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3</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85626214"/>
                  </a:ext>
                </a:extLst>
              </a:tr>
              <a:tr h="269737">
                <a:tc>
                  <a:txBody>
                    <a:bodyPr/>
                    <a:lstStyle/>
                    <a:p>
                      <a:pPr algn="ctr" fontAlgn="b"/>
                      <a:r>
                        <a:rPr lang="en-GB" sz="1800" b="1" u="none" strike="noStrike">
                          <a:effectLst/>
                        </a:rPr>
                        <a:t>1.6-1.9</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Medium</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Semi Rural</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2</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09684569"/>
                  </a:ext>
                </a:extLst>
              </a:tr>
              <a:tr h="269737">
                <a:tc>
                  <a:txBody>
                    <a:bodyPr/>
                    <a:lstStyle/>
                    <a:p>
                      <a:pPr algn="ctr" fontAlgn="b"/>
                      <a:r>
                        <a:rPr lang="en-GB" sz="1800" b="1" u="none" strike="noStrike" dirty="0">
                          <a:effectLst/>
                        </a:rPr>
                        <a:t>1.3-1.5</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Low</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Mid Rural</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1</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21191289"/>
                  </a:ext>
                </a:extLst>
              </a:tr>
              <a:tr h="269737">
                <a:tc>
                  <a:txBody>
                    <a:bodyPr/>
                    <a:lstStyle/>
                    <a:p>
                      <a:pPr algn="ctr" fontAlgn="b"/>
                      <a:r>
                        <a:rPr lang="en-GB" sz="1800" b="1" u="none" strike="noStrike">
                          <a:effectLst/>
                        </a:rPr>
                        <a:t>0.0-1.2</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Very Low</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Top Rural</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0</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564417199"/>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440919102"/>
              </p:ext>
            </p:extLst>
          </p:nvPr>
        </p:nvGraphicFramePr>
        <p:xfrm>
          <a:off x="457200" y="3174584"/>
          <a:ext cx="5989320" cy="851535"/>
        </p:xfrm>
        <a:graphic>
          <a:graphicData uri="http://schemas.openxmlformats.org/drawingml/2006/table">
            <a:tbl>
              <a:tblPr>
                <a:tableStyleId>{5940675A-B579-460E-94D1-54222C63F5DA}</a:tableStyleId>
              </a:tblPr>
              <a:tblGrid>
                <a:gridCol w="1996440">
                  <a:extLst>
                    <a:ext uri="{9D8B030D-6E8A-4147-A177-3AD203B41FA5}">
                      <a16:colId xmlns:a16="http://schemas.microsoft.com/office/drawing/2014/main" val="2656248861"/>
                    </a:ext>
                  </a:extLst>
                </a:gridCol>
                <a:gridCol w="1996440">
                  <a:extLst>
                    <a:ext uri="{9D8B030D-6E8A-4147-A177-3AD203B41FA5}">
                      <a16:colId xmlns:a16="http://schemas.microsoft.com/office/drawing/2014/main" val="1875447114"/>
                    </a:ext>
                  </a:extLst>
                </a:gridCol>
                <a:gridCol w="1996440">
                  <a:extLst>
                    <a:ext uri="{9D8B030D-6E8A-4147-A177-3AD203B41FA5}">
                      <a16:colId xmlns:a16="http://schemas.microsoft.com/office/drawing/2014/main" val="413945839"/>
                    </a:ext>
                  </a:extLst>
                </a:gridCol>
              </a:tblGrid>
              <a:tr h="249009">
                <a:tc gridSpan="3">
                  <a:txBody>
                    <a:bodyPr/>
                    <a:lstStyle/>
                    <a:p>
                      <a:pPr algn="ctr" fontAlgn="b"/>
                      <a:r>
                        <a:rPr lang="en-GB" sz="1800" b="1" u="none" strike="noStrike" dirty="0" err="1">
                          <a:effectLst/>
                        </a:rPr>
                        <a:t>Interstate_Flag</a:t>
                      </a:r>
                      <a:r>
                        <a:rPr lang="en-GB" sz="1800" b="1" u="none" strike="noStrike" dirty="0">
                          <a:effectLst/>
                        </a:rPr>
                        <a:t> Categorisation</a:t>
                      </a:r>
                      <a:endParaRPr lang="en-GB" sz="18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111869328"/>
                  </a:ext>
                </a:extLst>
              </a:tr>
              <a:tr h="249009">
                <a:tc>
                  <a:txBody>
                    <a:bodyPr/>
                    <a:lstStyle/>
                    <a:p>
                      <a:pPr algn="ctr" fontAlgn="b"/>
                      <a:r>
                        <a:rPr lang="en-GB" sz="1800" b="1" u="none" strike="noStrike" dirty="0">
                          <a:effectLst/>
                        </a:rPr>
                        <a:t>Yes</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1</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Interstate</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71839245"/>
                  </a:ext>
                </a:extLst>
              </a:tr>
              <a:tr h="249009">
                <a:tc>
                  <a:txBody>
                    <a:bodyPr/>
                    <a:lstStyle/>
                    <a:p>
                      <a:pPr algn="ctr" fontAlgn="b"/>
                      <a:r>
                        <a:rPr lang="en-GB" sz="1800" b="1" u="none" strike="noStrike">
                          <a:effectLst/>
                        </a:rPr>
                        <a:t>No</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0</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Intrastate</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154249931"/>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263560387"/>
              </p:ext>
            </p:extLst>
          </p:nvPr>
        </p:nvGraphicFramePr>
        <p:xfrm>
          <a:off x="457200" y="4224433"/>
          <a:ext cx="5989320" cy="1986915"/>
        </p:xfrm>
        <a:graphic>
          <a:graphicData uri="http://schemas.openxmlformats.org/drawingml/2006/table">
            <a:tbl>
              <a:tblPr>
                <a:tableStyleId>{5940675A-B579-460E-94D1-54222C63F5DA}</a:tableStyleId>
              </a:tblPr>
              <a:tblGrid>
                <a:gridCol w="1497330">
                  <a:extLst>
                    <a:ext uri="{9D8B030D-6E8A-4147-A177-3AD203B41FA5}">
                      <a16:colId xmlns:a16="http://schemas.microsoft.com/office/drawing/2014/main" val="2707834782"/>
                    </a:ext>
                  </a:extLst>
                </a:gridCol>
                <a:gridCol w="1497330">
                  <a:extLst>
                    <a:ext uri="{9D8B030D-6E8A-4147-A177-3AD203B41FA5}">
                      <a16:colId xmlns:a16="http://schemas.microsoft.com/office/drawing/2014/main" val="3023765104"/>
                    </a:ext>
                  </a:extLst>
                </a:gridCol>
                <a:gridCol w="1497330">
                  <a:extLst>
                    <a:ext uri="{9D8B030D-6E8A-4147-A177-3AD203B41FA5}">
                      <a16:colId xmlns:a16="http://schemas.microsoft.com/office/drawing/2014/main" val="281309077"/>
                    </a:ext>
                  </a:extLst>
                </a:gridCol>
                <a:gridCol w="1497330">
                  <a:extLst>
                    <a:ext uri="{9D8B030D-6E8A-4147-A177-3AD203B41FA5}">
                      <a16:colId xmlns:a16="http://schemas.microsoft.com/office/drawing/2014/main" val="3486483775"/>
                    </a:ext>
                  </a:extLst>
                </a:gridCol>
              </a:tblGrid>
              <a:tr h="234710">
                <a:tc gridSpan="4">
                  <a:txBody>
                    <a:bodyPr/>
                    <a:lstStyle/>
                    <a:p>
                      <a:pPr algn="ctr" fontAlgn="b"/>
                      <a:r>
                        <a:rPr lang="en-GB" sz="1800" b="1" u="none" strike="noStrike" dirty="0">
                          <a:effectLst/>
                        </a:rPr>
                        <a:t>Time Score</a:t>
                      </a:r>
                      <a:endParaRPr lang="en-GB" sz="18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594591624"/>
                  </a:ext>
                </a:extLst>
              </a:tr>
              <a:tr h="234710">
                <a:tc>
                  <a:txBody>
                    <a:bodyPr/>
                    <a:lstStyle/>
                    <a:p>
                      <a:pPr algn="ctr" fontAlgn="b"/>
                      <a:r>
                        <a:rPr lang="en-GB" sz="1800" b="1" u="none" strike="noStrike" dirty="0">
                          <a:effectLst/>
                        </a:rPr>
                        <a:t>2 AM - 6 AM</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27</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1</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&lt;50</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08178939"/>
                  </a:ext>
                </a:extLst>
              </a:tr>
              <a:tr h="234710">
                <a:tc>
                  <a:txBody>
                    <a:bodyPr/>
                    <a:lstStyle/>
                    <a:p>
                      <a:pPr algn="ctr" fontAlgn="b"/>
                      <a:r>
                        <a:rPr lang="en-GB" sz="1800" b="1" u="none" strike="noStrike" dirty="0">
                          <a:effectLst/>
                        </a:rPr>
                        <a:t>6 AM - 10 AM</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130</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3</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&gt;100</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25055178"/>
                  </a:ext>
                </a:extLst>
              </a:tr>
              <a:tr h="234710">
                <a:tc>
                  <a:txBody>
                    <a:bodyPr/>
                    <a:lstStyle/>
                    <a:p>
                      <a:pPr algn="ctr" fontAlgn="b"/>
                      <a:r>
                        <a:rPr lang="en-GB" sz="1800" b="1" u="none" strike="noStrike">
                          <a:effectLst/>
                        </a:rPr>
                        <a:t>10 AM - 2 PM</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123</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3</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&gt;100</a:t>
                      </a:r>
                      <a:endParaRPr lang="en-GB" sz="18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475295616"/>
                  </a:ext>
                </a:extLst>
              </a:tr>
              <a:tr h="234710">
                <a:tc>
                  <a:txBody>
                    <a:bodyPr/>
                    <a:lstStyle/>
                    <a:p>
                      <a:pPr algn="ctr" fontAlgn="b"/>
                      <a:r>
                        <a:rPr lang="en-GB" sz="1800" b="1" u="none" strike="noStrike" dirty="0">
                          <a:effectLst/>
                        </a:rPr>
                        <a:t>2 PM - 6 PM</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142</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3</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&gt;100</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65368530"/>
                  </a:ext>
                </a:extLst>
              </a:tr>
              <a:tr h="234710">
                <a:tc>
                  <a:txBody>
                    <a:bodyPr/>
                    <a:lstStyle/>
                    <a:p>
                      <a:pPr algn="ctr" fontAlgn="b"/>
                      <a:r>
                        <a:rPr lang="en-GB" sz="1800" b="1" u="none" strike="noStrike">
                          <a:effectLst/>
                        </a:rPr>
                        <a:t>6 PM - 10 PM</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90</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2</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50-100</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638538295"/>
                  </a:ext>
                </a:extLst>
              </a:tr>
              <a:tr h="234710">
                <a:tc>
                  <a:txBody>
                    <a:bodyPr/>
                    <a:lstStyle/>
                    <a:p>
                      <a:pPr algn="ctr" fontAlgn="b"/>
                      <a:r>
                        <a:rPr lang="en-GB" sz="1800" b="1" u="none" strike="noStrike">
                          <a:effectLst/>
                        </a:rPr>
                        <a:t>10 PM - 2 AM</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29</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a:effectLst/>
                        </a:rPr>
                        <a:t>1</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&lt;50</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01631558"/>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049948354"/>
              </p:ext>
            </p:extLst>
          </p:nvPr>
        </p:nvGraphicFramePr>
        <p:xfrm>
          <a:off x="6934200" y="2371993"/>
          <a:ext cx="4907596" cy="1958340"/>
        </p:xfrm>
        <a:graphic>
          <a:graphicData uri="http://schemas.openxmlformats.org/drawingml/2006/table">
            <a:tbl>
              <a:tblPr>
                <a:tableStyleId>{5940675A-B579-460E-94D1-54222C63F5DA}</a:tableStyleId>
              </a:tblPr>
              <a:tblGrid>
                <a:gridCol w="1226899">
                  <a:extLst>
                    <a:ext uri="{9D8B030D-6E8A-4147-A177-3AD203B41FA5}">
                      <a16:colId xmlns:a16="http://schemas.microsoft.com/office/drawing/2014/main" val="1917229931"/>
                    </a:ext>
                  </a:extLst>
                </a:gridCol>
                <a:gridCol w="1226899">
                  <a:extLst>
                    <a:ext uri="{9D8B030D-6E8A-4147-A177-3AD203B41FA5}">
                      <a16:colId xmlns:a16="http://schemas.microsoft.com/office/drawing/2014/main" val="2989696850"/>
                    </a:ext>
                  </a:extLst>
                </a:gridCol>
                <a:gridCol w="2453798">
                  <a:extLst>
                    <a:ext uri="{9D8B030D-6E8A-4147-A177-3AD203B41FA5}">
                      <a16:colId xmlns:a16="http://schemas.microsoft.com/office/drawing/2014/main" val="2307873644"/>
                    </a:ext>
                  </a:extLst>
                </a:gridCol>
              </a:tblGrid>
              <a:tr h="190500">
                <a:tc gridSpan="3">
                  <a:txBody>
                    <a:bodyPr/>
                    <a:lstStyle/>
                    <a:p>
                      <a:pPr algn="ctr" fontAlgn="b"/>
                      <a:r>
                        <a:rPr lang="en-IN" sz="1800" b="1" i="0" u="none" strike="noStrike" dirty="0" err="1" smtClean="0">
                          <a:solidFill>
                            <a:srgbClr val="000000"/>
                          </a:solidFill>
                          <a:effectLst/>
                          <a:latin typeface="Calibri" panose="020F0502020204030204" pitchFamily="34" charset="0"/>
                        </a:rPr>
                        <a:t>Crowd_Risk_Score</a:t>
                      </a:r>
                      <a:endParaRPr lang="en-GB" sz="1800" b="1"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4138325501"/>
                  </a:ext>
                </a:extLst>
              </a:tr>
              <a:tr h="190500">
                <a:tc>
                  <a:txBody>
                    <a:bodyPr/>
                    <a:lstStyle/>
                    <a:p>
                      <a:pPr algn="ctr" fontAlgn="b"/>
                      <a:r>
                        <a:rPr lang="en-GB" sz="1800" b="1" u="none" strike="noStrike" dirty="0">
                          <a:effectLst/>
                        </a:rPr>
                        <a:t>0.0-2.4</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Low</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Minimal passenger congestion</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349334193"/>
                  </a:ext>
                </a:extLst>
              </a:tr>
              <a:tr h="190500">
                <a:tc>
                  <a:txBody>
                    <a:bodyPr/>
                    <a:lstStyle/>
                    <a:p>
                      <a:pPr algn="ctr" fontAlgn="b"/>
                      <a:r>
                        <a:rPr lang="en-GB" sz="1800" b="1" u="none" strike="noStrike">
                          <a:effectLst/>
                        </a:rPr>
                        <a:t>2.5-3.5</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Medium</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Moderate passenger congestion</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11230763"/>
                  </a:ext>
                </a:extLst>
              </a:tr>
              <a:tr h="190500">
                <a:tc>
                  <a:txBody>
                    <a:bodyPr/>
                    <a:lstStyle/>
                    <a:p>
                      <a:pPr algn="ctr" fontAlgn="b"/>
                      <a:r>
                        <a:rPr lang="en-GB" sz="1800" b="1" u="none" strike="noStrike">
                          <a:effectLst/>
                        </a:rPr>
                        <a:t>3.6-5.5</a:t>
                      </a:r>
                      <a:endParaRPr lang="en-GB" sz="1800" b="1"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High</a:t>
                      </a:r>
                      <a:endParaRPr lang="en-GB"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GB" sz="1800" b="1" u="none" strike="noStrike" dirty="0">
                          <a:effectLst/>
                        </a:rPr>
                        <a:t>Heavy passenger congestion</a:t>
                      </a:r>
                      <a:endParaRPr lang="en-GB" sz="18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768004849"/>
                  </a:ext>
                </a:extLst>
              </a:tr>
            </a:tbl>
          </a:graphicData>
        </a:graphic>
      </p:graphicFrame>
    </p:spTree>
    <p:extLst>
      <p:ext uri="{BB962C8B-B14F-4D97-AF65-F5344CB8AC3E}">
        <p14:creationId xmlns:p14="http://schemas.microsoft.com/office/powerpoint/2010/main" val="9704871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5" name="Rectangle 14"/>
          <p:cNvSpPr/>
          <p:nvPr/>
        </p:nvSpPr>
        <p:spPr>
          <a:xfrm>
            <a:off x="628868" y="5770913"/>
            <a:ext cx="11417936" cy="646331"/>
          </a:xfrm>
          <a:prstGeom prst="rect">
            <a:avLst/>
          </a:prstGeom>
        </p:spPr>
        <p:txBody>
          <a:bodyPr wrap="square">
            <a:spAutoFit/>
          </a:bodyPr>
          <a:lstStyle/>
          <a:p>
            <a:pPr algn="ctr"/>
            <a:r>
              <a:rPr lang="en-GB" dirty="0" smtClean="0"/>
              <a:t>This helps understand the </a:t>
            </a:r>
            <a:r>
              <a:rPr lang="en-GB" dirty="0"/>
              <a:t>travel </a:t>
            </a:r>
            <a:r>
              <a:rPr lang="en-GB" dirty="0" smtClean="0"/>
              <a:t>patterns across districts of the destination and </a:t>
            </a:r>
            <a:r>
              <a:rPr lang="en-GB" dirty="0"/>
              <a:t>help compare how </a:t>
            </a:r>
            <a:r>
              <a:rPr lang="en-GB" dirty="0" smtClean="0"/>
              <a:t>the routes contribute </a:t>
            </a:r>
            <a:r>
              <a:rPr lang="en-GB" dirty="0"/>
              <a:t>to crowd </a:t>
            </a:r>
            <a:r>
              <a:rPr lang="en-GB" dirty="0" smtClean="0"/>
              <a:t>intensity</a:t>
            </a:r>
            <a:r>
              <a:rPr lang="en-GB" dirty="0"/>
              <a:t> </a:t>
            </a:r>
            <a:r>
              <a:rPr lang="en-GB" dirty="0" smtClean="0"/>
              <a:t>by taking district population, state, urbanisation level, region type and interstate flag. </a:t>
            </a:r>
            <a:endParaRPr lang="en-GB" dirty="0"/>
          </a:p>
        </p:txBody>
      </p:sp>
      <p:sp>
        <p:nvSpPr>
          <p:cNvPr id="10" name="object 2"/>
          <p:cNvSpPr txBox="1">
            <a:spLocks/>
          </p:cNvSpPr>
          <p:nvPr/>
        </p:nvSpPr>
        <p:spPr>
          <a:xfrm>
            <a:off x="1080036" y="147257"/>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District Level Analysis</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12</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8270"/>
          <a:stretch/>
        </p:blipFill>
        <p:spPr>
          <a:xfrm>
            <a:off x="1078850" y="955410"/>
            <a:ext cx="10967954" cy="4648089"/>
          </a:xfrm>
          <a:prstGeom prst="rect">
            <a:avLst/>
          </a:prstGeom>
        </p:spPr>
      </p:pic>
    </p:spTree>
    <p:extLst>
      <p:ext uri="{BB962C8B-B14F-4D97-AF65-F5344CB8AC3E}">
        <p14:creationId xmlns:p14="http://schemas.microsoft.com/office/powerpoint/2010/main" val="3860346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Key Findings</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13</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5" name="Rectangle 2"/>
          <p:cNvSpPr>
            <a:spLocks noChangeArrowheads="1"/>
          </p:cNvSpPr>
          <p:nvPr/>
        </p:nvSpPr>
        <p:spPr bwMode="auto">
          <a:xfrm rot="10800000" flipV="1">
            <a:off x="673636" y="1010775"/>
            <a:ext cx="11080114" cy="4278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3200" b="0" i="0" u="none" strike="noStrike" cap="none" normalizeH="0" baseline="0" dirty="0" smtClean="0">
              <a:ln>
                <a:noFill/>
              </a:ln>
              <a:solidFill>
                <a:schemeClr val="tx1"/>
              </a:solidFill>
              <a:effectLst/>
            </a:endParaRPr>
          </a:p>
          <a:p>
            <a:pPr marL="457200" lvl="0" indent="-457200" eaLnBrk="0" fontAlgn="base" hangingPunct="0">
              <a:spcBef>
                <a:spcPct val="0"/>
              </a:spcBef>
              <a:spcAft>
                <a:spcPct val="0"/>
              </a:spcAft>
              <a:buFont typeface="Arial" panose="020B0604020202020204" pitchFamily="34" charset="0"/>
              <a:buChar char="•"/>
            </a:pPr>
            <a:r>
              <a:rPr kumimoji="0" lang="en-US" altLang="en-US" sz="2400" b="0" i="0" u="none" strike="noStrike" cap="none" normalizeH="0" baseline="0" dirty="0" smtClean="0">
                <a:ln>
                  <a:noFill/>
                </a:ln>
                <a:solidFill>
                  <a:schemeClr val="tx1"/>
                </a:solidFill>
                <a:effectLst/>
                <a:cs typeface="Times New Roman" panose="02020603050405020304" pitchFamily="18" charset="0"/>
              </a:rPr>
              <a:t>Peak intensity was observed during the following time slots: 6 AM–10 AM, 10 AM</a:t>
            </a:r>
            <a:r>
              <a:rPr lang="en-US" altLang="en-US" sz="2400" dirty="0" smtClean="0">
                <a:cs typeface="Times New Roman" panose="02020603050405020304" pitchFamily="18" charset="0"/>
              </a:rPr>
              <a:t>–2 PM</a:t>
            </a:r>
            <a:r>
              <a:rPr kumimoji="0" lang="en-US" altLang="en-US" sz="2400" b="0" i="0" u="none" strike="noStrike" cap="none" normalizeH="0" baseline="0" dirty="0" smtClean="0">
                <a:ln>
                  <a:noFill/>
                </a:ln>
                <a:solidFill>
                  <a:schemeClr val="tx1"/>
                </a:solidFill>
                <a:effectLst/>
                <a:cs typeface="Times New Roman" panose="02020603050405020304" pitchFamily="18" charset="0"/>
              </a:rPr>
              <a:t> and 2 PM–6 PM. </a:t>
            </a:r>
          </a:p>
          <a:p>
            <a:pPr marL="457200" lvl="0" indent="-457200" eaLnBrk="0" fontAlgn="base" hangingPunct="0">
              <a:spcBef>
                <a:spcPct val="0"/>
              </a:spcBef>
              <a:spcAft>
                <a:spcPct val="0"/>
              </a:spcAft>
              <a:buFont typeface="Arial" panose="020B0604020202020204" pitchFamily="34" charset="0"/>
              <a:buChar char="•"/>
            </a:pPr>
            <a:endParaRPr kumimoji="0" lang="en-US" altLang="en-US" sz="2400" b="0" i="0" u="none" strike="noStrike" cap="none" normalizeH="0" baseline="0" dirty="0" smtClean="0">
              <a:ln>
                <a:noFill/>
              </a:ln>
              <a:solidFill>
                <a:schemeClr val="tx1"/>
              </a:solidFill>
              <a:effectLst/>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cs typeface="Times New Roman" panose="02020603050405020304" pitchFamily="18" charset="0"/>
              </a:rPr>
              <a:t>Timetable patterns influence intensity estimation.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smtClean="0">
              <a:ln>
                <a:noFill/>
              </a:ln>
              <a:solidFill>
                <a:schemeClr val="tx1"/>
              </a:solidFill>
              <a:effectLst/>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cs typeface="Times New Roman" panose="02020603050405020304" pitchFamily="18" charset="0"/>
              </a:rPr>
              <a:t>District indicators give additional information.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smtClean="0">
              <a:ln>
                <a:noFill/>
              </a:ln>
              <a:solidFill>
                <a:schemeClr val="tx1"/>
              </a:solidFill>
              <a:effectLst/>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cs typeface="Times New Roman" panose="02020603050405020304" pitchFamily="18" charset="0"/>
              </a:rPr>
              <a:t>Dashboard gives comparison across routes and districts. </a:t>
            </a: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smtClean="0">
              <a:ln>
                <a:noFill/>
              </a:ln>
              <a:solidFill>
                <a:schemeClr val="tx1"/>
              </a:solidFill>
              <a:effectLst/>
              <a:cs typeface="Times New Roman" panose="02020603050405020304" pitchFamily="18" charset="0"/>
            </a:endParaRPr>
          </a:p>
          <a:p>
            <a:pPr marL="457200" marR="0" lvl="0" indent="-4572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cs typeface="Times New Roman" panose="02020603050405020304" pitchFamily="18" charset="0"/>
              </a:rPr>
              <a:t>Publicly available data can support transport analysis. </a:t>
            </a:r>
          </a:p>
        </p:txBody>
      </p:sp>
    </p:spTree>
    <p:extLst>
      <p:ext uri="{BB962C8B-B14F-4D97-AF65-F5344CB8AC3E}">
        <p14:creationId xmlns:p14="http://schemas.microsoft.com/office/powerpoint/2010/main" val="511148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Limitations</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14</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6" name="Rectangle 2"/>
          <p:cNvSpPr>
            <a:spLocks noChangeArrowheads="1"/>
          </p:cNvSpPr>
          <p:nvPr/>
        </p:nvSpPr>
        <p:spPr bwMode="auto">
          <a:xfrm rot="10800000" flipV="1">
            <a:off x="609916" y="1386927"/>
            <a:ext cx="11231880"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rPr>
              <a:t>No real-time passenger occupancy data</a:t>
            </a:r>
            <a:r>
              <a:rPr kumimoji="0" lang="en-US" altLang="en-US" sz="2400" b="0" i="0" u="none" strike="noStrike" cap="none" normalizeH="0" dirty="0" smtClean="0">
                <a:ln>
                  <a:noFill/>
                </a:ln>
                <a:solidFill>
                  <a:schemeClr val="tx1"/>
                </a:solidFill>
                <a:effectLst/>
              </a:rPr>
              <a:t> was used.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rPr>
              <a:t>No ticketing data.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smtClean="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rPr>
              <a:t>Crowd intensity is estimated, not directly measured.</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smtClean="0">
                <a:ln>
                  <a:noFill/>
                </a:ln>
                <a:solidFill>
                  <a:schemeClr val="tx1"/>
                </a:solidFill>
                <a:effectLst/>
              </a:rPr>
              <a:t>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smtClean="0">
                <a:ln>
                  <a:noFill/>
                </a:ln>
                <a:solidFill>
                  <a:schemeClr val="tx1"/>
                </a:solidFill>
                <a:effectLst/>
              </a:rPr>
              <a:t>Results depend on selected indicators and scoring rules. </a:t>
            </a:r>
          </a:p>
        </p:txBody>
      </p:sp>
    </p:spTree>
    <p:extLst>
      <p:ext uri="{BB962C8B-B14F-4D97-AF65-F5344CB8AC3E}">
        <p14:creationId xmlns:p14="http://schemas.microsoft.com/office/powerpoint/2010/main" val="50362334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Conclusion</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15</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6" name="Rectangle 2"/>
          <p:cNvSpPr>
            <a:spLocks noChangeArrowheads="1"/>
          </p:cNvSpPr>
          <p:nvPr/>
        </p:nvSpPr>
        <p:spPr bwMode="auto">
          <a:xfrm rot="10800000" flipV="1">
            <a:off x="609916" y="1210248"/>
            <a:ext cx="1123188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Arial" panose="020B0604020202020204" pitchFamily="34" charset="0"/>
              <a:buChar char="•"/>
            </a:pPr>
            <a:r>
              <a:rPr lang="en-GB" sz="2400" dirty="0"/>
              <a:t>This research </a:t>
            </a:r>
            <a:r>
              <a:rPr lang="en-GB" sz="2400" dirty="0" smtClean="0"/>
              <a:t>used timetable </a:t>
            </a:r>
            <a:r>
              <a:rPr lang="en-GB" sz="2400" dirty="0"/>
              <a:t>and population-based approach to analyse crowd intensity patterns in </a:t>
            </a:r>
            <a:r>
              <a:rPr lang="en-GB" sz="2400" dirty="0" smtClean="0"/>
              <a:t>KSRTC across </a:t>
            </a:r>
            <a:r>
              <a:rPr lang="en-GB" sz="2400" dirty="0"/>
              <a:t>different routes and time slots</a:t>
            </a:r>
            <a:r>
              <a:rPr lang="en-GB" sz="2400" dirty="0" smtClean="0"/>
              <a:t>.</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smtClean="0"/>
              <a:t>The </a:t>
            </a:r>
            <a:r>
              <a:rPr lang="en-GB" sz="2400" dirty="0"/>
              <a:t>analysis </a:t>
            </a:r>
            <a:r>
              <a:rPr lang="en-GB" sz="2400" dirty="0" smtClean="0"/>
              <a:t>found </a:t>
            </a:r>
            <a:r>
              <a:rPr lang="en-GB" sz="2400" dirty="0"/>
              <a:t>peak time slots and classified </a:t>
            </a:r>
            <a:r>
              <a:rPr lang="en-GB" sz="2400" dirty="0" smtClean="0"/>
              <a:t>the routes </a:t>
            </a:r>
            <a:r>
              <a:rPr lang="en-GB" sz="2400" dirty="0"/>
              <a:t>into Very Low, Low, Moderate, Medium, High and Very High crowd risk categories using </a:t>
            </a:r>
            <a:r>
              <a:rPr lang="en-GB" sz="2400" dirty="0" smtClean="0"/>
              <a:t>rule-based crowd risk </a:t>
            </a:r>
            <a:r>
              <a:rPr lang="en-GB" sz="2400" dirty="0"/>
              <a:t>scoring framework. </a:t>
            </a:r>
            <a:endParaRPr lang="en-GB" sz="2400" dirty="0" smtClean="0"/>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smtClean="0"/>
              <a:t>Tableau visualizations interpreted route-level </a:t>
            </a:r>
            <a:r>
              <a:rPr lang="en-GB" sz="2400" dirty="0"/>
              <a:t>and district-level patterns</a:t>
            </a:r>
            <a:r>
              <a:rPr lang="en-GB" sz="2400" dirty="0" smtClean="0"/>
              <a:t>.</a:t>
            </a:r>
          </a:p>
          <a:p>
            <a:pPr marL="342900" indent="-342900">
              <a:buFont typeface="Arial" panose="020B0604020202020204" pitchFamily="34" charset="0"/>
              <a:buChar char="•"/>
            </a:pPr>
            <a:endParaRPr lang="en-GB" sz="2400" dirty="0"/>
          </a:p>
          <a:p>
            <a:pPr marL="342900" indent="-342900">
              <a:buFont typeface="Arial" panose="020B0604020202020204" pitchFamily="34" charset="0"/>
              <a:buChar char="•"/>
            </a:pPr>
            <a:r>
              <a:rPr lang="en-GB" sz="2400" dirty="0" smtClean="0"/>
              <a:t>The </a:t>
            </a:r>
            <a:r>
              <a:rPr lang="en-GB" sz="2400" dirty="0"/>
              <a:t>study shows that publicly available transport and demographic data can be used to support crowd intensity analysis without real-time passenger counting systems</a:t>
            </a:r>
            <a:r>
              <a:rPr lang="en-GB" sz="2400" dirty="0" smtClean="0"/>
              <a:t>.</a:t>
            </a:r>
            <a:endParaRPr lang="en-GB" sz="2400" dirty="0"/>
          </a:p>
        </p:txBody>
      </p:sp>
    </p:spTree>
    <p:extLst>
      <p:ext uri="{BB962C8B-B14F-4D97-AF65-F5344CB8AC3E}">
        <p14:creationId xmlns:p14="http://schemas.microsoft.com/office/powerpoint/2010/main" val="4855962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7"/>
          <p:cNvPicPr/>
          <p:nvPr/>
        </p:nvPicPr>
        <p:blipFill>
          <a:blip r:embed="rId2" cstate="print"/>
          <a:stretch>
            <a:fillRect/>
          </a:stretch>
        </p:blipFill>
        <p:spPr>
          <a:xfrm>
            <a:off x="267236" y="90575"/>
            <a:ext cx="812800" cy="808153"/>
          </a:xfrm>
          <a:prstGeom prst="rect">
            <a:avLst/>
          </a:prstGeom>
        </p:spPr>
      </p:pic>
      <p:pic>
        <p:nvPicPr>
          <p:cNvPr id="4" name="object 8"/>
          <p:cNvPicPr/>
          <p:nvPr/>
        </p:nvPicPr>
        <p:blipFill>
          <a:blip r:embed="rId3" cstate="print"/>
          <a:stretch>
            <a:fillRect/>
          </a:stretch>
        </p:blipFill>
        <p:spPr>
          <a:xfrm>
            <a:off x="11141856" y="90575"/>
            <a:ext cx="699940" cy="697423"/>
          </a:xfrm>
          <a:prstGeom prst="rect">
            <a:avLst/>
          </a:prstGeom>
        </p:spPr>
      </p:pic>
      <p:sp>
        <p:nvSpPr>
          <p:cNvPr id="10" name="object 2"/>
          <p:cNvSpPr txBox="1">
            <a:spLocks/>
          </p:cNvSpPr>
          <p:nvPr/>
        </p:nvSpPr>
        <p:spPr>
          <a:xfrm>
            <a:off x="1676400" y="202622"/>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Future Work</a:t>
            </a:r>
            <a:endParaRPr lang="en-IN" sz="3200" b="1" spc="-10" dirty="0">
              <a:latin typeface="+mn-lt"/>
            </a:endParaRPr>
          </a:p>
        </p:txBody>
      </p:sp>
      <p:sp>
        <p:nvSpPr>
          <p:cNvPr id="11"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3"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16</a:t>
            </a:r>
            <a:endParaRPr sz="1400" dirty="0">
              <a:latin typeface="+mj-lt"/>
              <a:cs typeface="Calibri"/>
            </a:endParaRPr>
          </a:p>
        </p:txBody>
      </p:sp>
      <p:sp>
        <p:nvSpPr>
          <p:cNvPr id="16" name="object 5"/>
          <p:cNvSpPr txBox="1"/>
          <p:nvPr/>
        </p:nvSpPr>
        <p:spPr>
          <a:xfrm>
            <a:off x="2776661" y="651417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6" name="Rectangle 2"/>
          <p:cNvSpPr>
            <a:spLocks noChangeArrowheads="1"/>
          </p:cNvSpPr>
          <p:nvPr/>
        </p:nvSpPr>
        <p:spPr bwMode="auto">
          <a:xfrm rot="10800000" flipV="1">
            <a:off x="609916" y="1276677"/>
            <a:ext cx="1123188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r>
              <a:rPr lang="en-GB" sz="2400" dirty="0"/>
              <a:t>Future work can improve the system by making use of:</a:t>
            </a:r>
          </a:p>
          <a:p>
            <a:pPr lvl="0"/>
            <a:endParaRPr lang="en-GB" sz="2400" dirty="0" smtClean="0"/>
          </a:p>
          <a:p>
            <a:pPr marL="342900" lvl="0" indent="-342900">
              <a:buFont typeface="Arial" panose="020B0604020202020204" pitchFamily="34" charset="0"/>
              <a:buChar char="•"/>
            </a:pPr>
            <a:r>
              <a:rPr lang="en-GB" sz="2400" dirty="0" smtClean="0"/>
              <a:t>Real-time </a:t>
            </a:r>
            <a:r>
              <a:rPr lang="en-GB" sz="2400" dirty="0"/>
              <a:t>passenger count data.</a:t>
            </a:r>
          </a:p>
          <a:p>
            <a:pPr marL="342900" lvl="0" indent="-342900">
              <a:buFont typeface="Arial" panose="020B0604020202020204" pitchFamily="34" charset="0"/>
              <a:buChar char="•"/>
            </a:pPr>
            <a:r>
              <a:rPr lang="en-GB" sz="2400" dirty="0"/>
              <a:t>GPS tracking.</a:t>
            </a:r>
          </a:p>
          <a:p>
            <a:pPr marL="342900" lvl="0" indent="-342900">
              <a:buFont typeface="Arial" panose="020B0604020202020204" pitchFamily="34" charset="0"/>
              <a:buChar char="•"/>
            </a:pPr>
            <a:r>
              <a:rPr lang="en-GB" sz="2400" dirty="0"/>
              <a:t>Ticket booking and occupancy.</a:t>
            </a:r>
          </a:p>
          <a:p>
            <a:pPr marL="342900" lvl="0" indent="-342900">
              <a:buFont typeface="Arial" panose="020B0604020202020204" pitchFamily="34" charset="0"/>
              <a:buChar char="•"/>
            </a:pPr>
            <a:r>
              <a:rPr lang="en-GB" sz="2400" dirty="0"/>
              <a:t>Seasonal and festival patterns.</a:t>
            </a:r>
          </a:p>
          <a:p>
            <a:pPr marL="342900" lvl="0" indent="-342900">
              <a:buFont typeface="Arial" panose="020B0604020202020204" pitchFamily="34" charset="0"/>
              <a:buChar char="•"/>
            </a:pPr>
            <a:r>
              <a:rPr lang="en-GB" sz="2400" dirty="0"/>
              <a:t>ML models to predict crowding.</a:t>
            </a:r>
          </a:p>
          <a:p>
            <a:endParaRPr lang="en-GB" sz="2400" dirty="0"/>
          </a:p>
          <a:p>
            <a:r>
              <a:rPr lang="en-GB" sz="2400" dirty="0" smtClean="0"/>
              <a:t>These </a:t>
            </a:r>
            <a:r>
              <a:rPr lang="en-GB" sz="2400" dirty="0"/>
              <a:t>improve the accuracy and crowd intensity estimation in public transport.</a:t>
            </a:r>
          </a:p>
        </p:txBody>
      </p:sp>
    </p:spTree>
    <p:extLst>
      <p:ext uri="{BB962C8B-B14F-4D97-AF65-F5344CB8AC3E}">
        <p14:creationId xmlns:p14="http://schemas.microsoft.com/office/powerpoint/2010/main" val="41827797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17</a:t>
            </a:r>
            <a:endParaRPr sz="1400" dirty="0">
              <a:latin typeface="+mj-lt"/>
              <a:cs typeface="Calibri"/>
            </a:endParaRPr>
          </a:p>
        </p:txBody>
      </p:sp>
      <p:sp>
        <p:nvSpPr>
          <p:cNvPr id="11"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
        <p:nvSpPr>
          <p:cNvPr id="12" name="Rectangle 11"/>
          <p:cNvSpPr/>
          <p:nvPr/>
        </p:nvSpPr>
        <p:spPr>
          <a:xfrm>
            <a:off x="357433" y="999985"/>
            <a:ext cx="11834567" cy="5756512"/>
          </a:xfrm>
          <a:prstGeom prst="rect">
            <a:avLst/>
          </a:prstGeom>
        </p:spPr>
        <p:txBody>
          <a:bodyPr wrap="square">
            <a:spAutoFit/>
          </a:bodyPr>
          <a:lstStyle/>
          <a:p>
            <a:pPr>
              <a:lnSpc>
                <a:spcPct val="107000"/>
              </a:lnSpc>
            </a:pPr>
            <a:r>
              <a:rPr lang="en-IN" sz="2400" dirty="0" smtClean="0"/>
              <a:t>[1]. Basha</a:t>
            </a:r>
            <a:r>
              <a:rPr lang="en-IN" sz="2400" dirty="0"/>
              <a:t>, SK., </a:t>
            </a:r>
            <a:r>
              <a:rPr lang="en-IN" sz="2400" dirty="0" smtClean="0"/>
              <a:t>et al. (2025)</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AI-Driven Bus Boarding Demand Prediction for Real-Time Public Transport Optimization</a:t>
            </a:r>
            <a:r>
              <a:rPr lang="en-IN" sz="2400" dirty="0" smtClean="0"/>
              <a:t>. </a:t>
            </a:r>
            <a:r>
              <a:rPr lang="en-IN" sz="2400" dirty="0" smtClean="0">
                <a:hlinkClick r:id="rId4"/>
              </a:rPr>
              <a:t>https://doi.org/10.62643/ijerst.v21.n3(1).pp1405-1414</a:t>
            </a:r>
            <a:r>
              <a:rPr lang="en-IN" sz="2400" dirty="0" smtClean="0"/>
              <a:t> </a:t>
            </a:r>
          </a:p>
          <a:p>
            <a:pPr>
              <a:lnSpc>
                <a:spcPct val="107000"/>
              </a:lnSpc>
            </a:pPr>
            <a:r>
              <a:rPr lang="en-GB" sz="2400" dirty="0" smtClean="0"/>
              <a:t>[2]. Shrivastava</a:t>
            </a:r>
            <a:r>
              <a:rPr lang="en-GB" sz="2400" dirty="0"/>
              <a:t>, A., </a:t>
            </a:r>
            <a:r>
              <a:rPr lang="en-GB" sz="2400" dirty="0" smtClean="0"/>
              <a:t>et al. (2024)</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Deep-Learning-Based Model for Prediction of Crowding in a Public Transit </a:t>
            </a:r>
            <a:r>
              <a:rPr lang="en-GB" sz="2400" dirty="0" smtClean="0"/>
              <a:t>System. </a:t>
            </a:r>
            <a:r>
              <a:rPr lang="en-GB" sz="2400" dirty="0" smtClean="0">
                <a:hlinkClick r:id="rId5"/>
              </a:rPr>
              <a:t>https</a:t>
            </a:r>
            <a:r>
              <a:rPr lang="en-GB" sz="2400" dirty="0">
                <a:hlinkClick r:id="rId5"/>
              </a:rPr>
              <a:t>://</a:t>
            </a:r>
            <a:r>
              <a:rPr lang="en-GB" sz="2400" dirty="0" smtClean="0">
                <a:hlinkClick r:id="rId5"/>
              </a:rPr>
              <a:t>doi.org/10.1007/s12469-024-00360-z</a:t>
            </a:r>
            <a:endParaRPr lang="en-GB" sz="2400" dirty="0" smtClean="0"/>
          </a:p>
          <a:p>
            <a:pPr>
              <a:lnSpc>
                <a:spcPct val="107000"/>
              </a:lnSpc>
            </a:pPr>
            <a:r>
              <a:rPr lang="sv-SE" sz="2400" dirty="0" smtClean="0"/>
              <a:t>[3]. V </a:t>
            </a:r>
            <a:r>
              <a:rPr lang="sv-SE" sz="2400" dirty="0"/>
              <a:t>S, D</a:t>
            </a:r>
            <a:r>
              <a:rPr lang="sv-SE" sz="2400" dirty="0" smtClean="0"/>
              <a:t>., et al. </a:t>
            </a:r>
            <a:r>
              <a:rPr lang="sv-SE" sz="2400" dirty="0"/>
              <a:t>(</a:t>
            </a:r>
            <a:r>
              <a:rPr lang="sv-SE" sz="2400" dirty="0" smtClean="0"/>
              <a:t>2022). </a:t>
            </a:r>
            <a:r>
              <a:rPr lang="en-GB" sz="2400" dirty="0"/>
              <a:t>Crowd Density Estimation and Location Prediction in Public Transport System. </a:t>
            </a:r>
            <a:r>
              <a:rPr lang="en-GB" sz="2400" dirty="0" smtClean="0">
                <a:hlinkClick r:id="rId6"/>
              </a:rPr>
              <a:t>https</a:t>
            </a:r>
            <a:r>
              <a:rPr lang="en-GB" sz="2400" dirty="0">
                <a:hlinkClick r:id="rId6"/>
              </a:rPr>
              <a:t>://</a:t>
            </a:r>
            <a:r>
              <a:rPr lang="en-GB" sz="2400" dirty="0" smtClean="0">
                <a:hlinkClick r:id="rId6"/>
              </a:rPr>
              <a:t>www.ijert.org/crowd-density-estimation-and-location-prediction-in-public-transport-system</a:t>
            </a:r>
            <a:endParaRPr lang="en-GB" sz="2400" dirty="0" smtClean="0"/>
          </a:p>
          <a:p>
            <a:pPr>
              <a:lnSpc>
                <a:spcPct val="107000"/>
              </a:lnSpc>
            </a:pPr>
            <a:r>
              <a:rPr lang="en-GB" sz="2400" dirty="0" smtClean="0"/>
              <a:t>[4]. Hsu</a:t>
            </a:r>
            <a:r>
              <a:rPr lang="en-GB" sz="2400" dirty="0"/>
              <a:t>, </a:t>
            </a:r>
            <a:r>
              <a:rPr lang="en-GB" sz="2400" dirty="0" smtClean="0"/>
              <a:t>W. Y., et al. (2020). Estimation </a:t>
            </a:r>
            <a:r>
              <a:rPr lang="en-GB" sz="2400" dirty="0"/>
              <a:t>of the Number of Passengers in a Bus Using Deep Learning- </a:t>
            </a:r>
            <a:endParaRPr lang="en-GB" sz="2400" dirty="0" smtClean="0"/>
          </a:p>
          <a:p>
            <a:pPr>
              <a:lnSpc>
                <a:spcPct val="107000"/>
              </a:lnSpc>
            </a:pPr>
            <a:r>
              <a:rPr lang="en-GB" sz="2400" dirty="0" smtClean="0">
                <a:hlinkClick r:id="rId7"/>
              </a:rPr>
              <a:t>https</a:t>
            </a:r>
            <a:r>
              <a:rPr lang="en-GB" sz="2400" dirty="0">
                <a:hlinkClick r:id="rId7"/>
              </a:rPr>
              <a:t>://</a:t>
            </a:r>
            <a:r>
              <a:rPr lang="en-GB" sz="2400" dirty="0" smtClean="0">
                <a:hlinkClick r:id="rId7"/>
              </a:rPr>
              <a:t>doi.org/10.3390/s20082178</a:t>
            </a:r>
            <a:endParaRPr lang="en-GB" sz="2400" dirty="0" smtClean="0"/>
          </a:p>
          <a:p>
            <a:pPr>
              <a:lnSpc>
                <a:spcPct val="107000"/>
              </a:lnSpc>
            </a:pPr>
            <a:r>
              <a:rPr lang="en-IN" sz="2400" dirty="0" smtClean="0"/>
              <a:t>[5]. Marques</a:t>
            </a:r>
            <a:r>
              <a:rPr lang="en-IN" sz="2400" dirty="0"/>
              <a:t>, S., </a:t>
            </a:r>
            <a:r>
              <a:rPr lang="en-IN" sz="2400" dirty="0" smtClean="0"/>
              <a:t>et al. (2022)</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Transit Ridership Modelling at the Bus Stop Level: Comparison of Approaches Focusing on Count and Spatially Dependent </a:t>
            </a:r>
            <a:r>
              <a:rPr lang="en-GB" sz="2400" dirty="0" smtClean="0"/>
              <a:t>Data. </a:t>
            </a:r>
            <a:r>
              <a:rPr lang="en-GB" sz="2400" dirty="0" smtClean="0">
                <a:hlinkClick r:id="rId8"/>
              </a:rPr>
              <a:t>https</a:t>
            </a:r>
            <a:r>
              <a:rPr lang="en-GB" sz="2400" dirty="0">
                <a:hlinkClick r:id="rId8"/>
              </a:rPr>
              <a:t>://</a:t>
            </a:r>
            <a:r>
              <a:rPr lang="en-GB" sz="2400" dirty="0" smtClean="0">
                <a:hlinkClick r:id="rId8"/>
              </a:rPr>
              <a:t>doi.org/10.1007/s12061-022-09482-y</a:t>
            </a:r>
            <a:r>
              <a:rPr lang="en-GB" sz="2400" dirty="0" smtClean="0"/>
              <a:t> </a:t>
            </a:r>
            <a:endParaRPr lang="en-GB" sz="2400" dirty="0" smtClean="0">
              <a:latin typeface="Calibri" panose="020F0502020204030204" pitchFamily="34" charset="0"/>
              <a:ea typeface="Calibri" panose="020F0502020204030204" pitchFamily="34" charset="0"/>
              <a:cs typeface="Arial" panose="020B0604020202020204" pitchFamily="34" charset="0"/>
            </a:endParaRPr>
          </a:p>
          <a:p>
            <a:pPr>
              <a:lnSpc>
                <a:spcPct val="107000"/>
              </a:lnSpc>
            </a:pPr>
            <a:endParaRPr lang="en-GB" sz="1600" dirty="0" smtClean="0"/>
          </a:p>
          <a:p>
            <a:pPr>
              <a:lnSpc>
                <a:spcPct val="107000"/>
              </a:lnSpc>
            </a:pPr>
            <a:endParaRPr lang="en-GB" sz="16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2241994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18</a:t>
            </a:r>
            <a:endParaRPr sz="1400" dirty="0">
              <a:latin typeface="+mj-lt"/>
              <a:cs typeface="Calibri"/>
            </a:endParaRPr>
          </a:p>
        </p:txBody>
      </p:sp>
      <p:sp>
        <p:nvSpPr>
          <p:cNvPr id="11" name="Rectangle 10"/>
          <p:cNvSpPr/>
          <p:nvPr/>
        </p:nvSpPr>
        <p:spPr>
          <a:xfrm>
            <a:off x="498280" y="1205053"/>
            <a:ext cx="11489635" cy="4834400"/>
          </a:xfrm>
          <a:prstGeom prst="rect">
            <a:avLst/>
          </a:prstGeom>
        </p:spPr>
        <p:txBody>
          <a:bodyPr wrap="square">
            <a:spAutoFit/>
          </a:bodyPr>
          <a:lstStyle/>
          <a:p>
            <a:pPr>
              <a:lnSpc>
                <a:spcPct val="107000"/>
              </a:lnSpc>
            </a:pPr>
            <a:r>
              <a:rPr lang="en-IN" sz="2400" dirty="0" smtClean="0"/>
              <a:t>[6]. </a:t>
            </a:r>
            <a:r>
              <a:rPr lang="en-IN" sz="2400" dirty="0" err="1" smtClean="0"/>
              <a:t>Pronello</a:t>
            </a:r>
            <a:r>
              <a:rPr lang="en-IN" sz="2400" dirty="0"/>
              <a:t>, </a:t>
            </a:r>
            <a:r>
              <a:rPr lang="en-IN" sz="2400" dirty="0" smtClean="0"/>
              <a:t>C., et al. (2024). </a:t>
            </a:r>
            <a:r>
              <a:rPr lang="en-GB" sz="2400" dirty="0"/>
              <a:t>A Low-Cost Automatic People-Counting System at Bus Stops Using Wi-Fi Probe Requests and Deep </a:t>
            </a:r>
            <a:r>
              <a:rPr lang="en-GB" sz="2400" dirty="0" smtClean="0"/>
              <a:t>Learning. </a:t>
            </a:r>
            <a:r>
              <a:rPr lang="en-IN" sz="2400" dirty="0">
                <a:hlinkClick r:id="rId4"/>
              </a:rPr>
              <a:t>https://</a:t>
            </a:r>
            <a:r>
              <a:rPr lang="en-IN" sz="2400" dirty="0" smtClean="0">
                <a:hlinkClick r:id="rId4"/>
              </a:rPr>
              <a:t>doi.org/10.1007/s12469-023-00349-0</a:t>
            </a:r>
            <a:endParaRPr lang="en-IN" sz="2400" dirty="0" smtClean="0"/>
          </a:p>
          <a:p>
            <a:pPr>
              <a:lnSpc>
                <a:spcPct val="107000"/>
              </a:lnSpc>
            </a:pPr>
            <a:r>
              <a:rPr lang="en-GB" sz="2400" dirty="0" smtClean="0"/>
              <a:t>[7]. </a:t>
            </a:r>
            <a:r>
              <a:rPr lang="en-GB" sz="2400" dirty="0" err="1" smtClean="0"/>
              <a:t>Talusan</a:t>
            </a:r>
            <a:r>
              <a:rPr lang="en-GB" sz="2400" dirty="0"/>
              <a:t>, JP</a:t>
            </a:r>
            <a:r>
              <a:rPr lang="en-GB" sz="2400" dirty="0" smtClean="0"/>
              <a:t>., et al. (2022)</a:t>
            </a:r>
            <a:r>
              <a:rPr lang="en-GB" sz="2400" dirty="0" smtClean="0">
                <a:latin typeface="Calibri" panose="020F0502020204030204" pitchFamily="34" charset="0"/>
                <a:ea typeface="Calibri" panose="020F0502020204030204" pitchFamily="34" charset="0"/>
                <a:cs typeface="Arial" panose="020B0604020202020204" pitchFamily="34" charset="0"/>
              </a:rPr>
              <a:t>. </a:t>
            </a:r>
            <a:r>
              <a:rPr lang="en-GB" sz="2400" dirty="0"/>
              <a:t>On Designing Day Ahead and Same Day Ridership Level Prediction Models Using Noisy APC </a:t>
            </a:r>
            <a:r>
              <a:rPr lang="en-GB" sz="2400" dirty="0" smtClean="0"/>
              <a:t>Data. </a:t>
            </a:r>
            <a:r>
              <a:rPr lang="en-IN" sz="2400" dirty="0" smtClean="0">
                <a:hlinkClick r:id="rId5"/>
              </a:rPr>
              <a:t>https</a:t>
            </a:r>
            <a:r>
              <a:rPr lang="en-IN" sz="2400" dirty="0">
                <a:hlinkClick r:id="rId5"/>
              </a:rPr>
              <a:t>://</a:t>
            </a:r>
            <a:r>
              <a:rPr lang="en-IN" sz="2400" dirty="0" smtClean="0">
                <a:hlinkClick r:id="rId5"/>
              </a:rPr>
              <a:t>arxiv.org/pdf/2210.04989</a:t>
            </a:r>
            <a:r>
              <a:rPr lang="en-IN" sz="2400" dirty="0" smtClean="0"/>
              <a:t> </a:t>
            </a:r>
          </a:p>
          <a:p>
            <a:pPr>
              <a:lnSpc>
                <a:spcPct val="107000"/>
              </a:lnSpc>
            </a:pPr>
            <a:r>
              <a:rPr lang="en-GB" sz="2400" dirty="0" smtClean="0"/>
              <a:t>[8]. </a:t>
            </a:r>
            <a:r>
              <a:rPr lang="en-GB" sz="2400" dirty="0" err="1" smtClean="0"/>
              <a:t>Martí</a:t>
            </a:r>
            <a:r>
              <a:rPr lang="en-GB" sz="2400" dirty="0"/>
              <a:t>, P., et al. (2024). Bus ridership prediction and scenario analysis through ML and multi-agent simulations. </a:t>
            </a:r>
            <a:r>
              <a:rPr lang="en-GB" sz="2400" dirty="0">
                <a:hlinkClick r:id="rId6"/>
              </a:rPr>
              <a:t>https://</a:t>
            </a:r>
            <a:r>
              <a:rPr lang="en-GB" sz="2400" dirty="0" smtClean="0">
                <a:hlinkClick r:id="rId6"/>
              </a:rPr>
              <a:t>doi.org/10.14201/adcaij.31866</a:t>
            </a:r>
            <a:r>
              <a:rPr lang="en-GB" sz="2400" dirty="0" smtClean="0"/>
              <a:t> </a:t>
            </a:r>
          </a:p>
          <a:p>
            <a:pPr>
              <a:lnSpc>
                <a:spcPct val="107000"/>
              </a:lnSpc>
            </a:pPr>
            <a:r>
              <a:rPr lang="en-GB" sz="2400" dirty="0" smtClean="0"/>
              <a:t>[9]. </a:t>
            </a:r>
            <a:r>
              <a:rPr lang="en-GB" sz="2400" dirty="0" err="1" smtClean="0"/>
              <a:t>Fontes</a:t>
            </a:r>
            <a:r>
              <a:rPr lang="en-GB" sz="2400" dirty="0"/>
              <a:t>, T., et al. (2020). Deep learning neural networks for bus passenger demand prediction with weather effects. </a:t>
            </a:r>
            <a:r>
              <a:rPr lang="en-GB" sz="2400" dirty="0">
                <a:hlinkClick r:id="rId7"/>
              </a:rPr>
              <a:t>https://</a:t>
            </a:r>
            <a:r>
              <a:rPr lang="en-GB" sz="2400" dirty="0" smtClean="0">
                <a:hlinkClick r:id="rId7"/>
              </a:rPr>
              <a:t>reference-global.com/2/v2/download/article/10.2478/ttj-2020-0020.pdf</a:t>
            </a:r>
            <a:endParaRPr lang="en-GB" sz="2400" dirty="0" smtClean="0"/>
          </a:p>
          <a:p>
            <a:pPr>
              <a:lnSpc>
                <a:spcPct val="107000"/>
              </a:lnSpc>
            </a:pPr>
            <a:r>
              <a:rPr lang="en-GB" sz="2400" dirty="0" smtClean="0"/>
              <a:t>[10]. </a:t>
            </a:r>
            <a:r>
              <a:rPr lang="en-GB" sz="2400" dirty="0" err="1" smtClean="0"/>
              <a:t>Farahmand</a:t>
            </a:r>
            <a:r>
              <a:rPr lang="en-GB" sz="2400" dirty="0"/>
              <a:t>, ZH., et al. (2023). LSTM-based bus ridership forecasting with weather and special events. </a:t>
            </a:r>
            <a:r>
              <a:rPr lang="en-GB" sz="2400" dirty="0">
                <a:hlinkClick r:id="rId8"/>
              </a:rPr>
              <a:t>https://</a:t>
            </a:r>
            <a:r>
              <a:rPr lang="en-GB" sz="2400" dirty="0" smtClean="0">
                <a:hlinkClick r:id="rId8"/>
              </a:rPr>
              <a:t>doi.org/10.1016/j.trip.2023.100833</a:t>
            </a:r>
            <a:r>
              <a:rPr lang="en-GB" sz="2400" dirty="0" smtClean="0"/>
              <a:t> </a:t>
            </a:r>
            <a:endParaRPr lang="en-IN" sz="2400" dirty="0" smtClean="0"/>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627764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19</a:t>
            </a:r>
            <a:endParaRPr sz="1400" dirty="0">
              <a:latin typeface="+mj-lt"/>
              <a:cs typeface="Calibri"/>
            </a:endParaRPr>
          </a:p>
        </p:txBody>
      </p:sp>
      <p:sp>
        <p:nvSpPr>
          <p:cNvPr id="11" name="Rectangle 10"/>
          <p:cNvSpPr/>
          <p:nvPr/>
        </p:nvSpPr>
        <p:spPr>
          <a:xfrm>
            <a:off x="498280" y="1284566"/>
            <a:ext cx="11489635" cy="4439229"/>
          </a:xfrm>
          <a:prstGeom prst="rect">
            <a:avLst/>
          </a:prstGeom>
        </p:spPr>
        <p:txBody>
          <a:bodyPr wrap="square">
            <a:spAutoFit/>
          </a:bodyPr>
          <a:lstStyle/>
          <a:p>
            <a:pPr>
              <a:lnSpc>
                <a:spcPct val="107000"/>
              </a:lnSpc>
            </a:pPr>
            <a:r>
              <a:rPr lang="en-IN" sz="2400" dirty="0" smtClean="0"/>
              <a:t>[11]. Yusuf</a:t>
            </a:r>
            <a:r>
              <a:rPr lang="en-IN" sz="2400" dirty="0"/>
              <a:t>, O., et al. (2025). Horizon-agnostic modelling for stop-level passenger counts using machine learning. </a:t>
            </a:r>
            <a:r>
              <a:rPr lang="en-IN" sz="2400" dirty="0">
                <a:hlinkClick r:id="rId4"/>
              </a:rPr>
              <a:t>https://</a:t>
            </a:r>
            <a:r>
              <a:rPr lang="en-IN" sz="2400" dirty="0" smtClean="0">
                <a:hlinkClick r:id="rId4"/>
              </a:rPr>
              <a:t>doi.org/10.1007/s11116-025-10689-4</a:t>
            </a:r>
            <a:r>
              <a:rPr lang="en-IN" sz="2400" dirty="0" smtClean="0"/>
              <a:t> </a:t>
            </a:r>
            <a:endParaRPr lang="en-IN" sz="2400" dirty="0"/>
          </a:p>
          <a:p>
            <a:pPr>
              <a:lnSpc>
                <a:spcPct val="107000"/>
              </a:lnSpc>
            </a:pPr>
            <a:r>
              <a:rPr lang="en-IN" sz="2400" dirty="0" smtClean="0"/>
              <a:t>[12]. </a:t>
            </a:r>
            <a:r>
              <a:rPr lang="en-IN" sz="2400" dirty="0" err="1" smtClean="0"/>
              <a:t>Siswanto</a:t>
            </a:r>
            <a:r>
              <a:rPr lang="en-IN" sz="2400" dirty="0"/>
              <a:t>, J., et al. (2024). LSTM model for multi-operator bus passenger prediction in Auckland. </a:t>
            </a:r>
            <a:r>
              <a:rPr lang="en-IN" sz="2400" dirty="0">
                <a:hlinkClick r:id="rId5"/>
              </a:rPr>
              <a:t>https://</a:t>
            </a:r>
            <a:r>
              <a:rPr lang="en-IN" sz="2400" dirty="0" smtClean="0">
                <a:hlinkClick r:id="rId5"/>
              </a:rPr>
              <a:t>doi.org/10.15575/join.v9i1.1245</a:t>
            </a:r>
            <a:r>
              <a:rPr lang="en-IN" sz="2400" dirty="0" smtClean="0"/>
              <a:t> </a:t>
            </a:r>
          </a:p>
          <a:p>
            <a:pPr>
              <a:lnSpc>
                <a:spcPct val="107000"/>
              </a:lnSpc>
            </a:pPr>
            <a:r>
              <a:rPr lang="en-IN" sz="2400" dirty="0" smtClean="0"/>
              <a:t>[13]. </a:t>
            </a:r>
            <a:r>
              <a:rPr lang="en-IN" sz="2400" dirty="0" err="1" smtClean="0"/>
              <a:t>Drisilda</a:t>
            </a:r>
            <a:r>
              <a:rPr lang="en-IN" sz="2400" dirty="0" smtClean="0"/>
              <a:t>, S., </a:t>
            </a:r>
            <a:r>
              <a:rPr lang="en-IN" sz="2400" dirty="0"/>
              <a:t>et al. (2025). Machine learning-based public transit ridership forecasting system for BMTC. </a:t>
            </a:r>
            <a:r>
              <a:rPr lang="en-IN" sz="2400" dirty="0">
                <a:hlinkClick r:id="rId6"/>
              </a:rPr>
              <a:t>https://ijsrem.com/download/machine-learning-based-public-transit-ridership-forecasting-system</a:t>
            </a:r>
            <a:r>
              <a:rPr lang="en-IN" sz="2400" dirty="0" smtClean="0">
                <a:hlinkClick r:id="rId6"/>
              </a:rPr>
              <a:t>/</a:t>
            </a:r>
            <a:r>
              <a:rPr lang="en-IN" sz="2400" dirty="0" smtClean="0"/>
              <a:t> </a:t>
            </a:r>
            <a:endParaRPr lang="en-IN" sz="2400" dirty="0"/>
          </a:p>
          <a:p>
            <a:pPr>
              <a:lnSpc>
                <a:spcPct val="107000"/>
              </a:lnSpc>
            </a:pPr>
            <a:r>
              <a:rPr lang="en-IN" sz="2400" dirty="0" smtClean="0"/>
              <a:t>[14]. Amir</a:t>
            </a:r>
            <a:r>
              <a:rPr lang="en-IN" sz="2400" dirty="0"/>
              <a:t>, NNS., et al. (2025). Ridership prediction for rapid bus services using multi-feature approaches. </a:t>
            </a:r>
            <a:r>
              <a:rPr lang="en-IN" sz="2400" dirty="0">
                <a:hlinkClick r:id="rId7"/>
              </a:rPr>
              <a:t>https://</a:t>
            </a:r>
            <a:r>
              <a:rPr lang="en-IN" sz="2400" dirty="0" smtClean="0">
                <a:hlinkClick r:id="rId7"/>
              </a:rPr>
              <a:t>doi.org/10.21837/pm.v23i39.1913</a:t>
            </a:r>
            <a:endParaRPr lang="en-IN" sz="2400" dirty="0" smtClean="0"/>
          </a:p>
          <a:p>
            <a:pPr>
              <a:lnSpc>
                <a:spcPct val="107000"/>
              </a:lnSpc>
            </a:pPr>
            <a:r>
              <a:rPr lang="en-IN" sz="2400" dirty="0" smtClean="0"/>
              <a:t>[15]. </a:t>
            </a:r>
            <a:r>
              <a:rPr lang="en-IN" sz="2400" dirty="0" err="1" smtClean="0"/>
              <a:t>Movaghar</a:t>
            </a:r>
            <a:r>
              <a:rPr lang="en-IN" sz="2400" dirty="0"/>
              <a:t>, M., et al. (2025). Machine learning framework to estimate ridership loss in bus network during external events. </a:t>
            </a:r>
            <a:r>
              <a:rPr lang="en-IN" sz="2400" dirty="0">
                <a:hlinkClick r:id="rId8"/>
              </a:rPr>
              <a:t>https://</a:t>
            </a:r>
            <a:r>
              <a:rPr lang="en-IN" sz="2400" dirty="0" smtClean="0">
                <a:hlinkClick r:id="rId8"/>
              </a:rPr>
              <a:t>doi.org/10.1186/s12544-025-00722-z</a:t>
            </a:r>
            <a:r>
              <a:rPr lang="en-IN" sz="2400" dirty="0" smtClean="0"/>
              <a:t> </a:t>
            </a:r>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163408776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p:cNvSpPr>
          <p:nvPr/>
        </p:nvSpPr>
        <p:spPr>
          <a:xfrm>
            <a:off x="832386" y="233933"/>
            <a:ext cx="10515600" cy="584057"/>
          </a:xfrm>
          <a:prstGeom prst="rect">
            <a:avLst/>
          </a:prstGeom>
        </p:spPr>
        <p:txBody>
          <a:bodyPr vert="horz" wrap="square" lIns="0" tIns="90728" rIns="0" bIns="0" rtlCol="0">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3463925">
              <a:lnSpc>
                <a:spcPct val="100000"/>
              </a:lnSpc>
              <a:spcBef>
                <a:spcPts val="90"/>
              </a:spcBef>
            </a:pPr>
            <a:r>
              <a:rPr lang="en-IN" sz="3200" b="1" spc="-10" dirty="0" smtClean="0">
                <a:latin typeface="+mn-lt"/>
              </a:rPr>
              <a:t>           References</a:t>
            </a:r>
            <a:endParaRPr lang="en-IN" sz="3200" b="1" spc="-10" dirty="0">
              <a:latin typeface="+mn-lt"/>
            </a:endParaRPr>
          </a:p>
        </p:txBody>
      </p:sp>
      <p:pic>
        <p:nvPicPr>
          <p:cNvPr id="3" name="object 7"/>
          <p:cNvPicPr/>
          <p:nvPr/>
        </p:nvPicPr>
        <p:blipFill>
          <a:blip r:embed="rId2" cstate="print"/>
          <a:stretch>
            <a:fillRect/>
          </a:stretch>
        </p:blipFill>
        <p:spPr>
          <a:xfrm>
            <a:off x="238759" y="148241"/>
            <a:ext cx="812800" cy="808153"/>
          </a:xfrm>
          <a:prstGeom prst="rect">
            <a:avLst/>
          </a:prstGeom>
        </p:spPr>
      </p:pic>
      <p:pic>
        <p:nvPicPr>
          <p:cNvPr id="4" name="object 8"/>
          <p:cNvPicPr/>
          <p:nvPr/>
        </p:nvPicPr>
        <p:blipFill>
          <a:blip r:embed="rId3" cstate="print"/>
          <a:stretch>
            <a:fillRect/>
          </a:stretch>
        </p:blipFill>
        <p:spPr>
          <a:xfrm>
            <a:off x="11128813" y="145942"/>
            <a:ext cx="699940" cy="697423"/>
          </a:xfrm>
          <a:prstGeom prst="rect">
            <a:avLst/>
          </a:prstGeom>
        </p:spPr>
      </p:pic>
      <p:sp>
        <p:nvSpPr>
          <p:cNvPr id="8" name="object 4"/>
          <p:cNvSpPr txBox="1"/>
          <p:nvPr/>
        </p:nvSpPr>
        <p:spPr>
          <a:xfrm>
            <a:off x="688644" y="6514170"/>
            <a:ext cx="1325686" cy="228268"/>
          </a:xfrm>
          <a:prstGeom prst="rect">
            <a:avLst/>
          </a:prstGeom>
        </p:spPr>
        <p:txBody>
          <a:bodyPr vert="horz" wrap="square" lIns="0" tIns="12700" rIns="0" bIns="0" rtlCol="0">
            <a:spAutoFit/>
          </a:bodyPr>
          <a:lstStyle/>
          <a:p>
            <a:pPr marL="12700">
              <a:lnSpc>
                <a:spcPct val="100000"/>
              </a:lnSpc>
              <a:spcBef>
                <a:spcPts val="100"/>
              </a:spcBef>
            </a:pPr>
            <a:r>
              <a:rPr lang="en-IN" sz="1400" spc="-20" dirty="0" smtClean="0">
                <a:solidFill>
                  <a:srgbClr val="888888"/>
                </a:solidFill>
                <a:latin typeface="+mj-lt"/>
                <a:cs typeface="Calibri"/>
              </a:rPr>
              <a:t>14/06/2026</a:t>
            </a:r>
            <a:endParaRPr sz="1400" dirty="0">
              <a:latin typeface="+mj-lt"/>
              <a:cs typeface="Calibri"/>
            </a:endParaRPr>
          </a:p>
        </p:txBody>
      </p:sp>
      <p:sp>
        <p:nvSpPr>
          <p:cNvPr id="10" name="object 6"/>
          <p:cNvSpPr txBox="1"/>
          <p:nvPr/>
        </p:nvSpPr>
        <p:spPr>
          <a:xfrm>
            <a:off x="10974069" y="6514170"/>
            <a:ext cx="532765" cy="228268"/>
          </a:xfrm>
          <a:prstGeom prst="rect">
            <a:avLst/>
          </a:prstGeom>
        </p:spPr>
        <p:txBody>
          <a:bodyPr vert="horz" wrap="square" lIns="0" tIns="12700" rIns="0" bIns="0" rtlCol="0">
            <a:spAutoFit/>
          </a:bodyPr>
          <a:lstStyle/>
          <a:p>
            <a:pPr marL="12700">
              <a:lnSpc>
                <a:spcPct val="100000"/>
              </a:lnSpc>
              <a:spcBef>
                <a:spcPts val="100"/>
              </a:spcBef>
            </a:pPr>
            <a:r>
              <a:rPr lang="en-IN" sz="1400" dirty="0" smtClean="0">
                <a:solidFill>
                  <a:srgbClr val="888888"/>
                </a:solidFill>
                <a:latin typeface="+mj-lt"/>
                <a:cs typeface="Calibri"/>
              </a:rPr>
              <a:t>20</a:t>
            </a:r>
            <a:endParaRPr sz="1400" dirty="0">
              <a:latin typeface="+mj-lt"/>
              <a:cs typeface="Calibri"/>
            </a:endParaRPr>
          </a:p>
        </p:txBody>
      </p:sp>
      <p:sp>
        <p:nvSpPr>
          <p:cNvPr id="11" name="Rectangle 10"/>
          <p:cNvSpPr/>
          <p:nvPr/>
        </p:nvSpPr>
        <p:spPr>
          <a:xfrm>
            <a:off x="498280" y="1284566"/>
            <a:ext cx="11489635" cy="4044056"/>
          </a:xfrm>
          <a:prstGeom prst="rect">
            <a:avLst/>
          </a:prstGeom>
        </p:spPr>
        <p:txBody>
          <a:bodyPr wrap="square">
            <a:spAutoFit/>
          </a:bodyPr>
          <a:lstStyle/>
          <a:p>
            <a:pPr>
              <a:lnSpc>
                <a:spcPct val="107000"/>
              </a:lnSpc>
            </a:pPr>
            <a:r>
              <a:rPr lang="en-GB" sz="2400" dirty="0" smtClean="0"/>
              <a:t>[16]. Zeb</a:t>
            </a:r>
            <a:r>
              <a:rPr lang="en-GB" sz="2400" dirty="0"/>
              <a:t>, MS., et al. (2024). LSTM models for forecasting public transit ridership amidst COVID-19 conditions. </a:t>
            </a:r>
            <a:r>
              <a:rPr lang="en-GB" sz="2400" dirty="0">
                <a:hlinkClick r:id="rId4"/>
              </a:rPr>
              <a:t>https://</a:t>
            </a:r>
            <a:r>
              <a:rPr lang="en-GB" sz="2400" dirty="0" smtClean="0">
                <a:hlinkClick r:id="rId4"/>
              </a:rPr>
              <a:t>doi.org/10.1007/s12469-024-00368-5</a:t>
            </a:r>
            <a:r>
              <a:rPr lang="en-GB" sz="2400" dirty="0" smtClean="0"/>
              <a:t> </a:t>
            </a:r>
            <a:endParaRPr lang="en-GB" sz="2400" dirty="0"/>
          </a:p>
          <a:p>
            <a:pPr>
              <a:lnSpc>
                <a:spcPct val="107000"/>
              </a:lnSpc>
            </a:pPr>
            <a:r>
              <a:rPr lang="en-GB" sz="2400" dirty="0" smtClean="0"/>
              <a:t>[17]. </a:t>
            </a:r>
            <a:r>
              <a:rPr lang="en-GB" sz="2400" dirty="0" err="1" smtClean="0"/>
              <a:t>Akgüngör</a:t>
            </a:r>
            <a:r>
              <a:rPr lang="en-GB" sz="2400" dirty="0"/>
              <a:t>, </a:t>
            </a:r>
            <a:r>
              <a:rPr lang="en-GB" sz="2400" dirty="0" smtClean="0"/>
              <a:t>A.P., et al. </a:t>
            </a:r>
            <a:r>
              <a:rPr lang="en-GB" sz="2400" dirty="0"/>
              <a:t>(2025). Comparing LSTM and NARX models for short-term passenger flow prediction. </a:t>
            </a:r>
            <a:r>
              <a:rPr lang="en-GB" sz="2400" dirty="0">
                <a:hlinkClick r:id="rId5"/>
              </a:rPr>
              <a:t>https://</a:t>
            </a:r>
            <a:r>
              <a:rPr lang="en-GB" sz="2400" dirty="0" smtClean="0">
                <a:hlinkClick r:id="rId5"/>
              </a:rPr>
              <a:t>doi.org/10.3390/app15116260</a:t>
            </a:r>
            <a:r>
              <a:rPr lang="en-GB" sz="2400" dirty="0" smtClean="0"/>
              <a:t> </a:t>
            </a:r>
            <a:endParaRPr lang="en-GB" sz="2400" dirty="0"/>
          </a:p>
          <a:p>
            <a:pPr>
              <a:lnSpc>
                <a:spcPct val="107000"/>
              </a:lnSpc>
            </a:pPr>
            <a:r>
              <a:rPr lang="en-GB" sz="2400" dirty="0" smtClean="0"/>
              <a:t>[18]. </a:t>
            </a:r>
            <a:r>
              <a:rPr lang="en-GB" sz="2400" dirty="0" err="1" smtClean="0"/>
              <a:t>Torrepadula</a:t>
            </a:r>
            <a:r>
              <a:rPr lang="en-GB" sz="2400" dirty="0"/>
              <a:t>, </a:t>
            </a:r>
            <a:r>
              <a:rPr lang="en-GB" sz="2400" dirty="0" smtClean="0"/>
              <a:t>F.R</a:t>
            </a:r>
            <a:r>
              <a:rPr lang="en-GB" sz="2400" dirty="0"/>
              <a:t>. di</a:t>
            </a:r>
            <a:r>
              <a:rPr lang="en-GB" sz="2400" dirty="0" smtClean="0"/>
              <a:t>., et al. </a:t>
            </a:r>
            <a:r>
              <a:rPr lang="en-GB" sz="2400" dirty="0"/>
              <a:t>(2024). Survey of machine learning methods for public transport demand forecasting. </a:t>
            </a:r>
            <a:r>
              <a:rPr lang="en-GB" sz="2400" dirty="0">
                <a:hlinkClick r:id="rId6"/>
              </a:rPr>
              <a:t>https://</a:t>
            </a:r>
            <a:r>
              <a:rPr lang="en-GB" sz="2400" dirty="0" smtClean="0">
                <a:hlinkClick r:id="rId6"/>
              </a:rPr>
              <a:t>doi.org/10.1016/j.engappai.2024.109166</a:t>
            </a:r>
            <a:r>
              <a:rPr lang="en-GB" sz="2400" dirty="0" smtClean="0"/>
              <a:t> </a:t>
            </a:r>
            <a:endParaRPr lang="en-GB" sz="2400" dirty="0"/>
          </a:p>
          <a:p>
            <a:pPr>
              <a:lnSpc>
                <a:spcPct val="107000"/>
              </a:lnSpc>
            </a:pPr>
            <a:r>
              <a:rPr lang="en-GB" sz="2400" dirty="0" smtClean="0"/>
              <a:t>[19]. </a:t>
            </a:r>
            <a:r>
              <a:rPr lang="en-GB" sz="2400" dirty="0" err="1" smtClean="0"/>
              <a:t>Ke</a:t>
            </a:r>
            <a:r>
              <a:rPr lang="en-GB" sz="2400" dirty="0"/>
              <a:t>, L</a:t>
            </a:r>
            <a:r>
              <a:rPr lang="en-GB" sz="2400" dirty="0" smtClean="0"/>
              <a:t>., et al. </a:t>
            </a:r>
            <a:r>
              <a:rPr lang="en-GB" sz="2400" dirty="0"/>
              <a:t>(2025). </a:t>
            </a:r>
            <a:r>
              <a:rPr lang="en-GB" sz="2400" dirty="0" err="1"/>
              <a:t>UrbanBus</a:t>
            </a:r>
            <a:r>
              <a:rPr lang="en-GB" sz="2400" dirty="0"/>
              <a:t>: A fine-grained dataset for bus ridership analysis and forecasting. </a:t>
            </a:r>
            <a:r>
              <a:rPr lang="en-GB" sz="2400" dirty="0">
                <a:hlinkClick r:id="rId7"/>
              </a:rPr>
              <a:t>https://</a:t>
            </a:r>
            <a:r>
              <a:rPr lang="en-GB" sz="2400" dirty="0" smtClean="0">
                <a:hlinkClick r:id="rId7"/>
              </a:rPr>
              <a:t>academic.oup.com/iti/article/doi/10.1093/iti/liae019/7917135</a:t>
            </a:r>
            <a:r>
              <a:rPr lang="en-GB" sz="2400" dirty="0" smtClean="0"/>
              <a:t> </a:t>
            </a:r>
            <a:endParaRPr lang="en-GB" sz="2400" dirty="0"/>
          </a:p>
          <a:p>
            <a:pPr>
              <a:lnSpc>
                <a:spcPct val="107000"/>
              </a:lnSpc>
            </a:pPr>
            <a:r>
              <a:rPr lang="en-GB" sz="2400" dirty="0" smtClean="0"/>
              <a:t>[20]. Yamamura</a:t>
            </a:r>
            <a:r>
              <a:rPr lang="en-GB" sz="2400" dirty="0"/>
              <a:t>, T</a:t>
            </a:r>
            <a:r>
              <a:rPr lang="en-GB" sz="2400" dirty="0" smtClean="0"/>
              <a:t>., et al. </a:t>
            </a:r>
            <a:r>
              <a:rPr lang="en-GB" sz="2400" dirty="0"/>
              <a:t>(2023). Bus ridership prediction with multiple LSTM models and trend features. </a:t>
            </a:r>
            <a:r>
              <a:rPr lang="en-GB" sz="2400" dirty="0">
                <a:hlinkClick r:id="rId8"/>
              </a:rPr>
              <a:t>https://</a:t>
            </a:r>
            <a:r>
              <a:rPr lang="en-GB" sz="2400" dirty="0" smtClean="0">
                <a:hlinkClick r:id="rId8"/>
              </a:rPr>
              <a:t>arxiv.org/pdf/2304.08233.pdf</a:t>
            </a:r>
            <a:r>
              <a:rPr lang="en-GB" sz="2400" dirty="0" smtClean="0"/>
              <a:t> </a:t>
            </a:r>
            <a:endParaRPr lang="en-IN" sz="2400" dirty="0" smtClean="0"/>
          </a:p>
        </p:txBody>
      </p:sp>
      <p:sp>
        <p:nvSpPr>
          <p:cNvPr id="12" name="object 5"/>
          <p:cNvSpPr txBox="1"/>
          <p:nvPr/>
        </p:nvSpPr>
        <p:spPr>
          <a:xfrm>
            <a:off x="2776661" y="6528230"/>
            <a:ext cx="7779632" cy="456535"/>
          </a:xfrm>
          <a:prstGeom prst="rect">
            <a:avLst/>
          </a:prstGeom>
        </p:spPr>
        <p:txBody>
          <a:bodyPr vert="horz" wrap="square" lIns="0" tIns="12700" rIns="0" bIns="0" rtlCol="0">
            <a:spAutoFit/>
          </a:bodyPr>
          <a:lstStyle/>
          <a:p>
            <a:pPr marL="12700">
              <a:spcBef>
                <a:spcPts val="100"/>
              </a:spcBef>
            </a:pPr>
            <a:r>
              <a:rPr lang="en-GB" sz="1400" b="1" dirty="0"/>
              <a:t>CROWD ESTIMATION AND TIME-SLOT RECOMMENDATION FOR MANGALORE KSRTC BUS SERVICES</a:t>
            </a:r>
            <a:endParaRPr lang="en-GB" sz="1400" b="1" dirty="0">
              <a:cs typeface="Calibri"/>
            </a:endParaRPr>
          </a:p>
          <a:p>
            <a:pPr marL="12700">
              <a:lnSpc>
                <a:spcPct val="100000"/>
              </a:lnSpc>
              <a:spcBef>
                <a:spcPts val="100"/>
              </a:spcBef>
            </a:pPr>
            <a:endParaRPr sz="1400" dirty="0">
              <a:latin typeface="+mj-lt"/>
              <a:cs typeface="Calibri"/>
            </a:endParaRPr>
          </a:p>
        </p:txBody>
      </p:sp>
    </p:spTree>
    <p:extLst>
      <p:ext uri="{BB962C8B-B14F-4D97-AF65-F5344CB8AC3E}">
        <p14:creationId xmlns:p14="http://schemas.microsoft.com/office/powerpoint/2010/main" val="260687172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20946</TotalTime>
  <Words>2354</Words>
  <Application>Microsoft Office PowerPoint</Application>
  <PresentationFormat>Widescreen</PresentationFormat>
  <Paragraphs>288</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Arial MT</vt:lpstr>
      <vt:lpstr>Calibri</vt:lpstr>
      <vt:lpstr>Calibri Light</vt:lpstr>
      <vt:lpstr>Times New Roman</vt:lpstr>
      <vt:lpstr>Office Theme</vt:lpstr>
      <vt:lpstr>PowerPoint Presentation</vt:lpstr>
      <vt:lpstr>               Index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MCA/ MSc SYNOPSIS PRESENTATION - 2025</dc:title>
  <dc:creator>Leander Chris</dc:creator>
  <cp:lastModifiedBy>Leander Chris</cp:lastModifiedBy>
  <cp:revision>132</cp:revision>
  <dcterms:created xsi:type="dcterms:W3CDTF">2025-11-30T08:07:38Z</dcterms:created>
  <dcterms:modified xsi:type="dcterms:W3CDTF">2026-06-14T16:33:20Z</dcterms:modified>
</cp:coreProperties>
</file>